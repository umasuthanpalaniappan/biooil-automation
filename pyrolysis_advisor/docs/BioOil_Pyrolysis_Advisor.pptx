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uses machine learning with physics to help make more bio-oil with less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Biomass is heated to make bio-oil, which Dr. Mohan's work then separates. We predict how much oil we get and how much oxygen it has. The problem is that many models look good on paper but fail on new biomass.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cleaned two public datasets and found that 651 apparent biomasses were really 118. Then we tested honestly, only on unseen biomass, and the usual accuracy dropped sharply. Finally, adding physics made the models better and made them follow real trends, like best oil around 525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advisor takes a biomass, tests 156 reactor settings and recommends the best balance of high oil and low oxygen. For pine wood: 480 degrees at 300 degrees per minute. It was right for two of three unseen biomasses, gets much more accurate with one or two real experiments, and warns when it is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honest testing, physics-aware models, and a practical advisor that helps produce better oil for separation.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2697480"/>
            <a:ext cx="8046720" cy="73152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4" name="Text 0"/>
          <p:cNvSpPr/>
          <p:nvPr>
            <p:ph idx="102" type="body" hasCustomPrompt="1"/>
          </p:nvPr>
        </p:nvSpPr>
        <p:spPr>
          <a:xfrm>
            <a:off x="548640" y="3840480"/>
            <a:ext cx="8046720" cy="822960"/>
          </a:xfrm>
          <a:prstGeom prst="rect">
            <a:avLst/>
          </a:prstGeom>
          <a:noFill/>
          <a:ln/>
        </p:spPr>
        <p:txBody>
          <a:bodyPr wrap="square" rtlCol="0"/>
          <a:lstStyle>
            <a:lvl1pPr indent="0" marL="0">
              <a:buNone/>
              <a:defRPr lang="en-US" sz="1200" dirty="0">
                <a:solidFill>
                  <a:schemeClr val="bg2"/>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lstStyle>
            <a:lvl1pPr algn="l" indent="0" marL="0">
              <a:buNone/>
              <a:defRPr lang="en-US" sz="2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200" dirty="0"/>
          </a:p>
        </p:txBody>
      </p:sp>
      <p:sp>
        <p:nvSpPr>
          <p:cNvPr id="3" name="Text 0"/>
          <p:cNvSpPr/>
          <p:nvPr/>
        </p:nvSpPr>
        <p:spPr>
          <a:xfrm>
            <a:off x="457200" y="4800600"/>
            <a:ext cx="6400800" cy="228600"/>
          </a:xfrm>
          <a:prstGeom prst="rect">
            <a:avLst/>
          </a:prstGeom>
          <a:noFill/>
          <a:ln/>
        </p:spPr>
        <p:txBody>
          <a:bodyPr wrap="square" lIns="0" tIns="0" rIns="0" bIns="0" rtlCol="0" anchor="ctr"/>
          <a:lstStyle/>
          <a:p>
            <a:pPr indent="0" marL="0">
              <a:buNone/>
            </a:pPr>
            <a:r>
              <a:rPr lang="en-US" sz="900" dirty="0">
                <a:solidFill>
                  <a:schemeClr val="accent5"/>
                </a:solidFill>
              </a:rPr>
              <a:t>Physics-aware ML for bio-oil pyrolysis  |  Umasuthan Palaniappan</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lstStyle>
            <a:lvl1pPr algn="l" indent="0" marL="0">
              <a:buNone/>
              <a:defRPr lang="en-US" sz="2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200" dirty="0"/>
          </a:p>
        </p:txBody>
      </p:sp>
      <p:sp>
        <p:nvSpPr>
          <p:cNvPr id="3" name="Text 0"/>
          <p:cNvSpPr/>
          <p:nvPr/>
        </p:nvSpPr>
        <p:spPr>
          <a:xfrm>
            <a:off x="457200" y="4800600"/>
            <a:ext cx="6400800" cy="228600"/>
          </a:xfrm>
          <a:prstGeom prst="rect">
            <a:avLst/>
          </a:prstGeom>
          <a:noFill/>
          <a:ln/>
        </p:spPr>
        <p:txBody>
          <a:bodyPr wrap="square" lIns="0" tIns="0" rIns="0" bIns="0" rtlCol="0" anchor="ctr"/>
          <a:lstStyle/>
          <a:p>
            <a:pPr indent="0" marL="0">
              <a:buNone/>
            </a:pPr>
            <a:r>
              <a:rPr lang="en-US" sz="900" dirty="0">
                <a:solidFill>
                  <a:schemeClr val="accent5"/>
                </a:solidFill>
              </a:rPr>
              <a:t>Physics-aware ML for bio-oil pyrolysis  |  Umasuthan Palaniappan</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Physics-Aware Machine Learning for Bio-Oil Pyrolysis</a:t>
            </a:r>
            <a:endParaRPr lang="en-US" sz="3600" dirty="0"/>
          </a:p>
        </p:txBody>
      </p:sp>
      <p:sp>
        <p:nvSpPr>
          <p:cNvPr id="3" name="Text 0"/>
          <p:cNvSpPr/>
          <p:nvPr>
            <p:ph idx="101" type="body" hasCustomPrompt="1"/>
          </p:nvPr>
        </p:nvSpPr>
        <p:spPr>
          <a:xfrm>
            <a:off x="548640" y="2697480"/>
            <a:ext cx="8046720" cy="731520"/>
          </a:xfrm>
          <a:prstGeom prst="rect">
            <a:avLst/>
          </a:prstGeom>
          <a:noFill/>
          <a:ln/>
        </p:spPr>
        <p:txBody>
          <a:bodyPr wrap="square" rtlCol="0" anchor="t"/>
          <a:lstStyle/>
          <a:p>
            <a:pPr indent="0" marL="0">
              <a:buNone/>
            </a:pPr>
            <a:r>
              <a:rPr lang="en-US" sz="1800" dirty="0">
                <a:solidFill>
                  <a:schemeClr val="accent6"/>
                </a:solidFill>
              </a:rPr>
              <a:t>More bio-oil, less oxygen</a:t>
            </a:r>
            <a:endParaRPr lang="en-US" sz="1800" dirty="0"/>
          </a:p>
        </p:txBody>
      </p:sp>
      <p:sp>
        <p:nvSpPr>
          <p:cNvPr id="4" name="Text 0"/>
          <p:cNvSpPr/>
          <p:nvPr>
            <p:ph idx="102" type="body" hasCustomPrompt="1"/>
          </p:nvPr>
        </p:nvSpPr>
        <p:spPr>
          <a:xfrm>
            <a:off x="548640" y="3840480"/>
            <a:ext cx="8046720" cy="822960"/>
          </a:xfrm>
          <a:prstGeom prst="rect">
            <a:avLst/>
          </a:prstGeom>
          <a:noFill/>
          <a:ln/>
        </p:spPr>
        <p:txBody>
          <a:bodyPr wrap="square" rtlCol="0" anchor="t"/>
          <a:lstStyle/>
          <a:p>
            <a:pPr indent="0" marL="0">
              <a:buNone/>
            </a:pPr>
            <a:r>
              <a:rPr lang="en-US" sz="1200" b="1" dirty="0">
                <a:solidFill>
                  <a:schemeClr val="bg2"/>
                </a:solidFill>
              </a:rPr>
              <a:t>Umasuthan Palaniappan (CB.AI.U4AIM25041)</a:t>
            </a:r>
            <a:endParaRPr lang="en-US" sz="1200" dirty="0"/>
          </a:p>
          <a:p>
            <a:pPr indent="0" marL="0">
              <a:buNone/>
            </a:pPr>
            <a:r>
              <a:rPr lang="en-US" sz="1200" dirty="0">
                <a:solidFill>
                  <a:schemeClr val="bg2"/>
                </a:solidFill>
              </a:rPr>
              <a:t>24AIM201 Mechanics and Fluidized Systems  |  Guide: Dr. Akhil Mohan  |  Amrita Vishwa Vidyapeetham</a:t>
            </a:r>
            <a:endParaRPr lang="en-US" sz="1200" dirty="0"/>
          </a:p>
        </p:txBody>
      </p:sp>
      <p:pic>
        <p:nvPicPr>
          <p:cNvPr id="5" name="Image 0" descr="preencoded.png">    </p:cNvPr>
          <p:cNvPicPr>
            <a:picLocks noChangeAspect="1"/>
          </p:cNvPicPr>
          <p:nvPr/>
        </p:nvPicPr>
        <p:blipFill>
          <a:blip r:embed="rId1"/>
          <a:stretch>
            <a:fillRect/>
          </a:stretch>
        </p:blipFill>
        <p:spPr>
          <a:xfrm>
            <a:off x="548640" y="548640"/>
            <a:ext cx="457200" cy="457200"/>
          </a:xfrm>
          <a:prstGeom prst="rect">
            <a:avLst/>
          </a:prstGeom>
        </p:spPr>
      </p:pic>
      <p:pic>
        <p:nvPicPr>
          <p:cNvPr id="6" name="Image 1" descr="preencoded.png">    </p:cNvPr>
          <p:cNvPicPr>
            <a:picLocks noChangeAspect="1"/>
          </p:cNvPicPr>
          <p:nvPr/>
        </p:nvPicPr>
        <p:blipFill>
          <a:blip r:embed="rId2"/>
          <a:stretch>
            <a:fillRect/>
          </a:stretch>
        </p:blipFill>
        <p:spPr>
          <a:xfrm>
            <a:off x="1143000" y="548640"/>
            <a:ext cx="457200" cy="457200"/>
          </a:xfrm>
          <a:prstGeom prst="rect">
            <a:avLst/>
          </a:prstGeom>
        </p:spPr>
      </p:pic>
      <p:pic>
        <p:nvPicPr>
          <p:cNvPr id="7" name="Image 2" descr="preencoded.png">    </p:cNvPr>
          <p:cNvPicPr>
            <a:picLocks noChangeAspect="1"/>
          </p:cNvPicPr>
          <p:nvPr/>
        </p:nvPicPr>
        <p:blipFill>
          <a:blip r:embed="rId3"/>
          <a:stretch>
            <a:fillRect/>
          </a:stretch>
        </p:blipFill>
        <p:spPr>
          <a:xfrm>
            <a:off x="1737360" y="54864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The goal: better bio-oil, so separation is easier</a:t>
            </a:r>
            <a:endParaRPr lang="en-US" sz="2200" dirty="0"/>
          </a:p>
        </p:txBody>
      </p:sp>
      <p:sp>
        <p:nvSpPr>
          <p:cNvPr id="3" name="st0"/>
          <p:cNvSpPr/>
          <p:nvPr/>
        </p:nvSpPr>
        <p:spPr>
          <a:xfrm>
            <a:off x="457200" y="1188720"/>
            <a:ext cx="1828800" cy="1600200"/>
          </a:xfrm>
          <a:prstGeom prst="roundRect">
            <a:avLst>
              <a:gd name="adj" fmla="val 4571"/>
            </a:avLst>
          </a:prstGeom>
          <a:solidFill>
            <a:srgbClr val="F2F5F3"/>
          </a:solidFill>
          <a:ln w="12700">
            <a:solidFill>
              <a:srgbClr val="F2F5F3"/>
            </a:solidFill>
            <a:prstDash val="solid"/>
          </a:ln>
        </p:spPr>
      </p:sp>
      <p:sp>
        <p:nvSpPr>
          <p:cNvPr id="4" name="Shape 2"/>
          <p:cNvSpPr/>
          <p:nvPr/>
        </p:nvSpPr>
        <p:spPr>
          <a:xfrm>
            <a:off x="1005840" y="1371600"/>
            <a:ext cx="731520" cy="731520"/>
          </a:xfrm>
          <a:prstGeom prst="ellipse">
            <a:avLst/>
          </a:prstGeom>
          <a:solidFill>
            <a:srgbClr val="2E7D5B"/>
          </a:solidFill>
          <a:ln w="12700">
            <a:solidFill>
              <a:srgbClr val="2E7D5B"/>
            </a:solidFill>
            <a:prstDash val="solid"/>
          </a:ln>
        </p:spPr>
      </p:sp>
      <p:pic>
        <p:nvPicPr>
          <p:cNvPr id="5" name="Image 0" descr="preencoded.png">    </p:cNvPr>
          <p:cNvPicPr>
            <a:picLocks noChangeAspect="1"/>
          </p:cNvPicPr>
          <p:nvPr/>
        </p:nvPicPr>
        <p:blipFill>
          <a:blip r:embed="rId1"/>
          <a:stretch>
            <a:fillRect/>
          </a:stretch>
        </p:blipFill>
        <p:spPr>
          <a:xfrm>
            <a:off x="1166774" y="1532534"/>
            <a:ext cx="409651" cy="409651"/>
          </a:xfrm>
          <a:prstGeom prst="rect">
            <a:avLst/>
          </a:prstGeom>
        </p:spPr>
      </p:pic>
      <p:sp>
        <p:nvSpPr>
          <p:cNvPr id="6" name="Text 3"/>
          <p:cNvSpPr txBox="1"/>
          <p:nvPr/>
        </p:nvSpPr>
        <p:spPr>
          <a:xfrm>
            <a:off x="548640" y="2240280"/>
            <a:ext cx="1645920" cy="365760"/>
          </a:xfrm>
          <a:prstGeom prst="rect">
            <a:avLst/>
          </a:prstGeom>
          <a:noFill/>
          <a:ln/>
        </p:spPr>
        <p:txBody>
          <a:bodyPr wrap="square" lIns="0" tIns="0" rIns="0" bIns="0" rtlCol="0" anchor="t"/>
          <a:lstStyle/>
          <a:p>
            <a:pPr algn="ctr" indent="0" marL="0">
              <a:buNone/>
            </a:pPr>
            <a:r>
              <a:rPr lang="en-US" sz="1700" b="1" dirty="0">
                <a:solidFill>
                  <a:schemeClr val="tx2"/>
                </a:solidFill>
              </a:rPr>
              <a:t>Biomass</a:t>
            </a:r>
            <a:endParaRPr lang="en-US" sz="1700" dirty="0"/>
          </a:p>
        </p:txBody>
      </p:sp>
      <p:pic>
        <p:nvPicPr>
          <p:cNvPr id="7" name="Image 1" descr="preencoded.png">    </p:cNvPr>
          <p:cNvPicPr>
            <a:picLocks noChangeAspect="1"/>
          </p:cNvPicPr>
          <p:nvPr/>
        </p:nvPicPr>
        <p:blipFill>
          <a:blip r:embed="rId2"/>
          <a:stretch>
            <a:fillRect/>
          </a:stretch>
        </p:blipFill>
        <p:spPr>
          <a:xfrm>
            <a:off x="2322576" y="1874520"/>
            <a:ext cx="219456" cy="219456"/>
          </a:xfrm>
          <a:prstGeom prst="rect">
            <a:avLst/>
          </a:prstGeom>
        </p:spPr>
      </p:pic>
      <p:sp>
        <p:nvSpPr>
          <p:cNvPr id="8" name="st1"/>
          <p:cNvSpPr/>
          <p:nvPr/>
        </p:nvSpPr>
        <p:spPr>
          <a:xfrm>
            <a:off x="2578608" y="1188720"/>
            <a:ext cx="1828800" cy="1600200"/>
          </a:xfrm>
          <a:prstGeom prst="roundRect">
            <a:avLst>
              <a:gd name="adj" fmla="val 4571"/>
            </a:avLst>
          </a:prstGeom>
          <a:solidFill>
            <a:srgbClr val="F2F5F3"/>
          </a:solidFill>
          <a:ln w="12700">
            <a:solidFill>
              <a:srgbClr val="F2F5F3"/>
            </a:solidFill>
            <a:prstDash val="solid"/>
          </a:ln>
        </p:spPr>
      </p:sp>
      <p:sp>
        <p:nvSpPr>
          <p:cNvPr id="9" name="Shape 5"/>
          <p:cNvSpPr/>
          <p:nvPr/>
        </p:nvSpPr>
        <p:spPr>
          <a:xfrm>
            <a:off x="3127248" y="1371600"/>
            <a:ext cx="731520" cy="731520"/>
          </a:xfrm>
          <a:prstGeom prst="ellipse">
            <a:avLst/>
          </a:prstGeom>
          <a:solidFill>
            <a:srgbClr val="C8761E"/>
          </a:solidFill>
          <a:ln w="12700">
            <a:solidFill>
              <a:srgbClr val="C8761E"/>
            </a:solidFill>
            <a:prstDash val="solid"/>
          </a:ln>
        </p:spPr>
      </p:sp>
      <p:pic>
        <p:nvPicPr>
          <p:cNvPr id="10" name="Image 2" descr="preencoded.png">    </p:cNvPr>
          <p:cNvPicPr>
            <a:picLocks noChangeAspect="1"/>
          </p:cNvPicPr>
          <p:nvPr/>
        </p:nvPicPr>
        <p:blipFill>
          <a:blip r:embed="rId3"/>
          <a:stretch>
            <a:fillRect/>
          </a:stretch>
        </p:blipFill>
        <p:spPr>
          <a:xfrm>
            <a:off x="3288182" y="1532534"/>
            <a:ext cx="409651" cy="409651"/>
          </a:xfrm>
          <a:prstGeom prst="rect">
            <a:avLst/>
          </a:prstGeom>
        </p:spPr>
      </p:pic>
      <p:sp>
        <p:nvSpPr>
          <p:cNvPr id="11" name="Text 6"/>
          <p:cNvSpPr txBox="1"/>
          <p:nvPr/>
        </p:nvSpPr>
        <p:spPr>
          <a:xfrm>
            <a:off x="2670048" y="2240280"/>
            <a:ext cx="1645920" cy="365760"/>
          </a:xfrm>
          <a:prstGeom prst="rect">
            <a:avLst/>
          </a:prstGeom>
          <a:noFill/>
          <a:ln/>
        </p:spPr>
        <p:txBody>
          <a:bodyPr wrap="square" lIns="0" tIns="0" rIns="0" bIns="0" rtlCol="0" anchor="t"/>
          <a:lstStyle/>
          <a:p>
            <a:pPr algn="ctr" indent="0" marL="0">
              <a:buNone/>
            </a:pPr>
            <a:r>
              <a:rPr lang="en-US" sz="1700" b="1" dirty="0">
                <a:solidFill>
                  <a:schemeClr val="tx2"/>
                </a:solidFill>
              </a:rPr>
              <a:t>Pyrolysis</a:t>
            </a:r>
            <a:endParaRPr lang="en-US" sz="1700" dirty="0"/>
          </a:p>
        </p:txBody>
      </p:sp>
      <p:pic>
        <p:nvPicPr>
          <p:cNvPr id="12" name="Image 3" descr="preencoded.png">    </p:cNvPr>
          <p:cNvPicPr>
            <a:picLocks noChangeAspect="1"/>
          </p:cNvPicPr>
          <p:nvPr/>
        </p:nvPicPr>
        <p:blipFill>
          <a:blip r:embed="rId4"/>
          <a:stretch>
            <a:fillRect/>
          </a:stretch>
        </p:blipFill>
        <p:spPr>
          <a:xfrm>
            <a:off x="4443984" y="1874520"/>
            <a:ext cx="219456" cy="219456"/>
          </a:xfrm>
          <a:prstGeom prst="rect">
            <a:avLst/>
          </a:prstGeom>
        </p:spPr>
      </p:pic>
      <p:sp>
        <p:nvSpPr>
          <p:cNvPr id="13" name="st2"/>
          <p:cNvSpPr/>
          <p:nvPr/>
        </p:nvSpPr>
        <p:spPr>
          <a:xfrm>
            <a:off x="4700016" y="1188720"/>
            <a:ext cx="1828800" cy="1600200"/>
          </a:xfrm>
          <a:prstGeom prst="roundRect">
            <a:avLst>
              <a:gd name="adj" fmla="val 4571"/>
            </a:avLst>
          </a:prstGeom>
          <a:solidFill>
            <a:srgbClr val="FBEFE2"/>
          </a:solidFill>
          <a:ln w="12700">
            <a:solidFill>
              <a:srgbClr val="FBEFE2"/>
            </a:solidFill>
            <a:prstDash val="solid"/>
          </a:ln>
        </p:spPr>
      </p:sp>
      <p:sp>
        <p:nvSpPr>
          <p:cNvPr id="14" name="Shape 8"/>
          <p:cNvSpPr/>
          <p:nvPr/>
        </p:nvSpPr>
        <p:spPr>
          <a:xfrm>
            <a:off x="5248656" y="1371600"/>
            <a:ext cx="731520" cy="731520"/>
          </a:xfrm>
          <a:prstGeom prst="ellipse">
            <a:avLst/>
          </a:prstGeom>
          <a:solidFill>
            <a:srgbClr val="B23A2B"/>
          </a:solidFill>
          <a:ln w="12700">
            <a:solidFill>
              <a:srgbClr val="B23A2B"/>
            </a:solidFill>
            <a:prstDash val="solid"/>
          </a:ln>
        </p:spPr>
      </p:sp>
      <p:pic>
        <p:nvPicPr>
          <p:cNvPr id="15" name="Image 4" descr="preencoded.png">    </p:cNvPr>
          <p:cNvPicPr>
            <a:picLocks noChangeAspect="1"/>
          </p:cNvPicPr>
          <p:nvPr/>
        </p:nvPicPr>
        <p:blipFill>
          <a:blip r:embed="rId5"/>
          <a:stretch>
            <a:fillRect/>
          </a:stretch>
        </p:blipFill>
        <p:spPr>
          <a:xfrm>
            <a:off x="5409590" y="1532534"/>
            <a:ext cx="409651" cy="409651"/>
          </a:xfrm>
          <a:prstGeom prst="rect">
            <a:avLst/>
          </a:prstGeom>
        </p:spPr>
      </p:pic>
      <p:sp>
        <p:nvSpPr>
          <p:cNvPr id="16" name="Text 9"/>
          <p:cNvSpPr txBox="1"/>
          <p:nvPr/>
        </p:nvSpPr>
        <p:spPr>
          <a:xfrm>
            <a:off x="4791456" y="2240280"/>
            <a:ext cx="1645920" cy="365760"/>
          </a:xfrm>
          <a:prstGeom prst="rect">
            <a:avLst/>
          </a:prstGeom>
          <a:noFill/>
          <a:ln/>
        </p:spPr>
        <p:txBody>
          <a:bodyPr wrap="square" lIns="0" tIns="0" rIns="0" bIns="0" rtlCol="0" anchor="t"/>
          <a:lstStyle/>
          <a:p>
            <a:pPr algn="ctr" indent="0" marL="0">
              <a:buNone/>
            </a:pPr>
            <a:r>
              <a:rPr lang="en-US" sz="1700" b="1" dirty="0">
                <a:solidFill>
                  <a:schemeClr val="tx2"/>
                </a:solidFill>
              </a:rPr>
              <a:t>Bio-oil</a:t>
            </a:r>
            <a:endParaRPr lang="en-US" sz="1700" dirty="0"/>
          </a:p>
        </p:txBody>
      </p:sp>
      <p:pic>
        <p:nvPicPr>
          <p:cNvPr id="17" name="Image 5" descr="preencoded.png">    </p:cNvPr>
          <p:cNvPicPr>
            <a:picLocks noChangeAspect="1"/>
          </p:cNvPicPr>
          <p:nvPr/>
        </p:nvPicPr>
        <p:blipFill>
          <a:blip r:embed="rId6"/>
          <a:stretch>
            <a:fillRect/>
          </a:stretch>
        </p:blipFill>
        <p:spPr>
          <a:xfrm>
            <a:off x="6565392" y="1874520"/>
            <a:ext cx="219456" cy="219456"/>
          </a:xfrm>
          <a:prstGeom prst="rect">
            <a:avLst/>
          </a:prstGeom>
        </p:spPr>
      </p:pic>
      <p:sp>
        <p:nvSpPr>
          <p:cNvPr id="18" name="st3"/>
          <p:cNvSpPr/>
          <p:nvPr/>
        </p:nvSpPr>
        <p:spPr>
          <a:xfrm>
            <a:off x="6821424" y="1188720"/>
            <a:ext cx="1828800" cy="1600200"/>
          </a:xfrm>
          <a:prstGeom prst="roundRect">
            <a:avLst>
              <a:gd name="adj" fmla="val 4571"/>
            </a:avLst>
          </a:prstGeom>
          <a:solidFill>
            <a:srgbClr val="F2F5F3"/>
          </a:solidFill>
          <a:ln w="12700">
            <a:solidFill>
              <a:srgbClr val="F2F5F3"/>
            </a:solidFill>
            <a:prstDash val="solid"/>
          </a:ln>
        </p:spPr>
      </p:sp>
      <p:sp>
        <p:nvSpPr>
          <p:cNvPr id="19" name="Shape 11"/>
          <p:cNvSpPr/>
          <p:nvPr/>
        </p:nvSpPr>
        <p:spPr>
          <a:xfrm>
            <a:off x="7370064" y="1371600"/>
            <a:ext cx="731520" cy="731520"/>
          </a:xfrm>
          <a:prstGeom prst="ellipse">
            <a:avLst/>
          </a:prstGeom>
          <a:solidFill>
            <a:srgbClr val="3B6E8F"/>
          </a:solidFill>
          <a:ln w="12700">
            <a:solidFill>
              <a:srgbClr val="3B6E8F"/>
            </a:solidFill>
            <a:prstDash val="solid"/>
          </a:ln>
        </p:spPr>
      </p:sp>
      <p:pic>
        <p:nvPicPr>
          <p:cNvPr id="20" name="Image 6" descr="preencoded.png">    </p:cNvPr>
          <p:cNvPicPr>
            <a:picLocks noChangeAspect="1"/>
          </p:cNvPicPr>
          <p:nvPr/>
        </p:nvPicPr>
        <p:blipFill>
          <a:blip r:embed="rId7"/>
          <a:stretch>
            <a:fillRect/>
          </a:stretch>
        </p:blipFill>
        <p:spPr>
          <a:xfrm>
            <a:off x="7530998" y="1532534"/>
            <a:ext cx="409651" cy="409651"/>
          </a:xfrm>
          <a:prstGeom prst="rect">
            <a:avLst/>
          </a:prstGeom>
        </p:spPr>
      </p:pic>
      <p:sp>
        <p:nvSpPr>
          <p:cNvPr id="21" name="Text 12"/>
          <p:cNvSpPr txBox="1"/>
          <p:nvPr/>
        </p:nvSpPr>
        <p:spPr>
          <a:xfrm>
            <a:off x="6912864" y="2240280"/>
            <a:ext cx="1645920" cy="365760"/>
          </a:xfrm>
          <a:prstGeom prst="rect">
            <a:avLst/>
          </a:prstGeom>
          <a:noFill/>
          <a:ln/>
        </p:spPr>
        <p:txBody>
          <a:bodyPr wrap="square" lIns="0" tIns="0" rIns="0" bIns="0" rtlCol="0" anchor="t"/>
          <a:lstStyle/>
          <a:p>
            <a:pPr algn="ctr" indent="0" marL="0">
              <a:buNone/>
            </a:pPr>
            <a:r>
              <a:rPr lang="en-US" sz="1700" b="1" dirty="0">
                <a:solidFill>
                  <a:schemeClr val="tx2"/>
                </a:solidFill>
              </a:rPr>
              <a:t>Separation</a:t>
            </a:r>
            <a:endParaRPr lang="en-US" sz="1700" dirty="0"/>
          </a:p>
        </p:txBody>
      </p:sp>
      <p:sp>
        <p:nvSpPr>
          <p:cNvPr id="22" name="what"/>
          <p:cNvSpPr/>
          <p:nvPr/>
        </p:nvSpPr>
        <p:spPr>
          <a:xfrm>
            <a:off x="457200" y="3063240"/>
            <a:ext cx="4023360" cy="1554480"/>
          </a:xfrm>
          <a:prstGeom prst="roundRect">
            <a:avLst>
              <a:gd name="adj" fmla="val 4706"/>
            </a:avLst>
          </a:prstGeom>
          <a:solidFill>
            <a:srgbClr val="F2F5F3"/>
          </a:solidFill>
          <a:ln w="12700">
            <a:solidFill>
              <a:srgbClr val="F2F5F3"/>
            </a:solidFill>
            <a:prstDash val="solid"/>
          </a:ln>
        </p:spPr>
      </p:sp>
      <p:sp>
        <p:nvSpPr>
          <p:cNvPr id="23" name="Text 14"/>
          <p:cNvSpPr txBox="1"/>
          <p:nvPr/>
        </p:nvSpPr>
        <p:spPr>
          <a:xfrm>
            <a:off x="685800" y="3200400"/>
            <a:ext cx="3611880" cy="1325880"/>
          </a:xfrm>
          <a:prstGeom prst="rect">
            <a:avLst/>
          </a:prstGeom>
          <a:noFill/>
          <a:ln/>
        </p:spPr>
        <p:txBody>
          <a:bodyPr wrap="square" lIns="0" tIns="0" rIns="0" bIns="0" rtlCol="0" anchor="t"/>
          <a:lstStyle/>
          <a:p>
            <a:pPr indent="0" marL="0">
              <a:spcAft>
                <a:spcPts val="400"/>
              </a:spcAft>
              <a:buNone/>
            </a:pPr>
            <a:r>
              <a:rPr lang="en-US" sz="1500" b="1" dirty="0">
                <a:solidFill>
                  <a:srgbClr val="C8761E"/>
                </a:solidFill>
              </a:rPr>
              <a:t>We predict</a:t>
            </a:r>
            <a:endParaRPr lang="en-US" sz="1500" dirty="0"/>
          </a:p>
          <a:p>
            <a:pPr indent="0" marL="0">
              <a:spcAft>
                <a:spcPts val="400"/>
              </a:spcAft>
              <a:buNone/>
            </a:pPr>
            <a:r>
              <a:rPr lang="en-US" sz="1500" dirty="0">
                <a:solidFill>
                  <a:schemeClr val="tx1"/>
                </a:solidFill>
              </a:rPr>
              <a:t>How much oil we get, and how much oxygen is in it (less oxygen = better fuel).</a:t>
            </a:r>
            <a:endParaRPr lang="en-US" sz="1500" dirty="0"/>
          </a:p>
        </p:txBody>
      </p:sp>
      <p:sp>
        <p:nvSpPr>
          <p:cNvPr id="24" name="prob"/>
          <p:cNvSpPr/>
          <p:nvPr/>
        </p:nvSpPr>
        <p:spPr>
          <a:xfrm>
            <a:off x="4663440" y="3063240"/>
            <a:ext cx="4023360" cy="1554480"/>
          </a:xfrm>
          <a:prstGeom prst="roundRect">
            <a:avLst>
              <a:gd name="adj" fmla="val 4706"/>
            </a:avLst>
          </a:prstGeom>
          <a:solidFill>
            <a:srgbClr val="FBEFE2"/>
          </a:solidFill>
          <a:ln w="12700">
            <a:solidFill>
              <a:srgbClr val="FBEFE2"/>
            </a:solidFill>
            <a:prstDash val="solid"/>
          </a:ln>
        </p:spPr>
      </p:sp>
      <p:sp>
        <p:nvSpPr>
          <p:cNvPr id="25" name="Text 16"/>
          <p:cNvSpPr txBox="1"/>
          <p:nvPr/>
        </p:nvSpPr>
        <p:spPr>
          <a:xfrm>
            <a:off x="4892040" y="3200400"/>
            <a:ext cx="3611880" cy="1325880"/>
          </a:xfrm>
          <a:prstGeom prst="rect">
            <a:avLst/>
          </a:prstGeom>
          <a:noFill/>
          <a:ln/>
        </p:spPr>
        <p:txBody>
          <a:bodyPr wrap="square" lIns="0" tIns="0" rIns="0" bIns="0" rtlCol="0" anchor="t"/>
          <a:lstStyle/>
          <a:p>
            <a:pPr indent="0" marL="0">
              <a:spcAft>
                <a:spcPts val="400"/>
              </a:spcAft>
              <a:buNone/>
            </a:pPr>
            <a:r>
              <a:rPr lang="en-US" sz="1500" b="1" dirty="0">
                <a:solidFill>
                  <a:srgbClr val="B23A2B"/>
                </a:solidFill>
              </a:rPr>
              <a:t>The problem</a:t>
            </a:r>
            <a:endParaRPr lang="en-US" sz="1500" dirty="0"/>
          </a:p>
          <a:p>
            <a:pPr indent="0" marL="0">
              <a:spcAft>
                <a:spcPts val="400"/>
              </a:spcAft>
              <a:buNone/>
            </a:pPr>
            <a:r>
              <a:rPr lang="en-US" sz="1500" dirty="0">
                <a:solidFill>
                  <a:schemeClr val="tx1"/>
                </a:solidFill>
              </a:rPr>
              <a:t>Many ML models look accurate but fail on new biomass, and they ignore physics.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What we did</a:t>
            </a:r>
            <a:endParaRPr lang="en-US" sz="2200" dirty="0"/>
          </a:p>
        </p:txBody>
      </p:sp>
      <p:sp>
        <p:nvSpPr>
          <p:cNvPr id="3" name="did0"/>
          <p:cNvSpPr/>
          <p:nvPr/>
        </p:nvSpPr>
        <p:spPr>
          <a:xfrm>
            <a:off x="457200" y="1188720"/>
            <a:ext cx="2606040" cy="3429000"/>
          </a:xfrm>
          <a:prstGeom prst="roundRect">
            <a:avLst>
              <a:gd name="adj" fmla="val 2807"/>
            </a:avLst>
          </a:prstGeom>
          <a:solidFill>
            <a:srgbClr val="F2F5F3"/>
          </a:solidFill>
          <a:ln w="12700">
            <a:solidFill>
              <a:srgbClr val="F2F5F3"/>
            </a:solidFill>
            <a:prstDash val="solid"/>
          </a:ln>
        </p:spPr>
      </p:sp>
      <p:sp>
        <p:nvSpPr>
          <p:cNvPr id="4" name="Shape 2"/>
          <p:cNvSpPr/>
          <p:nvPr/>
        </p:nvSpPr>
        <p:spPr>
          <a:xfrm>
            <a:off x="685800" y="1371600"/>
            <a:ext cx="685800" cy="685800"/>
          </a:xfrm>
          <a:prstGeom prst="ellipse">
            <a:avLst/>
          </a:prstGeom>
          <a:solidFill>
            <a:srgbClr val="B23A2B"/>
          </a:solidFill>
          <a:ln w="12700">
            <a:solidFill>
              <a:srgbClr val="B23A2B"/>
            </a:solidFill>
            <a:prstDash val="solid"/>
          </a:ln>
        </p:spPr>
      </p:sp>
      <p:pic>
        <p:nvPicPr>
          <p:cNvPr id="5" name="Image 0" descr="preencoded.png">    </p:cNvPr>
          <p:cNvPicPr>
            <a:picLocks noChangeAspect="1"/>
          </p:cNvPicPr>
          <p:nvPr/>
        </p:nvPicPr>
        <p:blipFill>
          <a:blip r:embed="rId1"/>
          <a:stretch>
            <a:fillRect/>
          </a:stretch>
        </p:blipFill>
        <p:spPr>
          <a:xfrm>
            <a:off x="836676" y="1522476"/>
            <a:ext cx="384048" cy="384048"/>
          </a:xfrm>
          <a:prstGeom prst="rect">
            <a:avLst/>
          </a:prstGeom>
        </p:spPr>
      </p:pic>
      <p:sp>
        <p:nvSpPr>
          <p:cNvPr id="6" name="Text 3"/>
          <p:cNvSpPr txBox="1"/>
          <p:nvPr/>
        </p:nvSpPr>
        <p:spPr>
          <a:xfrm>
            <a:off x="685800" y="2240280"/>
            <a:ext cx="2194560" cy="365760"/>
          </a:xfrm>
          <a:prstGeom prst="rect">
            <a:avLst/>
          </a:prstGeom>
          <a:noFill/>
          <a:ln/>
        </p:spPr>
        <p:txBody>
          <a:bodyPr wrap="square" lIns="0" tIns="0" rIns="0" bIns="0" rtlCol="0" anchor="t"/>
          <a:lstStyle/>
          <a:p>
            <a:pPr indent="0" marL="0">
              <a:buNone/>
            </a:pPr>
            <a:r>
              <a:rPr lang="en-US" sz="1800" b="1" dirty="0">
                <a:solidFill>
                  <a:schemeClr val="tx2"/>
                </a:solidFill>
              </a:rPr>
              <a:t>Cleaned the data</a:t>
            </a:r>
            <a:endParaRPr lang="en-US" sz="1800" dirty="0"/>
          </a:p>
        </p:txBody>
      </p:sp>
      <p:sp>
        <p:nvSpPr>
          <p:cNvPr id="7" name="Text 4"/>
          <p:cNvSpPr txBox="1"/>
          <p:nvPr/>
        </p:nvSpPr>
        <p:spPr>
          <a:xfrm>
            <a:off x="685800" y="2651760"/>
            <a:ext cx="2194560" cy="685800"/>
          </a:xfrm>
          <a:prstGeom prst="rect">
            <a:avLst/>
          </a:prstGeom>
          <a:noFill/>
          <a:ln/>
        </p:spPr>
        <p:txBody>
          <a:bodyPr wrap="square" lIns="0" tIns="0" rIns="0" bIns="0" rtlCol="0" anchor="t"/>
          <a:lstStyle/>
          <a:p>
            <a:pPr indent="0" marL="0">
              <a:buNone/>
            </a:pPr>
            <a:r>
              <a:rPr lang="en-US" sz="1400" dirty="0">
                <a:solidFill>
                  <a:schemeClr val="tx1"/>
                </a:solidFill>
              </a:rPr>
              <a:t>Found the same biomass repeated many times.</a:t>
            </a:r>
            <a:endParaRPr lang="en-US" sz="1400" dirty="0"/>
          </a:p>
        </p:txBody>
      </p:sp>
      <p:sp>
        <p:nvSpPr>
          <p:cNvPr id="8" name="Text 5"/>
          <p:cNvSpPr txBox="1"/>
          <p:nvPr/>
        </p:nvSpPr>
        <p:spPr>
          <a:xfrm>
            <a:off x="685800" y="3429000"/>
            <a:ext cx="2240280" cy="548640"/>
          </a:xfrm>
          <a:prstGeom prst="rect">
            <a:avLst/>
          </a:prstGeom>
          <a:noFill/>
          <a:ln/>
        </p:spPr>
        <p:txBody>
          <a:bodyPr wrap="square" lIns="0" tIns="0" rIns="0" bIns="0" rtlCol="0" anchor="t"/>
          <a:lstStyle/>
          <a:p>
            <a:pPr indent="0" marL="0">
              <a:buNone/>
            </a:pPr>
            <a:r>
              <a:rPr lang="en-US" sz="2600" b="1" dirty="0">
                <a:solidFill>
                  <a:srgbClr val="B23A2B"/>
                </a:solidFill>
                <a:latin typeface="Cambria" pitchFamily="34" charset="0"/>
                <a:ea typeface="Cambria" pitchFamily="34" charset="-122"/>
                <a:cs typeface="Cambria" pitchFamily="34" charset="-120"/>
              </a:rPr>
              <a:t>651 → 118</a:t>
            </a:r>
            <a:endParaRPr lang="en-US" sz="2600" dirty="0"/>
          </a:p>
        </p:txBody>
      </p:sp>
      <p:sp>
        <p:nvSpPr>
          <p:cNvPr id="9" name="Text 6"/>
          <p:cNvSpPr txBox="1"/>
          <p:nvPr/>
        </p:nvSpPr>
        <p:spPr>
          <a:xfrm>
            <a:off x="685800" y="4023360"/>
            <a:ext cx="2194560" cy="320040"/>
          </a:xfrm>
          <a:prstGeom prst="rect">
            <a:avLst/>
          </a:prstGeom>
          <a:noFill/>
          <a:ln/>
        </p:spPr>
        <p:txBody>
          <a:bodyPr wrap="square" lIns="0" tIns="0" rIns="0" bIns="0" rtlCol="0" anchor="t"/>
          <a:lstStyle/>
          <a:p>
            <a:pPr indent="0" marL="0">
              <a:buNone/>
            </a:pPr>
            <a:r>
              <a:rPr lang="en-US" sz="1200" dirty="0">
                <a:solidFill>
                  <a:schemeClr val="accent5"/>
                </a:solidFill>
              </a:rPr>
              <a:t>real biomasses</a:t>
            </a:r>
            <a:endParaRPr lang="en-US" sz="1200" dirty="0"/>
          </a:p>
        </p:txBody>
      </p:sp>
      <p:sp>
        <p:nvSpPr>
          <p:cNvPr id="10" name="did1"/>
          <p:cNvSpPr/>
          <p:nvPr/>
        </p:nvSpPr>
        <p:spPr>
          <a:xfrm>
            <a:off x="3264408" y="1188720"/>
            <a:ext cx="2606040" cy="3429000"/>
          </a:xfrm>
          <a:prstGeom prst="roundRect">
            <a:avLst>
              <a:gd name="adj" fmla="val 2807"/>
            </a:avLst>
          </a:prstGeom>
          <a:solidFill>
            <a:srgbClr val="F2F5F3"/>
          </a:solidFill>
          <a:ln w="12700">
            <a:solidFill>
              <a:srgbClr val="F2F5F3"/>
            </a:solidFill>
            <a:prstDash val="solid"/>
          </a:ln>
        </p:spPr>
      </p:sp>
      <p:sp>
        <p:nvSpPr>
          <p:cNvPr id="11" name="Shape 8"/>
          <p:cNvSpPr/>
          <p:nvPr/>
        </p:nvSpPr>
        <p:spPr>
          <a:xfrm>
            <a:off x="3493008" y="1371600"/>
            <a:ext cx="685800" cy="685800"/>
          </a:xfrm>
          <a:prstGeom prst="ellipse">
            <a:avLst/>
          </a:prstGeom>
          <a:solidFill>
            <a:srgbClr val="3B6E8F"/>
          </a:solidFill>
          <a:ln w="12700">
            <a:solidFill>
              <a:srgbClr val="3B6E8F"/>
            </a:solidFill>
            <a:prstDash val="solid"/>
          </a:ln>
        </p:spPr>
      </p:sp>
      <p:pic>
        <p:nvPicPr>
          <p:cNvPr id="12" name="Image 1" descr="preencoded.png">    </p:cNvPr>
          <p:cNvPicPr>
            <a:picLocks noChangeAspect="1"/>
          </p:cNvPicPr>
          <p:nvPr/>
        </p:nvPicPr>
        <p:blipFill>
          <a:blip r:embed="rId2"/>
          <a:stretch>
            <a:fillRect/>
          </a:stretch>
        </p:blipFill>
        <p:spPr>
          <a:xfrm>
            <a:off x="3643884" y="1522476"/>
            <a:ext cx="384048" cy="384048"/>
          </a:xfrm>
          <a:prstGeom prst="rect">
            <a:avLst/>
          </a:prstGeom>
        </p:spPr>
      </p:pic>
      <p:sp>
        <p:nvSpPr>
          <p:cNvPr id="13" name="Text 9"/>
          <p:cNvSpPr txBox="1"/>
          <p:nvPr/>
        </p:nvSpPr>
        <p:spPr>
          <a:xfrm>
            <a:off x="3493008" y="2240280"/>
            <a:ext cx="2194560" cy="365760"/>
          </a:xfrm>
          <a:prstGeom prst="rect">
            <a:avLst/>
          </a:prstGeom>
          <a:noFill/>
          <a:ln/>
        </p:spPr>
        <p:txBody>
          <a:bodyPr wrap="square" lIns="0" tIns="0" rIns="0" bIns="0" rtlCol="0" anchor="t"/>
          <a:lstStyle/>
          <a:p>
            <a:pPr indent="0" marL="0">
              <a:buNone/>
            </a:pPr>
            <a:r>
              <a:rPr lang="en-US" sz="1800" b="1" dirty="0">
                <a:solidFill>
                  <a:schemeClr val="tx2"/>
                </a:solidFill>
              </a:rPr>
              <a:t>Tested honestly</a:t>
            </a:r>
            <a:endParaRPr lang="en-US" sz="1800" dirty="0"/>
          </a:p>
        </p:txBody>
      </p:sp>
      <p:sp>
        <p:nvSpPr>
          <p:cNvPr id="14" name="Text 10"/>
          <p:cNvSpPr txBox="1"/>
          <p:nvPr/>
        </p:nvSpPr>
        <p:spPr>
          <a:xfrm>
            <a:off x="3493008" y="2651760"/>
            <a:ext cx="2194560" cy="685800"/>
          </a:xfrm>
          <a:prstGeom prst="rect">
            <a:avLst/>
          </a:prstGeom>
          <a:noFill/>
          <a:ln/>
        </p:spPr>
        <p:txBody>
          <a:bodyPr wrap="square" lIns="0" tIns="0" rIns="0" bIns="0" rtlCol="0" anchor="t"/>
          <a:lstStyle/>
          <a:p>
            <a:pPr indent="0" marL="0">
              <a:buNone/>
            </a:pPr>
            <a:r>
              <a:rPr lang="en-US" sz="1400" dirty="0">
                <a:solidFill>
                  <a:schemeClr val="tx1"/>
                </a:solidFill>
              </a:rPr>
              <a:t>Only on biomass the model had never seen.</a:t>
            </a:r>
            <a:endParaRPr lang="en-US" sz="1400" dirty="0"/>
          </a:p>
        </p:txBody>
      </p:sp>
      <p:sp>
        <p:nvSpPr>
          <p:cNvPr id="15" name="Text 11"/>
          <p:cNvSpPr txBox="1"/>
          <p:nvPr/>
        </p:nvSpPr>
        <p:spPr>
          <a:xfrm>
            <a:off x="3493008" y="3429000"/>
            <a:ext cx="2240280" cy="548640"/>
          </a:xfrm>
          <a:prstGeom prst="rect">
            <a:avLst/>
          </a:prstGeom>
          <a:noFill/>
          <a:ln/>
        </p:spPr>
        <p:txBody>
          <a:bodyPr wrap="square" lIns="0" tIns="0" rIns="0" bIns="0" rtlCol="0" anchor="t"/>
          <a:lstStyle/>
          <a:p>
            <a:pPr indent="0" marL="0">
              <a:buNone/>
            </a:pPr>
            <a:r>
              <a:rPr lang="en-US" sz="2600" b="1" dirty="0">
                <a:solidFill>
                  <a:srgbClr val="3B6E8F"/>
                </a:solidFill>
                <a:latin typeface="Cambria" pitchFamily="34" charset="0"/>
                <a:ea typeface="Cambria" pitchFamily="34" charset="-122"/>
                <a:cs typeface="Cambria" pitchFamily="34" charset="-120"/>
              </a:rPr>
              <a:t>0.66 → −0.18</a:t>
            </a:r>
            <a:endParaRPr lang="en-US" sz="2600" dirty="0"/>
          </a:p>
        </p:txBody>
      </p:sp>
      <p:sp>
        <p:nvSpPr>
          <p:cNvPr id="16" name="Text 12"/>
          <p:cNvSpPr txBox="1"/>
          <p:nvPr/>
        </p:nvSpPr>
        <p:spPr>
          <a:xfrm>
            <a:off x="3493008" y="4023360"/>
            <a:ext cx="2194560" cy="320040"/>
          </a:xfrm>
          <a:prstGeom prst="rect">
            <a:avLst/>
          </a:prstGeom>
          <a:noFill/>
          <a:ln/>
        </p:spPr>
        <p:txBody>
          <a:bodyPr wrap="square" lIns="0" tIns="0" rIns="0" bIns="0" rtlCol="0" anchor="t"/>
          <a:lstStyle/>
          <a:p>
            <a:pPr indent="0" marL="0">
              <a:buNone/>
            </a:pPr>
            <a:r>
              <a:rPr lang="en-US" sz="1200" dirty="0">
                <a:solidFill>
                  <a:schemeClr val="accent5"/>
                </a:solidFill>
              </a:rPr>
              <a:t>accuracy drop (yield)</a:t>
            </a:r>
            <a:endParaRPr lang="en-US" sz="1200" dirty="0"/>
          </a:p>
        </p:txBody>
      </p:sp>
      <p:sp>
        <p:nvSpPr>
          <p:cNvPr id="17" name="did2"/>
          <p:cNvSpPr/>
          <p:nvPr/>
        </p:nvSpPr>
        <p:spPr>
          <a:xfrm>
            <a:off x="6071616" y="1188720"/>
            <a:ext cx="2606040" cy="3429000"/>
          </a:xfrm>
          <a:prstGeom prst="roundRect">
            <a:avLst>
              <a:gd name="adj" fmla="val 2807"/>
            </a:avLst>
          </a:prstGeom>
          <a:solidFill>
            <a:srgbClr val="F2F5F3"/>
          </a:solidFill>
          <a:ln w="12700">
            <a:solidFill>
              <a:srgbClr val="F2F5F3"/>
            </a:solidFill>
            <a:prstDash val="solid"/>
          </a:ln>
        </p:spPr>
      </p:sp>
      <p:sp>
        <p:nvSpPr>
          <p:cNvPr id="18" name="Shape 14"/>
          <p:cNvSpPr/>
          <p:nvPr/>
        </p:nvSpPr>
        <p:spPr>
          <a:xfrm>
            <a:off x="6300216" y="1371600"/>
            <a:ext cx="685800" cy="685800"/>
          </a:xfrm>
          <a:prstGeom prst="ellipse">
            <a:avLst/>
          </a:prstGeom>
          <a:solidFill>
            <a:srgbClr val="2E7D5B"/>
          </a:solidFill>
          <a:ln w="12700">
            <a:solidFill>
              <a:srgbClr val="2E7D5B"/>
            </a:solidFill>
            <a:prstDash val="solid"/>
          </a:ln>
        </p:spPr>
      </p:sp>
      <p:pic>
        <p:nvPicPr>
          <p:cNvPr id="19" name="Image 2" descr="preencoded.png">    </p:cNvPr>
          <p:cNvPicPr>
            <a:picLocks noChangeAspect="1"/>
          </p:cNvPicPr>
          <p:nvPr/>
        </p:nvPicPr>
        <p:blipFill>
          <a:blip r:embed="rId3"/>
          <a:stretch>
            <a:fillRect/>
          </a:stretch>
        </p:blipFill>
        <p:spPr>
          <a:xfrm>
            <a:off x="6451092" y="1522476"/>
            <a:ext cx="384048" cy="384048"/>
          </a:xfrm>
          <a:prstGeom prst="rect">
            <a:avLst/>
          </a:prstGeom>
        </p:spPr>
      </p:pic>
      <p:sp>
        <p:nvSpPr>
          <p:cNvPr id="20" name="Text 15"/>
          <p:cNvSpPr txBox="1"/>
          <p:nvPr/>
        </p:nvSpPr>
        <p:spPr>
          <a:xfrm>
            <a:off x="6300216" y="2240280"/>
            <a:ext cx="2194560" cy="365760"/>
          </a:xfrm>
          <a:prstGeom prst="rect">
            <a:avLst/>
          </a:prstGeom>
          <a:noFill/>
          <a:ln/>
        </p:spPr>
        <p:txBody>
          <a:bodyPr wrap="square" lIns="0" tIns="0" rIns="0" bIns="0" rtlCol="0" anchor="t"/>
          <a:lstStyle/>
          <a:p>
            <a:pPr indent="0" marL="0">
              <a:buNone/>
            </a:pPr>
            <a:r>
              <a:rPr lang="en-US" sz="1800" b="1" dirty="0">
                <a:solidFill>
                  <a:schemeClr val="tx2"/>
                </a:solidFill>
              </a:rPr>
              <a:t>Added physics</a:t>
            </a:r>
            <a:endParaRPr lang="en-US" sz="1800" dirty="0"/>
          </a:p>
        </p:txBody>
      </p:sp>
      <p:sp>
        <p:nvSpPr>
          <p:cNvPr id="21" name="Text 16"/>
          <p:cNvSpPr txBox="1"/>
          <p:nvPr/>
        </p:nvSpPr>
        <p:spPr>
          <a:xfrm>
            <a:off x="6300216" y="2651760"/>
            <a:ext cx="2194560" cy="685800"/>
          </a:xfrm>
          <a:prstGeom prst="rect">
            <a:avLst/>
          </a:prstGeom>
          <a:noFill/>
          <a:ln/>
        </p:spPr>
        <p:txBody>
          <a:bodyPr wrap="square" lIns="0" tIns="0" rIns="0" bIns="0" rtlCol="0" anchor="t"/>
          <a:lstStyle/>
          <a:p>
            <a:pPr indent="0" marL="0">
              <a:buNone/>
            </a:pPr>
            <a:r>
              <a:rPr lang="en-US" sz="1400" dirty="0">
                <a:solidFill>
                  <a:schemeClr val="tx1"/>
                </a:solidFill>
              </a:rPr>
              <a:t>Heat transfer, reaction rates, chemistry.</a:t>
            </a:r>
            <a:endParaRPr lang="en-US" sz="1400" dirty="0"/>
          </a:p>
        </p:txBody>
      </p:sp>
      <p:sp>
        <p:nvSpPr>
          <p:cNvPr id="22" name="Text 17"/>
          <p:cNvSpPr txBox="1"/>
          <p:nvPr/>
        </p:nvSpPr>
        <p:spPr>
          <a:xfrm>
            <a:off x="6300216" y="3429000"/>
            <a:ext cx="2240280" cy="548640"/>
          </a:xfrm>
          <a:prstGeom prst="rect">
            <a:avLst/>
          </a:prstGeom>
          <a:noFill/>
          <a:ln/>
        </p:spPr>
        <p:txBody>
          <a:bodyPr wrap="square" lIns="0" tIns="0" rIns="0" bIns="0" rtlCol="0" anchor="t"/>
          <a:lstStyle/>
          <a:p>
            <a:pPr indent="0" marL="0">
              <a:buNone/>
            </a:pPr>
            <a:r>
              <a:rPr lang="en-US" sz="2600" b="1" dirty="0">
                <a:solidFill>
                  <a:srgbClr val="2E7D5B"/>
                </a:solidFill>
                <a:latin typeface="Cambria" pitchFamily="34" charset="0"/>
                <a:ea typeface="Cambria" pitchFamily="34" charset="-122"/>
                <a:cs typeface="Cambria" pitchFamily="34" charset="-120"/>
              </a:rPr>
              <a:t>Better</a:t>
            </a:r>
            <a:endParaRPr lang="en-US" sz="2600" dirty="0"/>
          </a:p>
        </p:txBody>
      </p:sp>
      <p:sp>
        <p:nvSpPr>
          <p:cNvPr id="23" name="Text 18"/>
          <p:cNvSpPr txBox="1"/>
          <p:nvPr/>
        </p:nvSpPr>
        <p:spPr>
          <a:xfrm>
            <a:off x="6300216" y="4023360"/>
            <a:ext cx="2194560" cy="320040"/>
          </a:xfrm>
          <a:prstGeom prst="rect">
            <a:avLst/>
          </a:prstGeom>
          <a:noFill/>
          <a:ln/>
        </p:spPr>
        <p:txBody>
          <a:bodyPr wrap="square" lIns="0" tIns="0" rIns="0" bIns="0" rtlCol="0" anchor="t"/>
          <a:lstStyle/>
          <a:p>
            <a:pPr indent="0" marL="0">
              <a:buNone/>
            </a:pPr>
            <a:r>
              <a:rPr lang="en-US" sz="1200" dirty="0">
                <a:solidFill>
                  <a:schemeClr val="accent5"/>
                </a:solidFill>
              </a:rPr>
              <a:t>and follows real trends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The result: a Pyrolysis Advisor</a:t>
            </a:r>
            <a:endParaRPr lang="en-US" sz="2200" dirty="0"/>
          </a:p>
        </p:txBody>
      </p:sp>
      <p:sp>
        <p:nvSpPr>
          <p:cNvPr id="3" name="adv0"/>
          <p:cNvSpPr/>
          <p:nvPr/>
        </p:nvSpPr>
        <p:spPr>
          <a:xfrm>
            <a:off x="457200" y="1188720"/>
            <a:ext cx="2514600" cy="2011680"/>
          </a:xfrm>
          <a:prstGeom prst="roundRect">
            <a:avLst>
              <a:gd name="adj" fmla="val 3636"/>
            </a:avLst>
          </a:prstGeom>
          <a:solidFill>
            <a:srgbClr val="F2F5F3"/>
          </a:solidFill>
          <a:ln w="12700">
            <a:solidFill>
              <a:srgbClr val="F2F5F3"/>
            </a:solidFill>
            <a:prstDash val="solid"/>
          </a:ln>
        </p:spPr>
      </p:sp>
      <p:sp>
        <p:nvSpPr>
          <p:cNvPr id="4" name="Shape 2"/>
          <p:cNvSpPr/>
          <p:nvPr/>
        </p:nvSpPr>
        <p:spPr>
          <a:xfrm>
            <a:off x="640080" y="1353312"/>
            <a:ext cx="594360" cy="594360"/>
          </a:xfrm>
          <a:prstGeom prst="ellipse">
            <a:avLst/>
          </a:prstGeom>
          <a:solidFill>
            <a:srgbClr val="23312D"/>
          </a:solidFill>
          <a:ln w="12700">
            <a:solidFill>
              <a:srgbClr val="23312D"/>
            </a:solidFill>
            <a:prstDash val="solid"/>
          </a:ln>
        </p:spPr>
      </p:sp>
      <p:pic>
        <p:nvPicPr>
          <p:cNvPr id="5" name="Image 0" descr="preencoded.png">    </p:cNvPr>
          <p:cNvPicPr>
            <a:picLocks noChangeAspect="1"/>
          </p:cNvPicPr>
          <p:nvPr/>
        </p:nvPicPr>
        <p:blipFill>
          <a:blip r:embed="rId1"/>
          <a:stretch>
            <a:fillRect/>
          </a:stretch>
        </p:blipFill>
        <p:spPr>
          <a:xfrm>
            <a:off x="770839" y="1484071"/>
            <a:ext cx="332842" cy="332842"/>
          </a:xfrm>
          <a:prstGeom prst="rect">
            <a:avLst/>
          </a:prstGeom>
        </p:spPr>
      </p:pic>
      <p:sp>
        <p:nvSpPr>
          <p:cNvPr id="6" name="Text 3"/>
          <p:cNvSpPr txBox="1"/>
          <p:nvPr/>
        </p:nvSpPr>
        <p:spPr>
          <a:xfrm>
            <a:off x="1371600" y="1508760"/>
            <a:ext cx="1508760" cy="365760"/>
          </a:xfrm>
          <a:prstGeom prst="rect">
            <a:avLst/>
          </a:prstGeom>
          <a:noFill/>
          <a:ln/>
        </p:spPr>
        <p:txBody>
          <a:bodyPr wrap="square" lIns="0" tIns="0" rIns="0" bIns="0" rtlCol="0" anchor="t"/>
          <a:lstStyle/>
          <a:p>
            <a:pPr indent="0" marL="0">
              <a:buNone/>
            </a:pPr>
            <a:r>
              <a:rPr lang="en-US" sz="1700" b="1" dirty="0">
                <a:solidFill>
                  <a:schemeClr val="tx2"/>
                </a:solidFill>
              </a:rPr>
              <a:t>You enter</a:t>
            </a:r>
            <a:endParaRPr lang="en-US" sz="1700" dirty="0"/>
          </a:p>
        </p:txBody>
      </p:sp>
      <p:sp>
        <p:nvSpPr>
          <p:cNvPr id="7" name="Text 4"/>
          <p:cNvSpPr txBox="1"/>
          <p:nvPr/>
        </p:nvSpPr>
        <p:spPr>
          <a:xfrm>
            <a:off x="640080" y="2148840"/>
            <a:ext cx="2194560" cy="91440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Biomass type and particle size</a:t>
            </a:r>
            <a:endParaRPr lang="en-US" sz="1600" dirty="0"/>
          </a:p>
        </p:txBody>
      </p:sp>
      <p:pic>
        <p:nvPicPr>
          <p:cNvPr id="8" name="Image 1" descr="preencoded.png">    </p:cNvPr>
          <p:cNvPicPr>
            <a:picLocks noChangeAspect="1"/>
          </p:cNvPicPr>
          <p:nvPr/>
        </p:nvPicPr>
        <p:blipFill>
          <a:blip r:embed="rId2"/>
          <a:stretch>
            <a:fillRect/>
          </a:stretch>
        </p:blipFill>
        <p:spPr>
          <a:xfrm>
            <a:off x="3017520" y="2103120"/>
            <a:ext cx="201168" cy="201168"/>
          </a:xfrm>
          <a:prstGeom prst="rect">
            <a:avLst/>
          </a:prstGeom>
        </p:spPr>
      </p:pic>
      <p:sp>
        <p:nvSpPr>
          <p:cNvPr id="9" name="adv1"/>
          <p:cNvSpPr/>
          <p:nvPr/>
        </p:nvSpPr>
        <p:spPr>
          <a:xfrm>
            <a:off x="3264408" y="1188720"/>
            <a:ext cx="2514600" cy="2011680"/>
          </a:xfrm>
          <a:prstGeom prst="roundRect">
            <a:avLst>
              <a:gd name="adj" fmla="val 3636"/>
            </a:avLst>
          </a:prstGeom>
          <a:solidFill>
            <a:srgbClr val="F2F5F3"/>
          </a:solidFill>
          <a:ln w="12700">
            <a:solidFill>
              <a:srgbClr val="F2F5F3"/>
            </a:solidFill>
            <a:prstDash val="solid"/>
          </a:ln>
        </p:spPr>
      </p:sp>
      <p:sp>
        <p:nvSpPr>
          <p:cNvPr id="10" name="Shape 6"/>
          <p:cNvSpPr/>
          <p:nvPr/>
        </p:nvSpPr>
        <p:spPr>
          <a:xfrm>
            <a:off x="3447288" y="1353312"/>
            <a:ext cx="594360" cy="594360"/>
          </a:xfrm>
          <a:prstGeom prst="ellipse">
            <a:avLst/>
          </a:prstGeom>
          <a:solidFill>
            <a:srgbClr val="23312D"/>
          </a:solidFill>
          <a:ln w="12700">
            <a:solidFill>
              <a:srgbClr val="23312D"/>
            </a:solidFill>
            <a:prstDash val="solid"/>
          </a:ln>
        </p:spPr>
      </p:sp>
      <p:pic>
        <p:nvPicPr>
          <p:cNvPr id="11" name="Image 2" descr="preencoded.png">    </p:cNvPr>
          <p:cNvPicPr>
            <a:picLocks noChangeAspect="1"/>
          </p:cNvPicPr>
          <p:nvPr/>
        </p:nvPicPr>
        <p:blipFill>
          <a:blip r:embed="rId3"/>
          <a:stretch>
            <a:fillRect/>
          </a:stretch>
        </p:blipFill>
        <p:spPr>
          <a:xfrm>
            <a:off x="3578047" y="1484071"/>
            <a:ext cx="332842" cy="332842"/>
          </a:xfrm>
          <a:prstGeom prst="rect">
            <a:avLst/>
          </a:prstGeom>
        </p:spPr>
      </p:pic>
      <p:sp>
        <p:nvSpPr>
          <p:cNvPr id="12" name="Text 7"/>
          <p:cNvSpPr txBox="1"/>
          <p:nvPr/>
        </p:nvSpPr>
        <p:spPr>
          <a:xfrm>
            <a:off x="4178808" y="1508760"/>
            <a:ext cx="1508760" cy="365760"/>
          </a:xfrm>
          <a:prstGeom prst="rect">
            <a:avLst/>
          </a:prstGeom>
          <a:noFill/>
          <a:ln/>
        </p:spPr>
        <p:txBody>
          <a:bodyPr wrap="square" lIns="0" tIns="0" rIns="0" bIns="0" rtlCol="0" anchor="t"/>
          <a:lstStyle/>
          <a:p>
            <a:pPr indent="0" marL="0">
              <a:buNone/>
            </a:pPr>
            <a:r>
              <a:rPr lang="en-US" sz="1700" b="1" dirty="0">
                <a:solidFill>
                  <a:schemeClr val="tx2"/>
                </a:solidFill>
              </a:rPr>
              <a:t>It tries</a:t>
            </a:r>
            <a:endParaRPr lang="en-US" sz="1700" dirty="0"/>
          </a:p>
        </p:txBody>
      </p:sp>
      <p:sp>
        <p:nvSpPr>
          <p:cNvPr id="13" name="Text 8"/>
          <p:cNvSpPr txBox="1"/>
          <p:nvPr/>
        </p:nvSpPr>
        <p:spPr>
          <a:xfrm>
            <a:off x="3447288" y="2148840"/>
            <a:ext cx="2194560" cy="91440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156 reactor settings</a:t>
            </a:r>
            <a:endParaRPr lang="en-US" sz="1600" dirty="0"/>
          </a:p>
        </p:txBody>
      </p:sp>
      <p:pic>
        <p:nvPicPr>
          <p:cNvPr id="14" name="Image 3" descr="preencoded.png">    </p:cNvPr>
          <p:cNvPicPr>
            <a:picLocks noChangeAspect="1"/>
          </p:cNvPicPr>
          <p:nvPr/>
        </p:nvPicPr>
        <p:blipFill>
          <a:blip r:embed="rId4"/>
          <a:stretch>
            <a:fillRect/>
          </a:stretch>
        </p:blipFill>
        <p:spPr>
          <a:xfrm>
            <a:off x="5824728" y="2103120"/>
            <a:ext cx="201168" cy="201168"/>
          </a:xfrm>
          <a:prstGeom prst="rect">
            <a:avLst/>
          </a:prstGeom>
        </p:spPr>
      </p:pic>
      <p:sp>
        <p:nvSpPr>
          <p:cNvPr id="15" name="adv2"/>
          <p:cNvSpPr/>
          <p:nvPr/>
        </p:nvSpPr>
        <p:spPr>
          <a:xfrm>
            <a:off x="6071616" y="1188720"/>
            <a:ext cx="2514600" cy="2011680"/>
          </a:xfrm>
          <a:prstGeom prst="roundRect">
            <a:avLst>
              <a:gd name="adj" fmla="val 3636"/>
            </a:avLst>
          </a:prstGeom>
          <a:solidFill>
            <a:srgbClr val="FBEFE2"/>
          </a:solidFill>
          <a:ln w="12700">
            <a:solidFill>
              <a:srgbClr val="FBEFE2"/>
            </a:solidFill>
            <a:prstDash val="solid"/>
          </a:ln>
        </p:spPr>
      </p:sp>
      <p:sp>
        <p:nvSpPr>
          <p:cNvPr id="16" name="Shape 10"/>
          <p:cNvSpPr/>
          <p:nvPr/>
        </p:nvSpPr>
        <p:spPr>
          <a:xfrm>
            <a:off x="6254496" y="1353312"/>
            <a:ext cx="594360" cy="594360"/>
          </a:xfrm>
          <a:prstGeom prst="ellipse">
            <a:avLst/>
          </a:prstGeom>
          <a:solidFill>
            <a:srgbClr val="C8761E"/>
          </a:solidFill>
          <a:ln w="12700">
            <a:solidFill>
              <a:srgbClr val="C8761E"/>
            </a:solidFill>
            <a:prstDash val="solid"/>
          </a:ln>
        </p:spPr>
      </p:sp>
      <p:pic>
        <p:nvPicPr>
          <p:cNvPr id="17" name="Image 4" descr="preencoded.png">    </p:cNvPr>
          <p:cNvPicPr>
            <a:picLocks noChangeAspect="1"/>
          </p:cNvPicPr>
          <p:nvPr/>
        </p:nvPicPr>
        <p:blipFill>
          <a:blip r:embed="rId5"/>
          <a:stretch>
            <a:fillRect/>
          </a:stretch>
        </p:blipFill>
        <p:spPr>
          <a:xfrm>
            <a:off x="6385255" y="1484071"/>
            <a:ext cx="332842" cy="332842"/>
          </a:xfrm>
          <a:prstGeom prst="rect">
            <a:avLst/>
          </a:prstGeom>
        </p:spPr>
      </p:pic>
      <p:sp>
        <p:nvSpPr>
          <p:cNvPr id="18" name="Text 11"/>
          <p:cNvSpPr txBox="1"/>
          <p:nvPr/>
        </p:nvSpPr>
        <p:spPr>
          <a:xfrm>
            <a:off x="6986016" y="1508760"/>
            <a:ext cx="1508760" cy="365760"/>
          </a:xfrm>
          <a:prstGeom prst="rect">
            <a:avLst/>
          </a:prstGeom>
          <a:noFill/>
          <a:ln/>
        </p:spPr>
        <p:txBody>
          <a:bodyPr wrap="square" lIns="0" tIns="0" rIns="0" bIns="0" rtlCol="0" anchor="t"/>
          <a:lstStyle/>
          <a:p>
            <a:pPr indent="0" marL="0">
              <a:buNone/>
            </a:pPr>
            <a:r>
              <a:rPr lang="en-US" sz="1700" b="1" dirty="0">
                <a:solidFill>
                  <a:srgbClr val="C8761E"/>
                </a:solidFill>
              </a:rPr>
              <a:t>It recommends</a:t>
            </a:r>
            <a:endParaRPr lang="en-US" sz="1700" dirty="0"/>
          </a:p>
        </p:txBody>
      </p:sp>
      <p:sp>
        <p:nvSpPr>
          <p:cNvPr id="19" name="Text 12"/>
          <p:cNvSpPr txBox="1"/>
          <p:nvPr/>
        </p:nvSpPr>
        <p:spPr>
          <a:xfrm>
            <a:off x="6254496" y="2148840"/>
            <a:ext cx="2194560" cy="9144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480 °C</a:t>
            </a:r>
            <a:endParaRPr lang="en-US" sz="2200" dirty="0"/>
          </a:p>
          <a:p>
            <a:pPr indent="0" marL="0">
              <a:buNone/>
            </a:pPr>
            <a:r>
              <a:rPr lang="en-US" sz="2200" b="1" dirty="0">
                <a:solidFill>
                  <a:schemeClr val="tx2"/>
                </a:solidFill>
                <a:latin typeface="Cambria" pitchFamily="34" charset="0"/>
                <a:ea typeface="Cambria" pitchFamily="34" charset="-122"/>
                <a:cs typeface="Cambria" pitchFamily="34" charset="-120"/>
              </a:rPr>
              <a:t>at 300 °C/min</a:t>
            </a:r>
            <a:endParaRPr lang="en-US" sz="2200" dirty="0"/>
          </a:p>
        </p:txBody>
      </p:sp>
      <p:pic>
        <p:nvPicPr>
          <p:cNvPr id="20" name="Image 5" descr="preencoded.png">    </p:cNvPr>
          <p:cNvPicPr>
            <a:picLocks noChangeAspect="1"/>
          </p:cNvPicPr>
          <p:nvPr/>
        </p:nvPicPr>
        <p:blipFill>
          <a:blip r:embed="rId6"/>
          <a:stretch>
            <a:fillRect/>
          </a:stretch>
        </p:blipFill>
        <p:spPr>
          <a:xfrm>
            <a:off x="548640" y="3383280"/>
            <a:ext cx="310896" cy="310896"/>
          </a:xfrm>
          <a:prstGeom prst="rect">
            <a:avLst/>
          </a:prstGeom>
        </p:spPr>
      </p:pic>
      <p:sp>
        <p:nvSpPr>
          <p:cNvPr id="21" name="Text 13"/>
          <p:cNvSpPr txBox="1"/>
          <p:nvPr/>
        </p:nvSpPr>
        <p:spPr>
          <a:xfrm>
            <a:off x="1005840" y="3401568"/>
            <a:ext cx="7589520" cy="310896"/>
          </a:xfrm>
          <a:prstGeom prst="rect">
            <a:avLst/>
          </a:prstGeom>
          <a:noFill/>
          <a:ln/>
        </p:spPr>
        <p:txBody>
          <a:bodyPr wrap="square" lIns="0" tIns="0" rIns="0" bIns="0" rtlCol="0" anchor="t"/>
          <a:lstStyle/>
          <a:p>
            <a:pPr indent="0" marL="0">
              <a:buNone/>
            </a:pPr>
            <a:r>
              <a:rPr lang="en-US" sz="1500" dirty="0">
                <a:solidFill>
                  <a:schemeClr val="tx1"/>
                </a:solidFill>
              </a:rPr>
              <a:t>Found the right best temperature for 2 of 3 new biomasses</a:t>
            </a:r>
            <a:endParaRPr lang="en-US" sz="1500" dirty="0"/>
          </a:p>
        </p:txBody>
      </p:sp>
      <p:pic>
        <p:nvPicPr>
          <p:cNvPr id="22" name="Image 6" descr="preencoded.png">    </p:cNvPr>
          <p:cNvPicPr>
            <a:picLocks noChangeAspect="1"/>
          </p:cNvPicPr>
          <p:nvPr/>
        </p:nvPicPr>
        <p:blipFill>
          <a:blip r:embed="rId7"/>
          <a:stretch>
            <a:fillRect/>
          </a:stretch>
        </p:blipFill>
        <p:spPr>
          <a:xfrm>
            <a:off x="548640" y="3813048"/>
            <a:ext cx="310896" cy="310896"/>
          </a:xfrm>
          <a:prstGeom prst="rect">
            <a:avLst/>
          </a:prstGeom>
        </p:spPr>
      </p:pic>
      <p:sp>
        <p:nvSpPr>
          <p:cNvPr id="23" name="Text 14"/>
          <p:cNvSpPr txBox="1"/>
          <p:nvPr/>
        </p:nvSpPr>
        <p:spPr>
          <a:xfrm>
            <a:off x="1005840" y="3831336"/>
            <a:ext cx="7589520" cy="310896"/>
          </a:xfrm>
          <a:prstGeom prst="rect">
            <a:avLst/>
          </a:prstGeom>
          <a:noFill/>
          <a:ln/>
        </p:spPr>
        <p:txBody>
          <a:bodyPr wrap="square" lIns="0" tIns="0" rIns="0" bIns="0" rtlCol="0" anchor="t"/>
          <a:lstStyle/>
          <a:p>
            <a:pPr indent="0" marL="0">
              <a:buNone/>
            </a:pPr>
            <a:r>
              <a:rPr lang="en-US" sz="1500" dirty="0">
                <a:solidFill>
                  <a:schemeClr val="tx1"/>
                </a:solidFill>
              </a:rPr>
              <a:t>1 to 2 real experiments cut the error from 8.3% to 4.2%</a:t>
            </a:r>
            <a:endParaRPr lang="en-US" sz="1500" dirty="0"/>
          </a:p>
        </p:txBody>
      </p:sp>
      <p:pic>
        <p:nvPicPr>
          <p:cNvPr id="24" name="Image 7" descr="preencoded.png">    </p:cNvPr>
          <p:cNvPicPr>
            <a:picLocks noChangeAspect="1"/>
          </p:cNvPicPr>
          <p:nvPr/>
        </p:nvPicPr>
        <p:blipFill>
          <a:blip r:embed="rId8"/>
          <a:stretch>
            <a:fillRect/>
          </a:stretch>
        </p:blipFill>
        <p:spPr>
          <a:xfrm>
            <a:off x="548640" y="4242816"/>
            <a:ext cx="310896" cy="310896"/>
          </a:xfrm>
          <a:prstGeom prst="rect">
            <a:avLst/>
          </a:prstGeom>
        </p:spPr>
      </p:pic>
      <p:sp>
        <p:nvSpPr>
          <p:cNvPr id="25" name="Text 15"/>
          <p:cNvSpPr txBox="1"/>
          <p:nvPr/>
        </p:nvSpPr>
        <p:spPr>
          <a:xfrm>
            <a:off x="1005840" y="4261104"/>
            <a:ext cx="7589520" cy="310896"/>
          </a:xfrm>
          <a:prstGeom prst="rect">
            <a:avLst/>
          </a:prstGeom>
          <a:noFill/>
          <a:ln/>
        </p:spPr>
        <p:txBody>
          <a:bodyPr wrap="square" lIns="0" tIns="0" rIns="0" bIns="0" rtlCol="0" anchor="t"/>
          <a:lstStyle/>
          <a:p>
            <a:pPr indent="0" marL="0">
              <a:buNone/>
            </a:pPr>
            <a:r>
              <a:rPr lang="en-US" sz="1500" dirty="0">
                <a:solidFill>
                  <a:schemeClr val="tx1"/>
                </a:solidFill>
              </a:rPr>
              <a:t>Warns when a biomass is too unfamiliar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200" b="1" dirty="0">
                <a:solidFill>
                  <a:schemeClr val="bg1"/>
                </a:solidFill>
                <a:latin typeface="Cambria" pitchFamily="34" charset="0"/>
                <a:ea typeface="Cambria" pitchFamily="34" charset="-122"/>
                <a:cs typeface="Cambria" pitchFamily="34" charset="-120"/>
              </a:rPr>
              <a:t>Conclusion</a:t>
            </a:r>
            <a:endParaRPr lang="en-US" sz="2200" dirty="0"/>
          </a:p>
        </p:txBody>
      </p:sp>
      <p:sp>
        <p:nvSpPr>
          <p:cNvPr id="3" name="Shape 1"/>
          <p:cNvSpPr/>
          <p:nvPr/>
        </p:nvSpPr>
        <p:spPr>
          <a:xfrm>
            <a:off x="457200" y="1051560"/>
            <a:ext cx="530352" cy="530352"/>
          </a:xfrm>
          <a:prstGeom prst="ellipse">
            <a:avLst/>
          </a:prstGeom>
          <a:solidFill>
            <a:srgbClr val="C8761E"/>
          </a:solidFill>
          <a:ln w="12700">
            <a:solidFill>
              <a:srgbClr val="C8761E"/>
            </a:solidFill>
            <a:prstDash val="solid"/>
          </a:ln>
        </p:spPr>
      </p:sp>
      <p:pic>
        <p:nvPicPr>
          <p:cNvPr id="4" name="Image 0" descr="preencoded.png">    </p:cNvPr>
          <p:cNvPicPr>
            <a:picLocks noChangeAspect="1"/>
          </p:cNvPicPr>
          <p:nvPr/>
        </p:nvPicPr>
        <p:blipFill>
          <a:blip r:embed="rId1"/>
          <a:stretch>
            <a:fillRect/>
          </a:stretch>
        </p:blipFill>
        <p:spPr>
          <a:xfrm>
            <a:off x="573877" y="1168237"/>
            <a:ext cx="296997" cy="296997"/>
          </a:xfrm>
          <a:prstGeom prst="rect">
            <a:avLst/>
          </a:prstGeom>
        </p:spPr>
      </p:pic>
      <p:sp>
        <p:nvSpPr>
          <p:cNvPr id="5" name="Text 2"/>
          <p:cNvSpPr txBox="1"/>
          <p:nvPr/>
        </p:nvSpPr>
        <p:spPr>
          <a:xfrm>
            <a:off x="1188720" y="1161288"/>
            <a:ext cx="7406640" cy="365760"/>
          </a:xfrm>
          <a:prstGeom prst="rect">
            <a:avLst/>
          </a:prstGeom>
          <a:noFill/>
          <a:ln/>
        </p:spPr>
        <p:txBody>
          <a:bodyPr wrap="square" lIns="0" tIns="0" rIns="0" bIns="0" rtlCol="0" anchor="t"/>
          <a:lstStyle/>
          <a:p>
            <a:pPr indent="0" marL="0">
              <a:buNone/>
            </a:pPr>
            <a:r>
              <a:rPr lang="en-US" sz="1700" dirty="0">
                <a:solidFill>
                  <a:srgbClr val="FFFFFF"/>
                </a:solidFill>
              </a:rPr>
              <a:t>Honest testing shows many ML scores are overstated</a:t>
            </a:r>
            <a:endParaRPr lang="en-US" sz="1700" dirty="0"/>
          </a:p>
        </p:txBody>
      </p:sp>
      <p:sp>
        <p:nvSpPr>
          <p:cNvPr id="6" name="Shape 3"/>
          <p:cNvSpPr/>
          <p:nvPr/>
        </p:nvSpPr>
        <p:spPr>
          <a:xfrm>
            <a:off x="457200" y="1764792"/>
            <a:ext cx="530352" cy="530352"/>
          </a:xfrm>
          <a:prstGeom prst="ellipse">
            <a:avLst/>
          </a:prstGeom>
          <a:solidFill>
            <a:srgbClr val="C8761E"/>
          </a:solidFill>
          <a:ln w="12700">
            <a:solidFill>
              <a:srgbClr val="C8761E"/>
            </a:solidFill>
            <a:prstDash val="solid"/>
          </a:ln>
        </p:spPr>
      </p:sp>
      <p:pic>
        <p:nvPicPr>
          <p:cNvPr id="7" name="Image 1" descr="preencoded.png">    </p:cNvPr>
          <p:cNvPicPr>
            <a:picLocks noChangeAspect="1"/>
          </p:cNvPicPr>
          <p:nvPr/>
        </p:nvPicPr>
        <p:blipFill>
          <a:blip r:embed="rId2"/>
          <a:stretch>
            <a:fillRect/>
          </a:stretch>
        </p:blipFill>
        <p:spPr>
          <a:xfrm>
            <a:off x="573877" y="1881469"/>
            <a:ext cx="296997" cy="296997"/>
          </a:xfrm>
          <a:prstGeom prst="rect">
            <a:avLst/>
          </a:prstGeom>
        </p:spPr>
      </p:pic>
      <p:sp>
        <p:nvSpPr>
          <p:cNvPr id="8" name="Text 4"/>
          <p:cNvSpPr txBox="1"/>
          <p:nvPr/>
        </p:nvSpPr>
        <p:spPr>
          <a:xfrm>
            <a:off x="1188720" y="1874520"/>
            <a:ext cx="7406640" cy="365760"/>
          </a:xfrm>
          <a:prstGeom prst="rect">
            <a:avLst/>
          </a:prstGeom>
          <a:noFill/>
          <a:ln/>
        </p:spPr>
        <p:txBody>
          <a:bodyPr wrap="square" lIns="0" tIns="0" rIns="0" bIns="0" rtlCol="0" anchor="t"/>
          <a:lstStyle/>
          <a:p>
            <a:pPr indent="0" marL="0">
              <a:buNone/>
            </a:pPr>
            <a:r>
              <a:rPr lang="en-US" sz="1700" dirty="0">
                <a:solidFill>
                  <a:srgbClr val="FFFFFF"/>
                </a:solidFill>
              </a:rPr>
              <a:t>Physics makes the models better and sensible</a:t>
            </a:r>
            <a:endParaRPr lang="en-US" sz="1700" dirty="0"/>
          </a:p>
        </p:txBody>
      </p:sp>
      <p:sp>
        <p:nvSpPr>
          <p:cNvPr id="9" name="Shape 5"/>
          <p:cNvSpPr/>
          <p:nvPr/>
        </p:nvSpPr>
        <p:spPr>
          <a:xfrm>
            <a:off x="457200" y="2478024"/>
            <a:ext cx="530352" cy="530352"/>
          </a:xfrm>
          <a:prstGeom prst="ellipse">
            <a:avLst/>
          </a:prstGeom>
          <a:solidFill>
            <a:srgbClr val="C8761E"/>
          </a:solidFill>
          <a:ln w="12700">
            <a:solidFill>
              <a:srgbClr val="C8761E"/>
            </a:solidFill>
            <a:prstDash val="solid"/>
          </a:ln>
        </p:spPr>
      </p:sp>
      <p:pic>
        <p:nvPicPr>
          <p:cNvPr id="10" name="Image 2" descr="preencoded.png">    </p:cNvPr>
          <p:cNvPicPr>
            <a:picLocks noChangeAspect="1"/>
          </p:cNvPicPr>
          <p:nvPr/>
        </p:nvPicPr>
        <p:blipFill>
          <a:blip r:embed="rId3"/>
          <a:stretch>
            <a:fillRect/>
          </a:stretch>
        </p:blipFill>
        <p:spPr>
          <a:xfrm>
            <a:off x="573877" y="2594701"/>
            <a:ext cx="296997" cy="296997"/>
          </a:xfrm>
          <a:prstGeom prst="rect">
            <a:avLst/>
          </a:prstGeom>
        </p:spPr>
      </p:pic>
      <p:sp>
        <p:nvSpPr>
          <p:cNvPr id="11" name="Text 6"/>
          <p:cNvSpPr txBox="1"/>
          <p:nvPr/>
        </p:nvSpPr>
        <p:spPr>
          <a:xfrm>
            <a:off x="1188720" y="2587752"/>
            <a:ext cx="7406640" cy="365760"/>
          </a:xfrm>
          <a:prstGeom prst="rect">
            <a:avLst/>
          </a:prstGeom>
          <a:noFill/>
          <a:ln/>
        </p:spPr>
        <p:txBody>
          <a:bodyPr wrap="square" lIns="0" tIns="0" rIns="0" bIns="0" rtlCol="0" anchor="t"/>
          <a:lstStyle/>
          <a:p>
            <a:pPr indent="0" marL="0">
              <a:buNone/>
            </a:pPr>
            <a:r>
              <a:rPr lang="en-US" sz="1700" dirty="0">
                <a:solidFill>
                  <a:srgbClr val="FFFFFF"/>
                </a:solidFill>
              </a:rPr>
              <a:t>The advisor suggests settings for more oil, less oxygen</a:t>
            </a:r>
            <a:endParaRPr lang="en-US" sz="1700" dirty="0"/>
          </a:p>
        </p:txBody>
      </p:sp>
      <p:sp>
        <p:nvSpPr>
          <p:cNvPr id="12" name="Shape 7"/>
          <p:cNvSpPr/>
          <p:nvPr/>
        </p:nvSpPr>
        <p:spPr>
          <a:xfrm>
            <a:off x="457200" y="3191256"/>
            <a:ext cx="530352" cy="530352"/>
          </a:xfrm>
          <a:prstGeom prst="ellipse">
            <a:avLst/>
          </a:prstGeom>
          <a:solidFill>
            <a:srgbClr val="C8761E"/>
          </a:solidFill>
          <a:ln w="12700">
            <a:solidFill>
              <a:srgbClr val="C8761E"/>
            </a:solidFill>
            <a:prstDash val="solid"/>
          </a:ln>
        </p:spPr>
      </p:sp>
      <p:pic>
        <p:nvPicPr>
          <p:cNvPr id="13" name="Image 3" descr="preencoded.png">    </p:cNvPr>
          <p:cNvPicPr>
            <a:picLocks noChangeAspect="1"/>
          </p:cNvPicPr>
          <p:nvPr/>
        </p:nvPicPr>
        <p:blipFill>
          <a:blip r:embed="rId4"/>
          <a:stretch>
            <a:fillRect/>
          </a:stretch>
        </p:blipFill>
        <p:spPr>
          <a:xfrm>
            <a:off x="573877" y="3307933"/>
            <a:ext cx="296997" cy="296997"/>
          </a:xfrm>
          <a:prstGeom prst="rect">
            <a:avLst/>
          </a:prstGeom>
        </p:spPr>
      </p:pic>
      <p:sp>
        <p:nvSpPr>
          <p:cNvPr id="14" name="Text 8"/>
          <p:cNvSpPr txBox="1"/>
          <p:nvPr/>
        </p:nvSpPr>
        <p:spPr>
          <a:xfrm>
            <a:off x="1188720" y="3300984"/>
            <a:ext cx="7406640" cy="365760"/>
          </a:xfrm>
          <a:prstGeom prst="rect">
            <a:avLst/>
          </a:prstGeom>
          <a:noFill/>
          <a:ln/>
        </p:spPr>
        <p:txBody>
          <a:bodyPr wrap="square" lIns="0" tIns="0" rIns="0" bIns="0" rtlCol="0" anchor="t"/>
          <a:lstStyle/>
          <a:p>
            <a:pPr indent="0" marL="0">
              <a:buNone/>
            </a:pPr>
            <a:r>
              <a:rPr lang="en-US" sz="1700" dirty="0">
                <a:solidFill>
                  <a:srgbClr val="FFFFFF"/>
                </a:solidFill>
              </a:rPr>
              <a:t>Less oxygen means easier separation (Dr. Mohan’s work)</a:t>
            </a:r>
            <a:endParaRPr lang="en-US" sz="1700" dirty="0"/>
          </a:p>
        </p:txBody>
      </p:sp>
      <p:sp>
        <p:nvSpPr>
          <p:cNvPr id="15" name="Text 9"/>
          <p:cNvSpPr txBox="1"/>
          <p:nvPr/>
        </p:nvSpPr>
        <p:spPr>
          <a:xfrm>
            <a:off x="457200" y="4069080"/>
            <a:ext cx="7315200" cy="502920"/>
          </a:xfrm>
          <a:prstGeom prst="rect">
            <a:avLst/>
          </a:prstGeom>
          <a:noFill/>
          <a:ln/>
        </p:spPr>
        <p:txBody>
          <a:bodyPr wrap="square" lIns="0" tIns="0" rIns="0" bIns="0" rtlCol="0" anchor="t"/>
          <a:lstStyle/>
          <a:p>
            <a:pPr indent="0" marL="0">
              <a:buNone/>
            </a:pPr>
            <a:r>
              <a:rPr lang="en-US" sz="2400" b="1" dirty="0">
                <a:solidFill>
                  <a:srgbClr val="E9B872"/>
                </a:solidFill>
                <a:latin typeface="Cambria" pitchFamily="34" charset="0"/>
                <a:ea typeface="Cambria" pitchFamily="34" charset="-122"/>
                <a:cs typeface="Cambria" pitchFamily="34" charset="-120"/>
              </a:rPr>
              <a:t>Thank you  |  Questions?</a:t>
            </a:r>
            <a:endParaRPr lang="en-US" sz="2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BioOil Amber">
  <a:themeElements>
    <a:clrScheme name="BioOil Amber">
      <a:dk1>
        <a:srgbClr val="1B1B1B"/>
      </a:dk1>
      <a:lt1>
        <a:srgbClr val="FFFFFF"/>
      </a:lt1>
      <a:dk2>
        <a:srgbClr val="23312D"/>
      </a:dk2>
      <a:lt2>
        <a:srgbClr val="F2F5F3"/>
      </a:lt2>
      <a:accent1>
        <a:srgbClr val="C8761E"/>
      </a:accent1>
      <a:accent2>
        <a:srgbClr val="2E7D5B"/>
      </a:accent2>
      <a:accent3>
        <a:srgbClr val="3B6E8F"/>
      </a:accent3>
      <a:accent4>
        <a:srgbClr val="B23A2B"/>
      </a:accent4>
      <a:accent5>
        <a:srgbClr val="7D8C86"/>
      </a:accent5>
      <a:accent6>
        <a:srgbClr val="E9B872"/>
      </a:accent6>
      <a:hlink>
        <a:srgbClr val="3B6E8F"/>
      </a:hlink>
      <a:folHlink>
        <a:srgbClr val="6C5B7B"/>
      </a:folHlink>
    </a:clrScheme>
    <a:fontScheme name="BioOil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Physics-Aware ML for Bio-Oil Pyrolysis</dc:title>
  <dc:subject>PptxGenJS Presentation</dc:subject>
  <dc:creator>Umasuthan Palaniappan</dc:creator>
  <cp:lastModifiedBy>Umasuthan Palaniappan</cp:lastModifiedBy>
  <cp:revision>1</cp:revision>
  <dcterms:created xsi:type="dcterms:W3CDTF">2026-10-10T05:49:45Z</dcterms:created>
  <dcterms:modified xsi:type="dcterms:W3CDTF">2026-10-10T05:49:45Z</dcterms:modified>
</cp:coreProperties>
</file>