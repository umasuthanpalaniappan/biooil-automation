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One-line framing: we built physics-aware machine-learning models that predict bio-oil yield and oxygen content (O/C) from biomass composition and pyrolysis conditions, and turned them into a tool that recommends operating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outcomes. Everything after this slide is evidence for one of them. Datasets: Zhang 2022 for O/C ratio, Pascarella 2025 compiled dataset for yield.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1 follows the standard approach in the literature, including Zhang et al. 2022: train on 80 percent of the rows, test on the held-out 20 percent. Our XGBoost model with physics-informed features reaches R² 0.90 for O/C, level with the published 0.895. Seven model types were compared; tree ensembles and GPR all exceed 0.85. Without the physics features XGBoost scored 0.886. Scores vary from split to split, so the next slide also reports averages over ten random splits.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final models used inside the Advisor, scored the literature way on random splits. Each dot is a sample predicted while it was held out. O/C averages R² 0.61 on a log scale, with a typical error of 18 percent; yield averages 0.61 with a mean error of 4.2 wt%. The table shows the single-algorithm yield models on the same splits, up to 0.69 for Random Forest. The final models trade a little raw accuracy for physics constraints and better behaviour on new biomass.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physics features improved O/C prediction for every model in both tests: GPR goes from 0.43 to 0.63 on the standard test, and from below zero to 0.23 on unseen biomass. The features encode known reaction chemistry rather than raw numbers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Sanity check against chemistry. Average predicted yield peaks at 525 °C, matching the known optimum. Above about 600 °C the yield falls, consistent with secondary cracking of vapours — the model learned this two-step behaviour from data. O/C decreases monotonically with temperature, guaranteed by a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an extra robustness check we also tested the harder case: every sample of a biomass goes to either train or test, never both. This mimics a user bringing a completely new feedstock. Scores drop, as expected, because yield varies a lot between labs and reactors in compiled data. That is why the Advisor reports an uncertainty band and lets the user calibrate with one or two real experiments, shown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completely new biomass (Test 2 setting) the 80 percent interval is about plus or minus 12.6 wt%. After one real experiment, error drops to 5.3 wt%; after two, to 4.2. That is better than just reusing the measured point. For O/C the measured value alone was slightly better, which we state openly.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biomasses were withheld entirely from training. With zero experiments, the model picked the correct optimum temperature for two of them. One calibration point cut the error under 2 wt% for biomasses 108 and 99. For biomass 11 the calibration point was an outlier, which made things worse — lesson: calibrate with at least two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Advisor searches temperature and heating rate, then shows the yield-versus-oxygen Pareto front instead of a single answer. For pine, pushing from 41.8 to 43.5 wt% yield raises O/C by about 40 percent. The applicability check correctly refuses the nitrogen-rich microalgae and the coal-like feedstock.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model. Show it live if possible: cd advisor-frontend, npm install, npm run dev. The page explains the method, then the Run the Advisor button opens the interactive demo. The demo uses the Advisor's actual pre-computed outputs for four feedstocks; it does not connect to a reactor.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demo. Step 1: pick a sample feedstock. Step 2: the Advisor shows the composition, its domain-distance check, the proposed temperature and heating rate, and the yield range across all settings. Step 3: the user decides; the result screen says clearly that this is a model estimate, not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that always answers is dangerous. The Advisor measures how far a feedstock's composition is from anything in training. Above the 0.41 limit it withholds the recommendation, explains why, and asks for calibration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1 is the standard protocol used by Zhang et al. and most published studies; on it our O/C model reaches 0.90, level with the literature, and the final Advisor models reach about 0.6 for both targets. Test 2 is our extra, stricter check on brand-new biomasses: scores are lower, which is why the Advisor reports uncertainty, supports calibration with one or two experiments, and flags feedstocks outside its training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Most important next step: consistent single-reactor data, and wiring the web app to the live models through the FastAPI backend already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to run the live demo during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0B0D0C"/>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rtlCol="0" anchor="ctr"/>
          <a:lstStyle/>
          <a:p>
            <a:pPr indent="0" marL="0">
              <a:buNone/>
            </a:pPr>
            <a:r>
              <a:rPr lang="en-US" sz="900" spc="200" kern="0" dirty="0">
                <a:solidFill>
                  <a:srgbClr val="6B716E"/>
                </a:solidFill>
                <a:latin typeface="Consolas" pitchFamily="34" charset="0"/>
                <a:ea typeface="Consolas" pitchFamily="34" charset="-122"/>
                <a:cs typeface="Consolas" pitchFamily="34" charset="-120"/>
              </a:rPr>
              <a:t>PYROLYSIS ADVISOR · TEAM 2</a:t>
            </a:r>
            <a:endParaRPr lang="en-US" sz="9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user-BioOil-Automation/5397d81f-6477-55ef-8890-ec0ebaf31f4d/scratchpad/final_report/assets/logo.png">    </p:cNvPr>
          <p:cNvPicPr>
            <a:picLocks noChangeAspect="1"/>
          </p:cNvPicPr>
          <p:nvPr/>
        </p:nvPicPr>
        <p:blipFill>
          <a:blip r:embed="rId1"/>
          <a:stretch>
            <a:fillRect/>
          </a:stretch>
        </p:blipFill>
        <p:spPr>
          <a:xfrm>
            <a:off x="548640" y="457200"/>
            <a:ext cx="566928" cy="688413"/>
          </a:xfrm>
          <a:prstGeom prst="rect">
            <a:avLst/>
          </a:prstGeom>
        </p:spPr>
      </p:pic>
      <p:sp>
        <p:nvSpPr>
          <p:cNvPr id="3" name="Text 0"/>
          <p:cNvSpPr/>
          <p:nvPr/>
        </p:nvSpPr>
        <p:spPr>
          <a:xfrm>
            <a:off x="1371600" y="548640"/>
            <a:ext cx="9144000" cy="365760"/>
          </a:xfrm>
          <a:prstGeom prst="rect">
            <a:avLst/>
          </a:prstGeom>
          <a:noFill/>
          <a:ln/>
        </p:spPr>
        <p:txBody>
          <a:bodyPr wrap="square" rtlCol="0" anchor="ctr"/>
          <a:lstStyle/>
          <a:p>
            <a:pPr indent="0" marL="0">
              <a:buNone/>
            </a:pPr>
            <a:r>
              <a:rPr lang="en-US" sz="1100" spc="200" kern="0" dirty="0">
                <a:solidFill>
                  <a:srgbClr val="9A9F9B"/>
                </a:solidFill>
                <a:latin typeface="Consolas" pitchFamily="34" charset="0"/>
                <a:ea typeface="Consolas" pitchFamily="34" charset="-122"/>
                <a:cs typeface="Consolas" pitchFamily="34" charset="-120"/>
              </a:rPr>
              <a:t>AMRITA VISHWA VIDYAPEETHAM · SCHOOL OF ARTIFICIAL INTELLIGENCE</a:t>
            </a:r>
            <a:endParaRPr lang="en-US" sz="1100" dirty="0"/>
          </a:p>
        </p:txBody>
      </p:sp>
      <p:sp>
        <p:nvSpPr>
          <p:cNvPr id="4" name="Text 1"/>
          <p:cNvSpPr/>
          <p:nvPr/>
        </p:nvSpPr>
        <p:spPr>
          <a:xfrm>
            <a:off x="548640" y="1645920"/>
            <a:ext cx="10972800" cy="365760"/>
          </a:xfrm>
          <a:prstGeom prst="rect">
            <a:avLst/>
          </a:prstGeom>
          <a:noFill/>
          <a:ln/>
        </p:spPr>
        <p:txBody>
          <a:bodyPr wrap="square" rtlCol="0" anchor="ctr"/>
          <a:lstStyle/>
          <a:p>
            <a:pPr indent="0" marL="0">
              <a:buNone/>
            </a:pPr>
            <a:r>
              <a:rPr lang="en-US" sz="1300" b="1" spc="400" kern="0" dirty="0">
                <a:solidFill>
                  <a:srgbClr val="C9F36B"/>
                </a:solidFill>
                <a:latin typeface="Consolas" pitchFamily="34" charset="0"/>
                <a:ea typeface="Consolas" pitchFamily="34" charset="-122"/>
                <a:cs typeface="Consolas" pitchFamily="34" charset="-120"/>
              </a:rPr>
              <a:t>PROJECT RESULTS</a:t>
            </a:r>
            <a:endParaRPr lang="en-US" sz="1300" dirty="0"/>
          </a:p>
        </p:txBody>
      </p:sp>
      <p:sp>
        <p:nvSpPr>
          <p:cNvPr id="5" name="Text 2"/>
          <p:cNvSpPr/>
          <p:nvPr/>
        </p:nvSpPr>
        <p:spPr>
          <a:xfrm>
            <a:off x="548640" y="2011680"/>
            <a:ext cx="10972800" cy="914400"/>
          </a:xfrm>
          <a:prstGeom prst="rect">
            <a:avLst/>
          </a:prstGeom>
          <a:noFill/>
          <a:ln/>
        </p:spPr>
        <p:txBody>
          <a:bodyPr wrap="square" rtlCol="0" anchor="ctr"/>
          <a:lstStyle/>
          <a:p>
            <a:pPr indent="0" marL="0">
              <a:buNone/>
            </a:pPr>
            <a:r>
              <a:rPr lang="en-US" sz="4400" b="1" dirty="0">
                <a:solidFill>
                  <a:srgbClr val="F1F2ED"/>
                </a:solidFill>
                <a:latin typeface="Arial" pitchFamily="34" charset="0"/>
                <a:ea typeface="Arial" pitchFamily="34" charset="-122"/>
                <a:cs typeface="Arial" pitchFamily="34" charset="-120"/>
              </a:rPr>
              <a:t>Physics-Aware ML for Bio-Oil Pyrolysis</a:t>
            </a:r>
            <a:endParaRPr lang="en-US" sz="4400" dirty="0"/>
          </a:p>
        </p:txBody>
      </p:sp>
      <p:sp>
        <p:nvSpPr>
          <p:cNvPr id="6" name="Text 3"/>
          <p:cNvSpPr/>
          <p:nvPr/>
        </p:nvSpPr>
        <p:spPr>
          <a:xfrm>
            <a:off x="548640" y="2926080"/>
            <a:ext cx="10058400" cy="548640"/>
          </a:xfrm>
          <a:prstGeom prst="rect">
            <a:avLst/>
          </a:prstGeom>
          <a:noFill/>
          <a:ln/>
        </p:spPr>
        <p:txBody>
          <a:bodyPr wrap="square" rtlCol="0" anchor="ctr"/>
          <a:lstStyle/>
          <a:p>
            <a:pPr indent="0" marL="0">
              <a:buNone/>
            </a:pPr>
            <a:r>
              <a:rPr lang="en-US" sz="2000" dirty="0">
                <a:solidFill>
                  <a:srgbClr val="9A9F9B"/>
                </a:solidFill>
                <a:latin typeface="Arial" pitchFamily="34" charset="0"/>
                <a:ea typeface="Arial" pitchFamily="34" charset="-122"/>
                <a:cs typeface="Arial" pitchFamily="34" charset="-120"/>
              </a:rPr>
              <a:t>Accurate, physics-consistent prediction models and a working Pyrolysis Advisor for higher yield and lower oxygen</a:t>
            </a:r>
            <a:endParaRPr lang="en-US" sz="2000" dirty="0"/>
          </a:p>
        </p:txBody>
      </p:sp>
      <p:sp>
        <p:nvSpPr>
          <p:cNvPr id="7" name="Shape 4"/>
          <p:cNvSpPr/>
          <p:nvPr/>
        </p:nvSpPr>
        <p:spPr>
          <a:xfrm>
            <a:off x="548640" y="3931920"/>
            <a:ext cx="11064240" cy="0"/>
          </a:xfrm>
          <a:prstGeom prst="line">
            <a:avLst/>
          </a:prstGeom>
          <a:noFill/>
          <a:ln w="12700">
            <a:solidFill>
              <a:srgbClr val="2A3031"/>
            </a:solidFill>
            <a:prstDash val="solid"/>
          </a:ln>
        </p:spPr>
      </p:sp>
      <p:sp>
        <p:nvSpPr>
          <p:cNvPr id="8" name="Text 5"/>
          <p:cNvSpPr/>
          <p:nvPr/>
        </p:nvSpPr>
        <p:spPr>
          <a:xfrm>
            <a:off x="548640" y="4160520"/>
            <a:ext cx="5486400" cy="274320"/>
          </a:xfrm>
          <a:prstGeom prst="rect">
            <a:avLst/>
          </a:prstGeom>
          <a:noFill/>
          <a:ln/>
        </p:spPr>
        <p:txBody>
          <a:bodyPr wrap="square" rtlCol="0" anchor="ctr"/>
          <a:lstStyle/>
          <a:p>
            <a:pPr indent="0" marL="0">
              <a:buNone/>
            </a:pPr>
            <a:r>
              <a:rPr lang="en-US" sz="1100" spc="200" kern="0" dirty="0">
                <a:solidFill>
                  <a:srgbClr val="6B716E"/>
                </a:solidFill>
                <a:latin typeface="Consolas" pitchFamily="34" charset="0"/>
                <a:ea typeface="Consolas" pitchFamily="34" charset="-122"/>
                <a:cs typeface="Consolas" pitchFamily="34" charset="-120"/>
              </a:rPr>
              <a:t>TEAM 2</a:t>
            </a:r>
            <a:endParaRPr lang="en-US" sz="1100" dirty="0"/>
          </a:p>
        </p:txBody>
      </p:sp>
      <p:sp>
        <p:nvSpPr>
          <p:cNvPr id="9" name="Text 6"/>
          <p:cNvSpPr/>
          <p:nvPr/>
        </p:nvSpPr>
        <p:spPr>
          <a:xfrm>
            <a:off x="548640" y="4480560"/>
            <a:ext cx="5486400" cy="1463040"/>
          </a:xfrm>
          <a:prstGeom prst="rect">
            <a:avLst/>
          </a:prstGeom>
          <a:noFill/>
          <a:ln/>
        </p:spPr>
        <p:txBody>
          <a:bodyPr wrap="square" rtlCol="0" anchor="t"/>
          <a:lstStyle/>
          <a:p>
            <a:pPr indent="0" marL="0">
              <a:spcAft>
                <a:spcPts val="400"/>
              </a:spcAft>
              <a:buNone/>
            </a:pPr>
            <a:r>
              <a:rPr lang="en-US" sz="1500" dirty="0">
                <a:solidFill>
                  <a:srgbClr val="F1F2ED"/>
                </a:solidFill>
                <a:latin typeface="Arial" pitchFamily="34" charset="0"/>
                <a:ea typeface="Arial" pitchFamily="34" charset="-122"/>
                <a:cs typeface="Arial" pitchFamily="34" charset="-120"/>
              </a:rPr>
              <a:t>Mohalraj Shivanethran (AIM25020)</a:t>
            </a:r>
            <a:endParaRPr lang="en-US" sz="1500" dirty="0"/>
          </a:p>
          <a:p>
            <a:pPr indent="0" marL="0">
              <a:spcAft>
                <a:spcPts val="400"/>
              </a:spcAft>
              <a:buNone/>
            </a:pPr>
            <a:r>
              <a:rPr lang="en-US" sz="1500" dirty="0">
                <a:solidFill>
                  <a:srgbClr val="F1F2ED"/>
                </a:solidFill>
                <a:latin typeface="Arial" pitchFamily="34" charset="0"/>
                <a:ea typeface="Arial" pitchFamily="34" charset="-122"/>
                <a:cs typeface="Arial" pitchFamily="34" charset="-120"/>
              </a:rPr>
              <a:t>Pranesh Subramanian (AIM25030)</a:t>
            </a:r>
            <a:endParaRPr lang="en-US" sz="1500" dirty="0"/>
          </a:p>
          <a:p>
            <a:pPr indent="0" marL="0">
              <a:spcAft>
                <a:spcPts val="400"/>
              </a:spcAft>
              <a:buNone/>
            </a:pPr>
            <a:r>
              <a:rPr lang="en-US" sz="1500" dirty="0">
                <a:solidFill>
                  <a:srgbClr val="F1F2ED"/>
                </a:solidFill>
                <a:latin typeface="Arial" pitchFamily="34" charset="0"/>
                <a:ea typeface="Arial" pitchFamily="34" charset="-122"/>
                <a:cs typeface="Arial" pitchFamily="34" charset="-120"/>
              </a:rPr>
              <a:t>Srinath Balakrishnan (AIM25040)</a:t>
            </a:r>
            <a:endParaRPr lang="en-US" sz="1500" dirty="0"/>
          </a:p>
          <a:p>
            <a:pPr indent="0" marL="0">
              <a:spcAft>
                <a:spcPts val="400"/>
              </a:spcAft>
              <a:buNone/>
            </a:pPr>
            <a:r>
              <a:rPr lang="en-US" sz="1500" dirty="0">
                <a:solidFill>
                  <a:srgbClr val="F1F2ED"/>
                </a:solidFill>
                <a:latin typeface="Arial" pitchFamily="34" charset="0"/>
                <a:ea typeface="Arial" pitchFamily="34" charset="-122"/>
                <a:cs typeface="Arial" pitchFamily="34" charset="-120"/>
              </a:rPr>
              <a:t>Umasuthan Palaniappan (AIM25041)</a:t>
            </a:r>
            <a:endParaRPr lang="en-US" sz="1500" dirty="0"/>
          </a:p>
        </p:txBody>
      </p:sp>
      <p:sp>
        <p:nvSpPr>
          <p:cNvPr id="10" name="Text 7"/>
          <p:cNvSpPr/>
          <p:nvPr/>
        </p:nvSpPr>
        <p:spPr>
          <a:xfrm>
            <a:off x="6583680" y="4160520"/>
            <a:ext cx="4572000" cy="274320"/>
          </a:xfrm>
          <a:prstGeom prst="rect">
            <a:avLst/>
          </a:prstGeom>
          <a:noFill/>
          <a:ln/>
        </p:spPr>
        <p:txBody>
          <a:bodyPr wrap="square" rtlCol="0" anchor="ctr"/>
          <a:lstStyle/>
          <a:p>
            <a:pPr indent="0" marL="0">
              <a:buNone/>
            </a:pPr>
            <a:r>
              <a:rPr lang="en-US" sz="1100" spc="200" kern="0" dirty="0">
                <a:solidFill>
                  <a:srgbClr val="6B716E"/>
                </a:solidFill>
                <a:latin typeface="Consolas" pitchFamily="34" charset="0"/>
                <a:ea typeface="Consolas" pitchFamily="34" charset="-122"/>
                <a:cs typeface="Consolas" pitchFamily="34" charset="-120"/>
              </a:rPr>
              <a:t>MENTOR</a:t>
            </a:r>
            <a:endParaRPr lang="en-US" sz="1100" dirty="0"/>
          </a:p>
        </p:txBody>
      </p:sp>
      <p:sp>
        <p:nvSpPr>
          <p:cNvPr id="11" name="Text 8"/>
          <p:cNvSpPr/>
          <p:nvPr/>
        </p:nvSpPr>
        <p:spPr>
          <a:xfrm>
            <a:off x="6583680" y="4480560"/>
            <a:ext cx="5029200" cy="914400"/>
          </a:xfrm>
          <a:prstGeom prst="rect">
            <a:avLst/>
          </a:prstGeom>
          <a:noFill/>
          <a:ln/>
        </p:spPr>
        <p:txBody>
          <a:bodyPr wrap="square" rtlCol="0" anchor="t"/>
          <a:lstStyle/>
          <a:p>
            <a:pPr indent="0" marL="0">
              <a:buNone/>
            </a:pPr>
            <a:r>
              <a:rPr lang="en-US" sz="1500" b="1" dirty="0">
                <a:solidFill>
                  <a:srgbClr val="F1F2ED"/>
                </a:solidFill>
                <a:latin typeface="Arial" pitchFamily="34" charset="0"/>
                <a:ea typeface="Arial" pitchFamily="34" charset="-122"/>
                <a:cs typeface="Arial" pitchFamily="34" charset="-120"/>
              </a:rPr>
              <a:t>Dr. Akhil Mohan</a:t>
            </a:r>
            <a:endParaRPr lang="en-US" sz="1500" dirty="0"/>
          </a:p>
          <a:p>
            <a:pPr indent="0" marL="0">
              <a:buNone/>
            </a:pPr>
            <a:r>
              <a:rPr lang="en-US" sz="1500" dirty="0">
                <a:solidFill>
                  <a:srgbClr val="F1F2ED"/>
                </a:solidFill>
                <a:latin typeface="Arial" pitchFamily="34" charset="0"/>
                <a:ea typeface="Arial" pitchFamily="34" charset="-122"/>
                <a:cs typeface="Arial" pitchFamily="34" charset="-120"/>
              </a:rPr>
              <a:t>Assistant Professor, School of Artificial Intelligence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100" b="1" spc="300" kern="0" dirty="0">
                <a:solidFill>
                  <a:srgbClr val="C9F36B"/>
                </a:solidFill>
                <a:latin typeface="Consolas" pitchFamily="34" charset="0"/>
                <a:ea typeface="Consolas" pitchFamily="34" charset="-122"/>
                <a:cs typeface="Consolas" pitchFamily="34" charset="-120"/>
              </a:rPr>
              <a:t>OUTCOMES AT A GLANCE</a:t>
            </a:r>
            <a:endParaRPr lang="en-US" sz="1100" dirty="0"/>
          </a:p>
        </p:txBody>
      </p:sp>
      <p:sp>
        <p:nvSpPr>
          <p:cNvPr id="3" name="Text 1"/>
          <p:cNvSpPr/>
          <p:nvPr/>
        </p:nvSpPr>
        <p:spPr>
          <a:xfrm>
            <a:off x="548640" y="777240"/>
            <a:ext cx="11064240" cy="822960"/>
          </a:xfrm>
          <a:prstGeom prst="rect">
            <a:avLst/>
          </a:prstGeom>
          <a:noFill/>
          <a:ln/>
        </p:spPr>
        <p:txBody>
          <a:bodyPr wrap="square" rtlCol="0" anchor="t"/>
          <a:lstStyle/>
          <a:p>
            <a:pPr indent="0" marL="0">
              <a:buNone/>
            </a:pPr>
            <a:r>
              <a:rPr lang="en-US" sz="3000" b="1" dirty="0">
                <a:solidFill>
                  <a:srgbClr val="F1F2ED"/>
                </a:solidFill>
                <a:latin typeface="Arial" pitchFamily="34" charset="0"/>
                <a:ea typeface="Arial" pitchFamily="34" charset="-122"/>
                <a:cs typeface="Arial" pitchFamily="34" charset="-120"/>
              </a:rPr>
              <a:t>Three things this project delivers</a:t>
            </a:r>
            <a:endParaRPr lang="en-US" sz="3000" dirty="0"/>
          </a:p>
        </p:txBody>
      </p:sp>
      <p:sp>
        <p:nvSpPr>
          <p:cNvPr id="4" name="Shape 2"/>
          <p:cNvSpPr/>
          <p:nvPr/>
        </p:nvSpPr>
        <p:spPr>
          <a:xfrm>
            <a:off x="548640" y="1920240"/>
            <a:ext cx="3520440" cy="3566160"/>
          </a:xfrm>
          <a:prstGeom prst="roundRect">
            <a:avLst>
              <a:gd name="adj" fmla="val 3117"/>
            </a:avLst>
          </a:prstGeom>
          <a:solidFill>
            <a:srgbClr val="15191A"/>
          </a:solidFill>
          <a:ln w="12700">
            <a:solidFill>
              <a:srgbClr val="2A3031"/>
            </a:solidFill>
            <a:prstDash val="solid"/>
          </a:ln>
        </p:spPr>
      </p:sp>
      <p:sp>
        <p:nvSpPr>
          <p:cNvPr id="5" name="Text 3"/>
          <p:cNvSpPr/>
          <p:nvPr/>
        </p:nvSpPr>
        <p:spPr>
          <a:xfrm>
            <a:off x="868680" y="2194560"/>
            <a:ext cx="914400" cy="365760"/>
          </a:xfrm>
          <a:prstGeom prst="rect">
            <a:avLst/>
          </a:prstGeom>
          <a:noFill/>
          <a:ln/>
        </p:spPr>
        <p:txBody>
          <a:bodyPr wrap="square" rtlCol="0" anchor="ctr"/>
          <a:lstStyle/>
          <a:p>
            <a:pPr indent="0" marL="0">
              <a:buNone/>
            </a:pPr>
            <a:r>
              <a:rPr lang="en-US" sz="1400" b="1" dirty="0">
                <a:solidFill>
                  <a:srgbClr val="C9F36B"/>
                </a:solidFill>
                <a:latin typeface="Consolas" pitchFamily="34" charset="0"/>
                <a:ea typeface="Consolas" pitchFamily="34" charset="-122"/>
                <a:cs typeface="Consolas" pitchFamily="34" charset="-120"/>
              </a:rPr>
              <a:t>01</a:t>
            </a:r>
            <a:endParaRPr lang="en-US" sz="1400" dirty="0"/>
          </a:p>
        </p:txBody>
      </p:sp>
      <p:sp>
        <p:nvSpPr>
          <p:cNvPr id="6" name="Text 4"/>
          <p:cNvSpPr/>
          <p:nvPr/>
        </p:nvSpPr>
        <p:spPr>
          <a:xfrm>
            <a:off x="868680" y="2697480"/>
            <a:ext cx="2926080" cy="822960"/>
          </a:xfrm>
          <a:prstGeom prst="rect">
            <a:avLst/>
          </a:prstGeom>
          <a:noFill/>
          <a:ln/>
        </p:spPr>
        <p:txBody>
          <a:bodyPr wrap="square" rtlCol="0" anchor="t"/>
          <a:lstStyle/>
          <a:p>
            <a:pPr indent="0" marL="0">
              <a:buNone/>
            </a:pPr>
            <a:r>
              <a:rPr lang="en-US" sz="2200" b="1" dirty="0">
                <a:solidFill>
                  <a:srgbClr val="F1F2ED"/>
                </a:solidFill>
                <a:latin typeface="Arial" pitchFamily="34" charset="0"/>
                <a:ea typeface="Arial" pitchFamily="34" charset="-122"/>
                <a:cs typeface="Arial" pitchFamily="34" charset="-120"/>
              </a:rPr>
              <a:t>Accurate prediction</a:t>
            </a:r>
            <a:endParaRPr lang="en-US" sz="2200" dirty="0"/>
          </a:p>
        </p:txBody>
      </p:sp>
      <p:sp>
        <p:nvSpPr>
          <p:cNvPr id="7" name="Text 5"/>
          <p:cNvSpPr/>
          <p:nvPr/>
        </p:nvSpPr>
        <p:spPr>
          <a:xfrm>
            <a:off x="868680" y="3566160"/>
            <a:ext cx="2926080" cy="1737360"/>
          </a:xfrm>
          <a:prstGeom prst="rect">
            <a:avLst/>
          </a:prstGeom>
          <a:noFill/>
          <a:ln/>
        </p:spPr>
        <p:txBody>
          <a:bodyPr wrap="square" rtlCol="0" anchor="t"/>
          <a:lstStyle/>
          <a:p>
            <a:pPr indent="0" marL="0">
              <a:buNone/>
            </a:pPr>
            <a:r>
              <a:rPr lang="en-US" sz="1400" dirty="0">
                <a:solidFill>
                  <a:srgbClr val="9A9F9B"/>
                </a:solidFill>
                <a:latin typeface="Arial" pitchFamily="34" charset="0"/>
                <a:ea typeface="Arial" pitchFamily="34" charset="-122"/>
                <a:cs typeface="Arial" pitchFamily="34" charset="-120"/>
              </a:rPr>
              <a:t>O/C model reaches R² 0.90 on the standard literature test, matching Zhang et al. (0.895). Yield models reach R² up to 0.69.</a:t>
            </a:r>
            <a:endParaRPr lang="en-US" sz="1400" dirty="0"/>
          </a:p>
        </p:txBody>
      </p:sp>
      <p:sp>
        <p:nvSpPr>
          <p:cNvPr id="8" name="Shape 6"/>
          <p:cNvSpPr/>
          <p:nvPr/>
        </p:nvSpPr>
        <p:spPr>
          <a:xfrm>
            <a:off x="4297680" y="1920240"/>
            <a:ext cx="3520440" cy="3566160"/>
          </a:xfrm>
          <a:prstGeom prst="roundRect">
            <a:avLst>
              <a:gd name="adj" fmla="val 3117"/>
            </a:avLst>
          </a:prstGeom>
          <a:solidFill>
            <a:srgbClr val="15191A"/>
          </a:solidFill>
          <a:ln w="12700">
            <a:solidFill>
              <a:srgbClr val="2A3031"/>
            </a:solidFill>
            <a:prstDash val="solid"/>
          </a:ln>
        </p:spPr>
      </p:sp>
      <p:sp>
        <p:nvSpPr>
          <p:cNvPr id="9" name="Text 7"/>
          <p:cNvSpPr/>
          <p:nvPr/>
        </p:nvSpPr>
        <p:spPr>
          <a:xfrm>
            <a:off x="4617720" y="2194560"/>
            <a:ext cx="914400" cy="365760"/>
          </a:xfrm>
          <a:prstGeom prst="rect">
            <a:avLst/>
          </a:prstGeom>
          <a:noFill/>
          <a:ln/>
        </p:spPr>
        <p:txBody>
          <a:bodyPr wrap="square" rtlCol="0" anchor="ctr"/>
          <a:lstStyle/>
          <a:p>
            <a:pPr indent="0" marL="0">
              <a:buNone/>
            </a:pPr>
            <a:r>
              <a:rPr lang="en-US" sz="1400" b="1" dirty="0">
                <a:solidFill>
                  <a:srgbClr val="C9F36B"/>
                </a:solidFill>
                <a:latin typeface="Consolas" pitchFamily="34" charset="0"/>
                <a:ea typeface="Consolas" pitchFamily="34" charset="-122"/>
                <a:cs typeface="Consolas" pitchFamily="34" charset="-120"/>
              </a:rPr>
              <a:t>02</a:t>
            </a:r>
            <a:endParaRPr lang="en-US" sz="1400" dirty="0"/>
          </a:p>
        </p:txBody>
      </p:sp>
      <p:sp>
        <p:nvSpPr>
          <p:cNvPr id="10" name="Text 8"/>
          <p:cNvSpPr/>
          <p:nvPr/>
        </p:nvSpPr>
        <p:spPr>
          <a:xfrm>
            <a:off x="4617720" y="2697480"/>
            <a:ext cx="2926080" cy="822960"/>
          </a:xfrm>
          <a:prstGeom prst="rect">
            <a:avLst/>
          </a:prstGeom>
          <a:noFill/>
          <a:ln/>
        </p:spPr>
        <p:txBody>
          <a:bodyPr wrap="square" rtlCol="0" anchor="t"/>
          <a:lstStyle/>
          <a:p>
            <a:pPr indent="0" marL="0">
              <a:buNone/>
            </a:pPr>
            <a:r>
              <a:rPr lang="en-US" sz="2200" b="1" dirty="0">
                <a:solidFill>
                  <a:srgbClr val="F1F2ED"/>
                </a:solidFill>
                <a:latin typeface="Arial" pitchFamily="34" charset="0"/>
                <a:ea typeface="Arial" pitchFamily="34" charset="-122"/>
                <a:cs typeface="Arial" pitchFamily="34" charset="-120"/>
              </a:rPr>
              <a:t>Physics-aware models</a:t>
            </a:r>
            <a:endParaRPr lang="en-US" sz="2200" dirty="0"/>
          </a:p>
        </p:txBody>
      </p:sp>
      <p:sp>
        <p:nvSpPr>
          <p:cNvPr id="11" name="Text 9"/>
          <p:cNvSpPr/>
          <p:nvPr/>
        </p:nvSpPr>
        <p:spPr>
          <a:xfrm>
            <a:off x="4617720" y="3566160"/>
            <a:ext cx="2926080" cy="1737360"/>
          </a:xfrm>
          <a:prstGeom prst="rect">
            <a:avLst/>
          </a:prstGeom>
          <a:noFill/>
          <a:ln/>
        </p:spPr>
        <p:txBody>
          <a:bodyPr wrap="square" rtlCol="0" anchor="t"/>
          <a:lstStyle/>
          <a:p>
            <a:pPr indent="0" marL="0">
              <a:buNone/>
            </a:pPr>
            <a:r>
              <a:rPr lang="en-US" sz="1400" dirty="0">
                <a:solidFill>
                  <a:srgbClr val="9A9F9B"/>
                </a:solidFill>
                <a:latin typeface="Arial" pitchFamily="34" charset="0"/>
                <a:ea typeface="Arial" pitchFamily="34" charset="-122"/>
                <a:cs typeface="Arial" pitchFamily="34" charset="-120"/>
              </a:rPr>
              <a:t>Final yield and O/C models built on kinetics-based features and physical constraints that behave like real pyrolysis.</a:t>
            </a:r>
            <a:endParaRPr lang="en-US" sz="1400" dirty="0"/>
          </a:p>
        </p:txBody>
      </p:sp>
      <p:sp>
        <p:nvSpPr>
          <p:cNvPr id="12" name="Shape 10"/>
          <p:cNvSpPr/>
          <p:nvPr/>
        </p:nvSpPr>
        <p:spPr>
          <a:xfrm>
            <a:off x="8046720" y="1920240"/>
            <a:ext cx="3520440" cy="3566160"/>
          </a:xfrm>
          <a:prstGeom prst="roundRect">
            <a:avLst>
              <a:gd name="adj" fmla="val 3117"/>
            </a:avLst>
          </a:prstGeom>
          <a:solidFill>
            <a:srgbClr val="15191A"/>
          </a:solidFill>
          <a:ln w="12700">
            <a:solidFill>
              <a:srgbClr val="2A3031"/>
            </a:solidFill>
            <a:prstDash val="solid"/>
          </a:ln>
        </p:spPr>
      </p:sp>
      <p:sp>
        <p:nvSpPr>
          <p:cNvPr id="13" name="Text 11"/>
          <p:cNvSpPr/>
          <p:nvPr/>
        </p:nvSpPr>
        <p:spPr>
          <a:xfrm>
            <a:off x="8366760" y="2194560"/>
            <a:ext cx="914400" cy="365760"/>
          </a:xfrm>
          <a:prstGeom prst="rect">
            <a:avLst/>
          </a:prstGeom>
          <a:noFill/>
          <a:ln/>
        </p:spPr>
        <p:txBody>
          <a:bodyPr wrap="square" rtlCol="0" anchor="ctr"/>
          <a:lstStyle/>
          <a:p>
            <a:pPr indent="0" marL="0">
              <a:buNone/>
            </a:pPr>
            <a:r>
              <a:rPr lang="en-US" sz="1400" b="1" dirty="0">
                <a:solidFill>
                  <a:srgbClr val="C9F36B"/>
                </a:solidFill>
                <a:latin typeface="Consolas" pitchFamily="34" charset="0"/>
                <a:ea typeface="Consolas" pitchFamily="34" charset="-122"/>
                <a:cs typeface="Consolas" pitchFamily="34" charset="-120"/>
              </a:rPr>
              <a:t>03</a:t>
            </a:r>
            <a:endParaRPr lang="en-US" sz="1400" dirty="0"/>
          </a:p>
        </p:txBody>
      </p:sp>
      <p:sp>
        <p:nvSpPr>
          <p:cNvPr id="14" name="Text 12"/>
          <p:cNvSpPr/>
          <p:nvPr/>
        </p:nvSpPr>
        <p:spPr>
          <a:xfrm>
            <a:off x="8366760" y="2697480"/>
            <a:ext cx="2926080" cy="822960"/>
          </a:xfrm>
          <a:prstGeom prst="rect">
            <a:avLst/>
          </a:prstGeom>
          <a:noFill/>
          <a:ln/>
        </p:spPr>
        <p:txBody>
          <a:bodyPr wrap="square" rtlCol="0" anchor="t"/>
          <a:lstStyle/>
          <a:p>
            <a:pPr indent="0" marL="0">
              <a:buNone/>
            </a:pPr>
            <a:r>
              <a:rPr lang="en-US" sz="2200" b="1" dirty="0">
                <a:solidFill>
                  <a:srgbClr val="F1F2ED"/>
                </a:solidFill>
                <a:latin typeface="Arial" pitchFamily="34" charset="0"/>
                <a:ea typeface="Arial" pitchFamily="34" charset="-122"/>
                <a:cs typeface="Arial" pitchFamily="34" charset="-120"/>
              </a:rPr>
              <a:t>A working Advisor</a:t>
            </a:r>
            <a:endParaRPr lang="en-US" sz="2200" dirty="0"/>
          </a:p>
        </p:txBody>
      </p:sp>
      <p:sp>
        <p:nvSpPr>
          <p:cNvPr id="15" name="Text 13"/>
          <p:cNvSpPr/>
          <p:nvPr/>
        </p:nvSpPr>
        <p:spPr>
          <a:xfrm>
            <a:off x="8366760" y="3566160"/>
            <a:ext cx="2926080" cy="1737360"/>
          </a:xfrm>
          <a:prstGeom prst="rect">
            <a:avLst/>
          </a:prstGeom>
          <a:noFill/>
          <a:ln/>
        </p:spPr>
        <p:txBody>
          <a:bodyPr wrap="square" rtlCol="0" anchor="t"/>
          <a:lstStyle/>
          <a:p>
            <a:pPr indent="0" marL="0">
              <a:buNone/>
            </a:pPr>
            <a:r>
              <a:rPr lang="en-US" sz="1400" dirty="0">
                <a:solidFill>
                  <a:srgbClr val="9A9F9B"/>
                </a:solidFill>
                <a:latin typeface="Arial" pitchFamily="34" charset="0"/>
                <a:ea typeface="Arial" pitchFamily="34" charset="-122"/>
                <a:cs typeface="Arial" pitchFamily="34" charset="-120"/>
              </a:rPr>
              <a:t>A web tool that recommends temperature and heating rate and shows the yield/oxygen trade-off.</a:t>
            </a:r>
            <a:endParaRPr lang="en-US" sz="1400" dirty="0"/>
          </a:p>
        </p:txBody>
      </p:sp>
      <p:sp>
        <p:nvSpPr>
          <p:cNvPr id="16" name="Text 14"/>
          <p:cNvSpPr/>
          <p:nvPr/>
        </p:nvSpPr>
        <p:spPr>
          <a:xfrm>
            <a:off x="548640" y="5760720"/>
            <a:ext cx="10972800" cy="365760"/>
          </a:xfrm>
          <a:prstGeom prst="rect">
            <a:avLst/>
          </a:prstGeom>
          <a:noFill/>
          <a:ln/>
        </p:spPr>
        <p:txBody>
          <a:bodyPr wrap="square" rtlCol="0" anchor="ctr"/>
          <a:lstStyle/>
          <a:p>
            <a:pPr indent="0" marL="0">
              <a:buNone/>
            </a:pPr>
            <a:r>
              <a:rPr lang="en-US" sz="1100" dirty="0">
                <a:solidFill>
                  <a:srgbClr val="6B716E"/>
                </a:solidFill>
                <a:latin typeface="Consolas" pitchFamily="34" charset="0"/>
                <a:ea typeface="Consolas" pitchFamily="34" charset="-122"/>
                <a:cs typeface="Consolas" pitchFamily="34" charset="-120"/>
              </a:rPr>
              <a:t>Data: Zhang et al. 2022 (O/C, 122 biomasses) and Pascarella et al. 2025 (yield, ~160 studies)</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100" b="1" spc="300" kern="0" dirty="0">
                <a:solidFill>
                  <a:srgbClr val="C9F36B"/>
                </a:solidFill>
                <a:latin typeface="Consolas" pitchFamily="34" charset="0"/>
                <a:ea typeface="Consolas" pitchFamily="34" charset="-122"/>
                <a:cs typeface="Consolas" pitchFamily="34" charset="-120"/>
              </a:rPr>
              <a:t>RESULT 1 · PREDICTION ACCURACY · TEST 1 (STANDARD 80/20 SPLIT)</a:t>
            </a:r>
            <a:endParaRPr lang="en-US" sz="1100" dirty="0"/>
          </a:p>
        </p:txBody>
      </p:sp>
      <p:sp>
        <p:nvSpPr>
          <p:cNvPr id="3" name="Text 1"/>
          <p:cNvSpPr/>
          <p:nvPr/>
        </p:nvSpPr>
        <p:spPr>
          <a:xfrm>
            <a:off x="548640" y="777240"/>
            <a:ext cx="11064240" cy="822960"/>
          </a:xfrm>
          <a:prstGeom prst="rect">
            <a:avLst/>
          </a:prstGeom>
          <a:noFill/>
          <a:ln/>
        </p:spPr>
        <p:txBody>
          <a:bodyPr wrap="square" rtlCol="0" anchor="t"/>
          <a:lstStyle/>
          <a:p>
            <a:pPr indent="0" marL="0">
              <a:buNone/>
            </a:pPr>
            <a:r>
              <a:rPr lang="en-US" sz="3000" b="1" dirty="0">
                <a:solidFill>
                  <a:srgbClr val="F1F2ED"/>
                </a:solidFill>
                <a:latin typeface="Arial" pitchFamily="34" charset="0"/>
                <a:ea typeface="Arial" pitchFamily="34" charset="-122"/>
                <a:cs typeface="Arial" pitchFamily="34" charset="-120"/>
              </a:rPr>
              <a:t>Our O/C model matches the published benchmark</a:t>
            </a:r>
            <a:endParaRPr lang="en-US" sz="3000" dirty="0"/>
          </a:p>
        </p:txBody>
      </p:sp>
      <p:pic>
        <p:nvPicPr>
          <p:cNvPr id="4" name="Image 0" descr="/home/user/BioOil-Automation/pyrolysis_advisor/results/figures/C1_oc_benchmark.png">    </p:cNvPr>
          <p:cNvPicPr>
            <a:picLocks noChangeAspect="1"/>
          </p:cNvPicPr>
          <p:nvPr/>
        </p:nvPicPr>
        <p:blipFill>
          <a:blip r:embed="rId1"/>
          <a:stretch>
            <a:fillRect/>
          </a:stretch>
        </p:blipFill>
        <p:spPr>
          <a:xfrm>
            <a:off x="548640" y="1737360"/>
            <a:ext cx="7680960" cy="4032000"/>
          </a:xfrm>
          <a:prstGeom prst="rect">
            <a:avLst/>
          </a:prstGeom>
        </p:spPr>
      </p:pic>
      <p:sp>
        <p:nvSpPr>
          <p:cNvPr id="5" name="Text 2"/>
          <p:cNvSpPr/>
          <p:nvPr/>
        </p:nvSpPr>
        <p:spPr>
          <a:xfrm>
            <a:off x="8595360" y="1828800"/>
            <a:ext cx="3017520" cy="685800"/>
          </a:xfrm>
          <a:prstGeom prst="rect">
            <a:avLst/>
          </a:prstGeom>
          <a:noFill/>
          <a:ln/>
        </p:spPr>
        <p:txBody>
          <a:bodyPr wrap="square" lIns="0" tIns="0" rIns="0" bIns="0" rtlCol="0" anchor="b"/>
          <a:lstStyle/>
          <a:p>
            <a:pPr indent="0" marL="0">
              <a:buNone/>
            </a:pPr>
            <a:r>
              <a:rPr lang="en-US" sz="3600" b="1" dirty="0">
                <a:solidFill>
                  <a:srgbClr val="C9F36B"/>
                </a:solidFill>
                <a:latin typeface="Arial" pitchFamily="34" charset="0"/>
                <a:ea typeface="Arial" pitchFamily="34" charset="-122"/>
                <a:cs typeface="Arial" pitchFamily="34" charset="-120"/>
              </a:rPr>
              <a:t>R² 0.90</a:t>
            </a:r>
            <a:endParaRPr lang="en-US" sz="3600" dirty="0"/>
          </a:p>
        </p:txBody>
      </p:sp>
      <p:sp>
        <p:nvSpPr>
          <p:cNvPr id="6" name="Text 3"/>
          <p:cNvSpPr/>
          <p:nvPr/>
        </p:nvSpPr>
        <p:spPr>
          <a:xfrm>
            <a:off x="8595360" y="2542032"/>
            <a:ext cx="3017520" cy="548640"/>
          </a:xfrm>
          <a:prstGeom prst="rect">
            <a:avLst/>
          </a:prstGeom>
          <a:noFill/>
          <a:ln/>
        </p:spPr>
        <p:txBody>
          <a:bodyPr wrap="square" lIns="0" tIns="0" rIns="0" bIns="0" rtlCol="0" anchor="t"/>
          <a:lstStyle/>
          <a:p>
            <a:pPr indent="0" marL="0">
              <a:buNone/>
            </a:pPr>
            <a:r>
              <a:rPr lang="en-US" sz="1200" dirty="0">
                <a:solidFill>
                  <a:srgbClr val="9A9F9B"/>
                </a:solidFill>
                <a:latin typeface="Arial" pitchFamily="34" charset="0"/>
                <a:ea typeface="Arial" pitchFamily="34" charset="-122"/>
                <a:cs typeface="Arial" pitchFamily="34" charset="-120"/>
              </a:rPr>
              <a:t>XGBoost O/C on the held-out 20% test set</a:t>
            </a:r>
            <a:endParaRPr lang="en-US" sz="1200" dirty="0"/>
          </a:p>
        </p:txBody>
      </p:sp>
      <p:sp>
        <p:nvSpPr>
          <p:cNvPr id="7" name="Text 4"/>
          <p:cNvSpPr/>
          <p:nvPr/>
        </p:nvSpPr>
        <p:spPr>
          <a:xfrm>
            <a:off x="8595360" y="3291840"/>
            <a:ext cx="3017520" cy="685800"/>
          </a:xfrm>
          <a:prstGeom prst="rect">
            <a:avLst/>
          </a:prstGeom>
          <a:noFill/>
          <a:ln/>
        </p:spPr>
        <p:txBody>
          <a:bodyPr wrap="square" lIns="0" tIns="0" rIns="0" bIns="0" rtlCol="0" anchor="b"/>
          <a:lstStyle/>
          <a:p>
            <a:pPr indent="0" marL="0">
              <a:buNone/>
            </a:pPr>
            <a:r>
              <a:rPr lang="en-US" sz="3600" b="1" dirty="0">
                <a:solidFill>
                  <a:srgbClr val="F1F2ED"/>
                </a:solidFill>
                <a:latin typeface="Arial" pitchFamily="34" charset="0"/>
                <a:ea typeface="Arial" pitchFamily="34" charset="-122"/>
                <a:cs typeface="Arial" pitchFamily="34" charset="-120"/>
              </a:rPr>
              <a:t>0.895</a:t>
            </a:r>
            <a:endParaRPr lang="en-US" sz="3600" dirty="0"/>
          </a:p>
        </p:txBody>
      </p:sp>
      <p:sp>
        <p:nvSpPr>
          <p:cNvPr id="8" name="Text 5"/>
          <p:cNvSpPr/>
          <p:nvPr/>
        </p:nvSpPr>
        <p:spPr>
          <a:xfrm>
            <a:off x="8595360" y="4005072"/>
            <a:ext cx="3017520" cy="548640"/>
          </a:xfrm>
          <a:prstGeom prst="rect">
            <a:avLst/>
          </a:prstGeom>
          <a:noFill/>
          <a:ln/>
        </p:spPr>
        <p:txBody>
          <a:bodyPr wrap="square" lIns="0" tIns="0" rIns="0" bIns="0" rtlCol="0" anchor="t"/>
          <a:lstStyle/>
          <a:p>
            <a:pPr indent="0" marL="0">
              <a:buNone/>
            </a:pPr>
            <a:r>
              <a:rPr lang="en-US" sz="1200" dirty="0">
                <a:solidFill>
                  <a:srgbClr val="9A9F9B"/>
                </a:solidFill>
                <a:latin typeface="Arial" pitchFamily="34" charset="0"/>
                <a:ea typeface="Arial" pitchFamily="34" charset="-122"/>
                <a:cs typeface="Arial" pitchFamily="34" charset="-120"/>
              </a:rPr>
              <a:t>Zhang et al. (2022) published O/C result</a:t>
            </a:r>
            <a:endParaRPr lang="en-US" sz="1200" dirty="0"/>
          </a:p>
        </p:txBody>
      </p:sp>
      <p:sp>
        <p:nvSpPr>
          <p:cNvPr id="9" name="Text 6"/>
          <p:cNvSpPr/>
          <p:nvPr/>
        </p:nvSpPr>
        <p:spPr>
          <a:xfrm>
            <a:off x="8595360" y="4846320"/>
            <a:ext cx="3017520" cy="822960"/>
          </a:xfrm>
          <a:prstGeom prst="rect">
            <a:avLst/>
          </a:prstGeom>
          <a:noFill/>
          <a:ln/>
        </p:spPr>
        <p:txBody>
          <a:bodyPr wrap="square" rtlCol="0" anchor="t"/>
          <a:lstStyle/>
          <a:p>
            <a:pPr indent="0" marL="0">
              <a:buNone/>
            </a:pPr>
            <a:r>
              <a:rPr lang="en-US" sz="1300" dirty="0">
                <a:solidFill>
                  <a:srgbClr val="9A9F9B"/>
                </a:solidFill>
                <a:latin typeface="Arial" pitchFamily="34" charset="0"/>
                <a:ea typeface="Arial" pitchFamily="34" charset="-122"/>
                <a:cs typeface="Arial" pitchFamily="34" charset="-120"/>
              </a:rPr>
              <a:t>7 models compared · 232 samples · physics-informed features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100" b="1" spc="300" kern="0" dirty="0">
                <a:solidFill>
                  <a:srgbClr val="C9F36B"/>
                </a:solidFill>
                <a:latin typeface="Consolas" pitchFamily="34" charset="0"/>
                <a:ea typeface="Consolas" pitchFamily="34" charset="-122"/>
                <a:cs typeface="Consolas" pitchFamily="34" charset="-120"/>
              </a:rPr>
              <a:t>RESULT 2 · FINAL ADVISOR MODELS · TEST 1</a:t>
            </a:r>
            <a:endParaRPr lang="en-US" sz="1100" dirty="0"/>
          </a:p>
        </p:txBody>
      </p:sp>
      <p:sp>
        <p:nvSpPr>
          <p:cNvPr id="3" name="Text 1"/>
          <p:cNvSpPr/>
          <p:nvPr/>
        </p:nvSpPr>
        <p:spPr>
          <a:xfrm>
            <a:off x="548640" y="777240"/>
            <a:ext cx="11064240" cy="822960"/>
          </a:xfrm>
          <a:prstGeom prst="rect">
            <a:avLst/>
          </a:prstGeom>
          <a:noFill/>
          <a:ln/>
        </p:spPr>
        <p:txBody>
          <a:bodyPr wrap="square" rtlCol="0" anchor="t"/>
          <a:lstStyle/>
          <a:p>
            <a:pPr indent="0" marL="0">
              <a:buNone/>
            </a:pPr>
            <a:r>
              <a:rPr lang="en-US" sz="3000" b="1" dirty="0">
                <a:solidFill>
                  <a:srgbClr val="F1F2ED"/>
                </a:solidFill>
                <a:latin typeface="Arial" pitchFamily="34" charset="0"/>
                <a:ea typeface="Arial" pitchFamily="34" charset="-122"/>
                <a:cs typeface="Arial" pitchFamily="34" charset="-120"/>
              </a:rPr>
              <a:t>Predicted vs measured for the final models</a:t>
            </a:r>
            <a:endParaRPr lang="en-US" sz="3000" dirty="0"/>
          </a:p>
        </p:txBody>
      </p:sp>
      <p:pic>
        <p:nvPicPr>
          <p:cNvPr id="4" name="Image 0" descr="/home/user/BioOil-Automation/pyrolysis_advisor/results/figures/C2_parity.png">    </p:cNvPr>
          <p:cNvPicPr>
            <a:picLocks noChangeAspect="1"/>
          </p:cNvPicPr>
          <p:nvPr/>
        </p:nvPicPr>
        <p:blipFill>
          <a:blip r:embed="rId1"/>
          <a:stretch>
            <a:fillRect/>
          </a:stretch>
        </p:blipFill>
        <p:spPr>
          <a:xfrm>
            <a:off x="548640" y="1691640"/>
            <a:ext cx="7863840" cy="3430995"/>
          </a:xfrm>
          <a:prstGeom prst="rect">
            <a:avLst/>
          </a:prstGeom>
        </p:spPr>
      </p:pic>
      <p:sp>
        <p:nvSpPr>
          <p:cNvPr id="5" name="Text 2"/>
          <p:cNvSpPr/>
          <p:nvPr/>
        </p:nvSpPr>
        <p:spPr>
          <a:xfrm>
            <a:off x="8778240" y="1783080"/>
            <a:ext cx="2834640" cy="685800"/>
          </a:xfrm>
          <a:prstGeom prst="rect">
            <a:avLst/>
          </a:prstGeom>
          <a:noFill/>
          <a:ln/>
        </p:spPr>
        <p:txBody>
          <a:bodyPr wrap="square" lIns="0" tIns="0" rIns="0" bIns="0" rtlCol="0" anchor="b"/>
          <a:lstStyle/>
          <a:p>
            <a:pPr indent="0" marL="0">
              <a:buNone/>
            </a:pPr>
            <a:r>
              <a:rPr lang="en-US" sz="3600" b="1" dirty="0">
                <a:solidFill>
                  <a:srgbClr val="C9F36B"/>
                </a:solidFill>
                <a:latin typeface="Arial" pitchFamily="34" charset="0"/>
                <a:ea typeface="Arial" pitchFamily="34" charset="-122"/>
                <a:cs typeface="Arial" pitchFamily="34" charset="-120"/>
              </a:rPr>
              <a:t>R² 0.61</a:t>
            </a:r>
            <a:endParaRPr lang="en-US" sz="3600" dirty="0"/>
          </a:p>
        </p:txBody>
      </p:sp>
      <p:sp>
        <p:nvSpPr>
          <p:cNvPr id="6" name="Text 3"/>
          <p:cNvSpPr/>
          <p:nvPr/>
        </p:nvSpPr>
        <p:spPr>
          <a:xfrm>
            <a:off x="8778240" y="2496312"/>
            <a:ext cx="2834640" cy="548640"/>
          </a:xfrm>
          <a:prstGeom prst="rect">
            <a:avLst/>
          </a:prstGeom>
          <a:noFill/>
          <a:ln/>
        </p:spPr>
        <p:txBody>
          <a:bodyPr wrap="square" lIns="0" tIns="0" rIns="0" bIns="0" rtlCol="0" anchor="t"/>
          <a:lstStyle/>
          <a:p>
            <a:pPr indent="0" marL="0">
              <a:buNone/>
            </a:pPr>
            <a:r>
              <a:rPr lang="en-US" sz="1200" dirty="0">
                <a:solidFill>
                  <a:srgbClr val="9A9F9B"/>
                </a:solidFill>
                <a:latin typeface="Arial" pitchFamily="34" charset="0"/>
                <a:ea typeface="Arial" pitchFamily="34" charset="-122"/>
                <a:cs typeface="Arial" pitchFamily="34" charset="-120"/>
              </a:rPr>
              <a:t>O/C (log scale), mean of 10 random splits; best split 0.85; typical error 18%</a:t>
            </a:r>
            <a:endParaRPr lang="en-US" sz="1200" dirty="0"/>
          </a:p>
        </p:txBody>
      </p:sp>
      <p:sp>
        <p:nvSpPr>
          <p:cNvPr id="7" name="Text 4"/>
          <p:cNvSpPr/>
          <p:nvPr/>
        </p:nvSpPr>
        <p:spPr>
          <a:xfrm>
            <a:off x="8778240" y="3246120"/>
            <a:ext cx="2834640" cy="685800"/>
          </a:xfrm>
          <a:prstGeom prst="rect">
            <a:avLst/>
          </a:prstGeom>
          <a:noFill/>
          <a:ln/>
        </p:spPr>
        <p:txBody>
          <a:bodyPr wrap="square" lIns="0" tIns="0" rIns="0" bIns="0" rtlCol="0" anchor="b"/>
          <a:lstStyle/>
          <a:p>
            <a:pPr indent="0" marL="0">
              <a:buNone/>
            </a:pPr>
            <a:r>
              <a:rPr lang="en-US" sz="3600" b="1" dirty="0">
                <a:solidFill>
                  <a:srgbClr val="C9F36B"/>
                </a:solidFill>
                <a:latin typeface="Arial" pitchFamily="34" charset="0"/>
                <a:ea typeface="Arial" pitchFamily="34" charset="-122"/>
                <a:cs typeface="Arial" pitchFamily="34" charset="-120"/>
              </a:rPr>
              <a:t>R² 0.61</a:t>
            </a:r>
            <a:endParaRPr lang="en-US" sz="3600" dirty="0"/>
          </a:p>
        </p:txBody>
      </p:sp>
      <p:sp>
        <p:nvSpPr>
          <p:cNvPr id="8" name="Text 5"/>
          <p:cNvSpPr/>
          <p:nvPr/>
        </p:nvSpPr>
        <p:spPr>
          <a:xfrm>
            <a:off x="8778240" y="3959352"/>
            <a:ext cx="2834640" cy="548640"/>
          </a:xfrm>
          <a:prstGeom prst="rect">
            <a:avLst/>
          </a:prstGeom>
          <a:noFill/>
          <a:ln/>
        </p:spPr>
        <p:txBody>
          <a:bodyPr wrap="square" lIns="0" tIns="0" rIns="0" bIns="0" rtlCol="0" anchor="t"/>
          <a:lstStyle/>
          <a:p>
            <a:pPr indent="0" marL="0">
              <a:buNone/>
            </a:pPr>
            <a:r>
              <a:rPr lang="en-US" sz="1200" dirty="0">
                <a:solidFill>
                  <a:srgbClr val="9A9F9B"/>
                </a:solidFill>
                <a:latin typeface="Arial" pitchFamily="34" charset="0"/>
                <a:ea typeface="Arial" pitchFamily="34" charset="-122"/>
                <a:cs typeface="Arial" pitchFamily="34" charset="-120"/>
              </a:rPr>
              <a:t>Yield, mean of 10 random splits; best 0.67; error 4.2 wt%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5257800"/>
          <a:ext cx="7863840" cy="914400"/>
        </p:xfrm>
        <a:graphic>
          <a:graphicData uri="http://schemas.openxmlformats.org/drawingml/2006/table">
            <a:tbl>
              <a:tblPr/>
              <a:tblGrid>
                <a:gridCol w="4206240"/>
                <a:gridCol w="1828800"/>
                <a:gridCol w="1828800"/>
              </a:tblGrid>
              <a:tr h="274320">
                <a:tc>
                  <a:txBody>
                    <a:bodyPr/>
                    <a:lstStyle/>
                    <a:p>
                      <a:pPr indent="0" marL="0">
                        <a:buNone/>
                      </a:pPr>
                      <a:r>
                        <a:rPr lang="en-US" sz="1000" b="1" dirty="0">
                          <a:solidFill>
                            <a:srgbClr val="9A9F9B"/>
                          </a:solidFill>
                          <a:latin typeface="Consolas" pitchFamily="34" charset="0"/>
                          <a:ea typeface="Consolas" pitchFamily="34" charset="-122"/>
                          <a:cs typeface="Consolas" pitchFamily="34" charset="-120"/>
                        </a:rPr>
                        <a:t>Yield model (random split)</a:t>
                      </a:r>
                      <a:endParaRPr lang="en-US" sz="1000" dirty="0">
                        <a:latin typeface="Consolas" charset="0"/>
                        <a:ea typeface="Consolas" charset="0"/>
                        <a:cs typeface="Consolas"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C2122"/>
                    </a:solidFill>
                  </a:tcPr>
                </a:tc>
                <a:tc>
                  <a:txBody>
                    <a:bodyPr/>
                    <a:lstStyle/>
                    <a:p>
                      <a:pPr indent="0" marL="0">
                        <a:buNone/>
                      </a:pPr>
                      <a:r>
                        <a:rPr lang="en-US" sz="1000" b="1" dirty="0">
                          <a:solidFill>
                            <a:srgbClr val="9A9F9B"/>
                          </a:solidFill>
                          <a:latin typeface="Consolas" pitchFamily="34" charset="0"/>
                          <a:ea typeface="Consolas" pitchFamily="34" charset="-122"/>
                          <a:cs typeface="Consolas" pitchFamily="34" charset="-120"/>
                        </a:rPr>
                        <a:t>R²</a:t>
                      </a:r>
                      <a:endParaRPr lang="en-US" sz="1000" dirty="0">
                        <a:latin typeface="Consolas" charset="0"/>
                        <a:ea typeface="Consolas" charset="0"/>
                        <a:cs typeface="Consolas"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C2122"/>
                    </a:solidFill>
                  </a:tcPr>
                </a:tc>
                <a:tc>
                  <a:txBody>
                    <a:bodyPr/>
                    <a:lstStyle/>
                    <a:p>
                      <a:pPr indent="0" marL="0">
                        <a:buNone/>
                      </a:pPr>
                      <a:r>
                        <a:rPr lang="en-US" sz="1000" b="1" dirty="0">
                          <a:solidFill>
                            <a:srgbClr val="9A9F9B"/>
                          </a:solidFill>
                          <a:latin typeface="Consolas" pitchFamily="34" charset="0"/>
                          <a:ea typeface="Consolas" pitchFamily="34" charset="-122"/>
                          <a:cs typeface="Consolas" pitchFamily="34" charset="-120"/>
                        </a:rPr>
                        <a:t>MAE</a:t>
                      </a:r>
                      <a:endParaRPr lang="en-US" sz="1000" dirty="0">
                        <a:latin typeface="Consolas" charset="0"/>
                        <a:ea typeface="Consolas" charset="0"/>
                        <a:cs typeface="Consolas"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C2122"/>
                    </a:solidFill>
                  </a:tcPr>
                </a:tc>
              </a:tr>
              <a:tr h="274320">
                <a:tc>
                  <a:txBody>
                    <a:bodyPr/>
                    <a:lstStyle/>
                    <a:p>
                      <a:pPr indent="0" marL="0">
                        <a:buNone/>
                      </a:pPr>
                      <a:r>
                        <a:rPr lang="en-US" sz="1200" dirty="0">
                          <a:solidFill>
                            <a:srgbClr val="F1F2ED"/>
                          </a:solidFill>
                          <a:latin typeface="Arial" pitchFamily="34" charset="0"/>
                          <a:ea typeface="Arial" pitchFamily="34" charset="-122"/>
                          <a:cs typeface="Arial" pitchFamily="34" charset="-120"/>
                        </a:rPr>
                        <a:t>Random Forest</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b="1" dirty="0">
                          <a:solidFill>
                            <a:srgbClr val="C9F36B"/>
                          </a:solidFill>
                          <a:latin typeface="Arial" pitchFamily="34" charset="0"/>
                          <a:ea typeface="Arial" pitchFamily="34" charset="-122"/>
                          <a:cs typeface="Arial" pitchFamily="34" charset="-120"/>
                        </a:rPr>
                        <a:t>0.69</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dirty="0">
                          <a:solidFill>
                            <a:srgbClr val="F1F2ED"/>
                          </a:solidFill>
                          <a:latin typeface="Arial" pitchFamily="34" charset="0"/>
                          <a:ea typeface="Arial" pitchFamily="34" charset="-122"/>
                          <a:cs typeface="Arial" pitchFamily="34" charset="-120"/>
                        </a:rPr>
                        <a:t>3.8 wt%</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r h="274320">
                <a:tc>
                  <a:txBody>
                    <a:bodyPr/>
                    <a:lstStyle/>
                    <a:p>
                      <a:pPr indent="0" marL="0">
                        <a:buNone/>
                      </a:pPr>
                      <a:r>
                        <a:rPr lang="en-US" sz="1200" dirty="0">
                          <a:solidFill>
                            <a:srgbClr val="F1F2ED"/>
                          </a:solidFill>
                          <a:latin typeface="Arial" pitchFamily="34" charset="0"/>
                          <a:ea typeface="Arial" pitchFamily="34" charset="-122"/>
                          <a:cs typeface="Arial" pitchFamily="34" charset="-120"/>
                        </a:rPr>
                        <a:t>XGBoost</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b="1" dirty="0">
                          <a:solidFill>
                            <a:srgbClr val="C9F36B"/>
                          </a:solidFill>
                          <a:latin typeface="Arial" pitchFamily="34" charset="0"/>
                          <a:ea typeface="Arial" pitchFamily="34" charset="-122"/>
                          <a:cs typeface="Arial" pitchFamily="34" charset="-120"/>
                        </a:rPr>
                        <a:t>0.66</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dirty="0">
                          <a:solidFill>
                            <a:srgbClr val="F1F2ED"/>
                          </a:solidFill>
                          <a:latin typeface="Arial" pitchFamily="34" charset="0"/>
                          <a:ea typeface="Arial" pitchFamily="34" charset="-122"/>
                          <a:cs typeface="Arial" pitchFamily="34" charset="-120"/>
                        </a:rPr>
                        <a:t>4.2 wt%</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r h="274320">
                <a:tc>
                  <a:txBody>
                    <a:bodyPr/>
                    <a:lstStyle/>
                    <a:p>
                      <a:pPr indent="0" marL="0">
                        <a:buNone/>
                      </a:pPr>
                      <a:r>
                        <a:rPr lang="en-US" sz="1200" dirty="0">
                          <a:solidFill>
                            <a:srgbClr val="F1F2ED"/>
                          </a:solidFill>
                          <a:latin typeface="Arial" pitchFamily="34" charset="0"/>
                          <a:ea typeface="Arial" pitchFamily="34" charset="-122"/>
                          <a:cs typeface="Arial" pitchFamily="34" charset="-120"/>
                        </a:rPr>
                        <a:t>GPR</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b="1" dirty="0">
                          <a:solidFill>
                            <a:srgbClr val="C9F36B"/>
                          </a:solidFill>
                          <a:latin typeface="Arial" pitchFamily="34" charset="0"/>
                          <a:ea typeface="Arial" pitchFamily="34" charset="-122"/>
                          <a:cs typeface="Arial" pitchFamily="34" charset="-120"/>
                        </a:rPr>
                        <a:t>0.60</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dirty="0">
                          <a:solidFill>
                            <a:srgbClr val="F1F2ED"/>
                          </a:solidFill>
                          <a:latin typeface="Arial" pitchFamily="34" charset="0"/>
                          <a:ea typeface="Arial" pitchFamily="34" charset="-122"/>
                          <a:cs typeface="Arial" pitchFamily="34" charset="-120"/>
                        </a:rPr>
                        <a:t>4.2 wt%</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100" b="1" spc="300" kern="0" dirty="0">
                <a:solidFill>
                  <a:srgbClr val="C9F36B"/>
                </a:solidFill>
                <a:latin typeface="Consolas" pitchFamily="34" charset="0"/>
                <a:ea typeface="Consolas" pitchFamily="34" charset="-122"/>
                <a:cs typeface="Consolas" pitchFamily="34" charset="-120"/>
              </a:rPr>
              <a:t>RESULT 3 · PHYSICS FEATURES</a:t>
            </a:r>
            <a:endParaRPr lang="en-US" sz="1100" dirty="0"/>
          </a:p>
        </p:txBody>
      </p:sp>
      <p:sp>
        <p:nvSpPr>
          <p:cNvPr id="3" name="Text 1"/>
          <p:cNvSpPr/>
          <p:nvPr/>
        </p:nvSpPr>
        <p:spPr>
          <a:xfrm>
            <a:off x="548640" y="777240"/>
            <a:ext cx="11064240" cy="822960"/>
          </a:xfrm>
          <a:prstGeom prst="rect">
            <a:avLst/>
          </a:prstGeom>
          <a:noFill/>
          <a:ln/>
        </p:spPr>
        <p:txBody>
          <a:bodyPr wrap="square" rtlCol="0" anchor="t"/>
          <a:lstStyle/>
          <a:p>
            <a:pPr indent="0" marL="0">
              <a:buNone/>
            </a:pPr>
            <a:r>
              <a:rPr lang="en-US" sz="3000" b="1" dirty="0">
                <a:solidFill>
                  <a:srgbClr val="F1F2ED"/>
                </a:solidFill>
                <a:latin typeface="Arial" pitchFamily="34" charset="0"/>
                <a:ea typeface="Arial" pitchFamily="34" charset="-122"/>
                <a:cs typeface="Arial" pitchFamily="34" charset="-120"/>
              </a:rPr>
              <a:t>Physics-informed features improve every model</a:t>
            </a:r>
            <a:endParaRPr lang="en-US" sz="3000" dirty="0"/>
          </a:p>
        </p:txBody>
      </p:sp>
      <p:sp>
        <p:nvSpPr>
          <p:cNvPr id="4" name="Shape 2"/>
          <p:cNvSpPr/>
          <p:nvPr/>
        </p:nvSpPr>
        <p:spPr>
          <a:xfrm>
            <a:off x="548640" y="1828800"/>
            <a:ext cx="6035040" cy="3542647"/>
          </a:xfrm>
          <a:prstGeom prst="roundRect">
            <a:avLst>
              <a:gd name="adj" fmla="val 3097"/>
            </a:avLst>
          </a:prstGeom>
          <a:solidFill>
            <a:srgbClr val="FFFFFF"/>
          </a:solidFill>
          <a:ln w="12700">
            <a:solidFill>
              <a:srgbClr val="FFFFFF"/>
            </a:solidFill>
            <a:prstDash val="solid"/>
          </a:ln>
        </p:spPr>
      </p:sp>
      <p:pic>
        <p:nvPicPr>
          <p:cNvPr id="5" name="Image 0" descr="/home/user/BioOil-Automation/pyrolysis_advisor/results/figures/A2_physics_vs_raw.png">    </p:cNvPr>
          <p:cNvPicPr>
            <a:picLocks noChangeAspect="1"/>
          </p:cNvPicPr>
          <p:nvPr/>
        </p:nvPicPr>
        <p:blipFill>
          <a:blip r:embed="rId1"/>
          <a:stretch>
            <a:fillRect/>
          </a:stretch>
        </p:blipFill>
        <p:spPr>
          <a:xfrm>
            <a:off x="658368" y="1938528"/>
            <a:ext cx="5815584" cy="3323191"/>
          </a:xfrm>
          <a:prstGeom prst="rect">
            <a:avLst/>
          </a:prstGeom>
        </p:spPr>
      </p:pic>
      <p:sp>
        <p:nvSpPr>
          <p:cNvPr id="6" name="Text 3"/>
          <p:cNvSpPr/>
          <p:nvPr/>
        </p:nvSpPr>
        <p:spPr>
          <a:xfrm>
            <a:off x="548640" y="5486400"/>
            <a:ext cx="6035040" cy="274320"/>
          </a:xfrm>
          <a:prstGeom prst="rect">
            <a:avLst/>
          </a:prstGeom>
          <a:noFill/>
          <a:ln/>
        </p:spPr>
        <p:txBody>
          <a:bodyPr wrap="square" rtlCol="0" anchor="ctr"/>
          <a:lstStyle/>
          <a:p>
            <a:pPr indent="0" marL="0">
              <a:buNone/>
            </a:pPr>
            <a:r>
              <a:rPr lang="en-US" sz="1000" dirty="0">
                <a:solidFill>
                  <a:srgbClr val="6B716E"/>
                </a:solidFill>
                <a:latin typeface="Consolas" pitchFamily="34" charset="0"/>
                <a:ea typeface="Consolas" pitchFamily="34" charset="-122"/>
                <a:cs typeface="Consolas" pitchFamily="34" charset="-120"/>
              </a:rPr>
              <a:t>Figure: Test 2 (unseen biomass), raw vs physics inputs</a:t>
            </a:r>
            <a:endParaRPr lang="en-US" sz="1000" dirty="0"/>
          </a:p>
        </p:txBody>
      </p:sp>
      <p:sp>
        <p:nvSpPr>
          <p:cNvPr id="7" name="Text 4"/>
          <p:cNvSpPr/>
          <p:nvPr/>
        </p:nvSpPr>
        <p:spPr>
          <a:xfrm>
            <a:off x="7132320" y="1737360"/>
            <a:ext cx="2194560" cy="685800"/>
          </a:xfrm>
          <a:prstGeom prst="rect">
            <a:avLst/>
          </a:prstGeom>
          <a:noFill/>
          <a:ln/>
        </p:spPr>
        <p:txBody>
          <a:bodyPr wrap="square" lIns="0" tIns="0" rIns="0" bIns="0" rtlCol="0" anchor="b"/>
          <a:lstStyle/>
          <a:p>
            <a:pPr indent="0" marL="0">
              <a:buNone/>
            </a:pPr>
            <a:r>
              <a:rPr lang="en-US" sz="2600" b="1" dirty="0">
                <a:solidFill>
                  <a:srgbClr val="C9F36B"/>
                </a:solidFill>
                <a:latin typeface="Arial" pitchFamily="34" charset="0"/>
                <a:ea typeface="Arial" pitchFamily="34" charset="-122"/>
                <a:cs typeface="Arial" pitchFamily="34" charset="-120"/>
              </a:rPr>
              <a:t>0.43 → 0.63</a:t>
            </a:r>
            <a:endParaRPr lang="en-US" sz="2600" dirty="0"/>
          </a:p>
        </p:txBody>
      </p:sp>
      <p:sp>
        <p:nvSpPr>
          <p:cNvPr id="8" name="Text 5"/>
          <p:cNvSpPr/>
          <p:nvPr/>
        </p:nvSpPr>
        <p:spPr>
          <a:xfrm>
            <a:off x="7132320" y="2450592"/>
            <a:ext cx="2194560" cy="548640"/>
          </a:xfrm>
          <a:prstGeom prst="rect">
            <a:avLst/>
          </a:prstGeom>
          <a:noFill/>
          <a:ln/>
        </p:spPr>
        <p:txBody>
          <a:bodyPr wrap="square" lIns="0" tIns="0" rIns="0" bIns="0" rtlCol="0" anchor="t"/>
          <a:lstStyle/>
          <a:p>
            <a:pPr indent="0" marL="0">
              <a:buNone/>
            </a:pPr>
            <a:r>
              <a:rPr lang="en-US" sz="1200" dirty="0">
                <a:solidFill>
                  <a:srgbClr val="9A9F9B"/>
                </a:solidFill>
                <a:latin typeface="Arial" pitchFamily="34" charset="0"/>
                <a:ea typeface="Arial" pitchFamily="34" charset="-122"/>
                <a:cs typeface="Arial" pitchFamily="34" charset="-120"/>
              </a:rPr>
              <a:t>GPR O/C R², Test 1: raw → physics inputs</a:t>
            </a:r>
            <a:endParaRPr lang="en-US" sz="1200" dirty="0"/>
          </a:p>
        </p:txBody>
      </p:sp>
      <p:sp>
        <p:nvSpPr>
          <p:cNvPr id="9" name="Text 6"/>
          <p:cNvSpPr/>
          <p:nvPr/>
        </p:nvSpPr>
        <p:spPr>
          <a:xfrm>
            <a:off x="9418320" y="1737360"/>
            <a:ext cx="2194560" cy="685800"/>
          </a:xfrm>
          <a:prstGeom prst="rect">
            <a:avLst/>
          </a:prstGeom>
          <a:noFill/>
          <a:ln/>
        </p:spPr>
        <p:txBody>
          <a:bodyPr wrap="square" lIns="0" tIns="0" rIns="0" bIns="0" rtlCol="0" anchor="b"/>
          <a:lstStyle/>
          <a:p>
            <a:pPr indent="0" marL="0">
              <a:buNone/>
            </a:pPr>
            <a:r>
              <a:rPr lang="en-US" sz="2600" b="1" dirty="0">
                <a:solidFill>
                  <a:srgbClr val="F1F2ED"/>
                </a:solidFill>
                <a:latin typeface="Arial" pitchFamily="34" charset="0"/>
                <a:ea typeface="Arial" pitchFamily="34" charset="-122"/>
                <a:cs typeface="Arial" pitchFamily="34" charset="-120"/>
              </a:rPr>
              <a:t>−0.14 → 0.23</a:t>
            </a:r>
            <a:endParaRPr lang="en-US" sz="2600" dirty="0"/>
          </a:p>
        </p:txBody>
      </p:sp>
      <p:sp>
        <p:nvSpPr>
          <p:cNvPr id="10" name="Text 7"/>
          <p:cNvSpPr/>
          <p:nvPr/>
        </p:nvSpPr>
        <p:spPr>
          <a:xfrm>
            <a:off x="9418320" y="2450592"/>
            <a:ext cx="2194560" cy="548640"/>
          </a:xfrm>
          <a:prstGeom prst="rect">
            <a:avLst/>
          </a:prstGeom>
          <a:noFill/>
          <a:ln/>
        </p:spPr>
        <p:txBody>
          <a:bodyPr wrap="square" lIns="0" tIns="0" rIns="0" bIns="0" rtlCol="0" anchor="t"/>
          <a:lstStyle/>
          <a:p>
            <a:pPr indent="0" marL="0">
              <a:buNone/>
            </a:pPr>
            <a:r>
              <a:rPr lang="en-US" sz="1200" dirty="0">
                <a:solidFill>
                  <a:srgbClr val="9A9F9B"/>
                </a:solidFill>
                <a:latin typeface="Arial" pitchFamily="34" charset="0"/>
                <a:ea typeface="Arial" pitchFamily="34" charset="-122"/>
                <a:cs typeface="Arial" pitchFamily="34" charset="-120"/>
              </a:rPr>
              <a:t>Same model, Test 2 (unseen biomass)</a:t>
            </a:r>
            <a:endParaRPr lang="en-US" sz="1200" dirty="0"/>
          </a:p>
        </p:txBody>
      </p:sp>
      <p:sp>
        <p:nvSpPr>
          <p:cNvPr id="11" name="Text 8"/>
          <p:cNvSpPr/>
          <p:nvPr/>
        </p:nvSpPr>
        <p:spPr>
          <a:xfrm>
            <a:off x="7132320" y="3383280"/>
            <a:ext cx="4480560" cy="2560320"/>
          </a:xfrm>
          <a:prstGeom prst="rect">
            <a:avLst/>
          </a:prstGeom>
          <a:noFill/>
          <a:ln/>
        </p:spPr>
        <p:txBody>
          <a:bodyPr wrap="square" rtlCol="0" anchor="t"/>
          <a:lstStyle/>
          <a:p>
            <a:pPr marL="342900" indent="-342900">
              <a:spcAft>
                <a:spcPts val="800"/>
              </a:spcAft>
              <a:buSzPct val="100000"/>
              <a:buChar char="■"/>
            </a:pPr>
            <a:r>
              <a:rPr lang="en-US" sz="1400" dirty="0">
                <a:solidFill>
                  <a:srgbClr val="F1F2ED"/>
                </a:solidFill>
                <a:latin typeface="Arial" pitchFamily="34" charset="0"/>
                <a:ea typeface="Arial" pitchFamily="34" charset="-122"/>
                <a:cs typeface="Arial" pitchFamily="34" charset="-120"/>
              </a:rPr>
              <a:t>Chan et al. (1985) Arrhenius kinetics: wood → gas / tar / char</a:t>
            </a:r>
            <a:endParaRPr lang="en-US" sz="1400" dirty="0"/>
          </a:p>
          <a:p>
            <a:pPr marL="342900" indent="-342900">
              <a:spcAft>
                <a:spcPts val="800"/>
              </a:spcAft>
              <a:buSzPct val="100000"/>
              <a:buChar char="■"/>
            </a:pPr>
            <a:r>
              <a:rPr lang="en-US" sz="1400" dirty="0">
                <a:solidFill>
                  <a:srgbClr val="F1F2ED"/>
                </a:solidFill>
                <a:latin typeface="Arial" pitchFamily="34" charset="0"/>
                <a:ea typeface="Arial" pitchFamily="34" charset="-122"/>
                <a:cs typeface="Arial" pitchFamily="34" charset="-120"/>
              </a:rPr>
              <a:t>Kinetic tar share and pyrolysis number at each temperature</a:t>
            </a:r>
            <a:endParaRPr lang="en-US" sz="1400" dirty="0"/>
          </a:p>
          <a:p>
            <a:pPr marL="342900" indent="-342900">
              <a:spcAft>
                <a:spcPts val="800"/>
              </a:spcAft>
              <a:buSzPct val="100000"/>
              <a:buChar char="■"/>
            </a:pPr>
            <a:r>
              <a:rPr lang="en-US" sz="1400" dirty="0">
                <a:solidFill>
                  <a:srgbClr val="F1F2ED"/>
                </a:solidFill>
                <a:latin typeface="Arial" pitchFamily="34" charset="0"/>
                <a:ea typeface="Arial" pitchFamily="34" charset="-122"/>
                <a:cs typeface="Arial" pitchFamily="34" charset="-120"/>
              </a:rPr>
              <a:t>Heating-regime and thermal-severity indices</a:t>
            </a:r>
            <a:endParaRPr lang="en-US" sz="1400" dirty="0"/>
          </a:p>
          <a:p>
            <a:pPr marL="342900" indent="-342900">
              <a:spcAft>
                <a:spcPts val="800"/>
              </a:spcAft>
              <a:buSzPct val="100000"/>
              <a:buChar char="■"/>
            </a:pPr>
            <a:r>
              <a:rPr lang="en-US" sz="1400" dirty="0">
                <a:solidFill>
                  <a:srgbClr val="F1F2ED"/>
                </a:solidFill>
                <a:latin typeface="Arial" pitchFamily="34" charset="0"/>
                <a:ea typeface="Arial" pitchFamily="34" charset="-122"/>
                <a:cs typeface="Arial" pitchFamily="34" charset="-120"/>
              </a:rPr>
              <a:t>Molar O/C, H/C and effective H/C of the feedstock</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100" b="1" spc="300" kern="0" dirty="0">
                <a:solidFill>
                  <a:srgbClr val="C9F36B"/>
                </a:solidFill>
                <a:latin typeface="Consolas" pitchFamily="34" charset="0"/>
                <a:ea typeface="Consolas" pitchFamily="34" charset="-122"/>
                <a:cs typeface="Consolas" pitchFamily="34" charset="-120"/>
              </a:rPr>
              <a:t>RESULT 4 · PHYSICS CONSISTENCY</a:t>
            </a:r>
            <a:endParaRPr lang="en-US" sz="1100" dirty="0"/>
          </a:p>
        </p:txBody>
      </p:sp>
      <p:sp>
        <p:nvSpPr>
          <p:cNvPr id="3" name="Text 1"/>
          <p:cNvSpPr/>
          <p:nvPr/>
        </p:nvSpPr>
        <p:spPr>
          <a:xfrm>
            <a:off x="548640" y="777240"/>
            <a:ext cx="11064240" cy="822960"/>
          </a:xfrm>
          <a:prstGeom prst="rect">
            <a:avLst/>
          </a:prstGeom>
          <a:noFill/>
          <a:ln/>
        </p:spPr>
        <p:txBody>
          <a:bodyPr wrap="square" rtlCol="0" anchor="t"/>
          <a:lstStyle/>
          <a:p>
            <a:pPr indent="0" marL="0">
              <a:buNone/>
            </a:pPr>
            <a:r>
              <a:rPr lang="en-US" sz="3000" b="1" dirty="0">
                <a:solidFill>
                  <a:srgbClr val="F1F2ED"/>
                </a:solidFill>
                <a:latin typeface="Arial" pitchFamily="34" charset="0"/>
                <a:ea typeface="Arial" pitchFamily="34" charset="-122"/>
                <a:cs typeface="Arial" pitchFamily="34" charset="-120"/>
              </a:rPr>
              <a:t>The final models behave like real pyrolysis</a:t>
            </a:r>
            <a:endParaRPr lang="en-US" sz="3000" dirty="0"/>
          </a:p>
        </p:txBody>
      </p:sp>
      <p:sp>
        <p:nvSpPr>
          <p:cNvPr id="4" name="Shape 2"/>
          <p:cNvSpPr/>
          <p:nvPr/>
        </p:nvSpPr>
        <p:spPr>
          <a:xfrm>
            <a:off x="1051560" y="1691640"/>
            <a:ext cx="10058400" cy="3294126"/>
          </a:xfrm>
          <a:prstGeom prst="roundRect">
            <a:avLst>
              <a:gd name="adj" fmla="val 3331"/>
            </a:avLst>
          </a:prstGeom>
          <a:solidFill>
            <a:srgbClr val="FFFFFF"/>
          </a:solidFill>
          <a:ln w="12700">
            <a:solidFill>
              <a:srgbClr val="FFFFFF"/>
            </a:solidFill>
            <a:prstDash val="solid"/>
          </a:ln>
        </p:spPr>
      </p:sp>
      <p:pic>
        <p:nvPicPr>
          <p:cNvPr id="5" name="Image 0" descr="/home/user/BioOil-Automation/pyrolysis_advisor/results/figures/B1_physics.png">    </p:cNvPr>
          <p:cNvPicPr>
            <a:picLocks noChangeAspect="1"/>
          </p:cNvPicPr>
          <p:nvPr/>
        </p:nvPicPr>
        <p:blipFill>
          <a:blip r:embed="rId1"/>
          <a:stretch>
            <a:fillRect/>
          </a:stretch>
        </p:blipFill>
        <p:spPr>
          <a:xfrm>
            <a:off x="1161288" y="1801368"/>
            <a:ext cx="9838944" cy="3074670"/>
          </a:xfrm>
          <a:prstGeom prst="rect">
            <a:avLst/>
          </a:prstGeom>
        </p:spPr>
      </p:pic>
      <p:sp>
        <p:nvSpPr>
          <p:cNvPr id="6" name="Text 3"/>
          <p:cNvSpPr/>
          <p:nvPr/>
        </p:nvSpPr>
        <p:spPr>
          <a:xfrm>
            <a:off x="548640" y="5440680"/>
            <a:ext cx="3566160" cy="457200"/>
          </a:xfrm>
          <a:prstGeom prst="rect">
            <a:avLst/>
          </a:prstGeom>
          <a:noFill/>
          <a:ln/>
        </p:spPr>
        <p:txBody>
          <a:bodyPr wrap="square" lIns="0" tIns="0" rIns="0" bIns="0" rtlCol="0" anchor="ctr"/>
          <a:lstStyle/>
          <a:p>
            <a:pPr indent="0" marL="0">
              <a:buNone/>
            </a:pPr>
            <a:r>
              <a:rPr lang="en-US" sz="2400" b="1" dirty="0">
                <a:solidFill>
                  <a:srgbClr val="C9F36B"/>
                </a:solidFill>
                <a:latin typeface="Arial" pitchFamily="34" charset="0"/>
                <a:ea typeface="Arial" pitchFamily="34" charset="-122"/>
                <a:cs typeface="Arial" pitchFamily="34" charset="-120"/>
              </a:rPr>
              <a:t>525°C</a:t>
            </a:r>
            <a:endParaRPr lang="en-US" sz="2400" dirty="0"/>
          </a:p>
        </p:txBody>
      </p:sp>
      <p:sp>
        <p:nvSpPr>
          <p:cNvPr id="7" name="Text 4"/>
          <p:cNvSpPr/>
          <p:nvPr/>
        </p:nvSpPr>
        <p:spPr>
          <a:xfrm>
            <a:off x="548640" y="5852160"/>
            <a:ext cx="3566160" cy="502920"/>
          </a:xfrm>
          <a:prstGeom prst="rect">
            <a:avLst/>
          </a:prstGeom>
          <a:noFill/>
          <a:ln/>
        </p:spPr>
        <p:txBody>
          <a:bodyPr wrap="square" lIns="0" tIns="0" rIns="0" bIns="0" rtlCol="0" anchor="t"/>
          <a:lstStyle/>
          <a:p>
            <a:pPr indent="0" marL="0">
              <a:buNone/>
            </a:pPr>
            <a:r>
              <a:rPr lang="en-US" sz="1100" dirty="0">
                <a:solidFill>
                  <a:srgbClr val="9A9F9B"/>
                </a:solidFill>
                <a:latin typeface="Arial" pitchFamily="34" charset="0"/>
                <a:ea typeface="Arial" pitchFamily="34" charset="-122"/>
                <a:cs typeface="Arial" pitchFamily="34" charset="-120"/>
              </a:rPr>
              <a:t>Yield peak (41.6 wt%) — inside the literature 450–550°C optimum</a:t>
            </a:r>
            <a:endParaRPr lang="en-US" sz="1100" dirty="0"/>
          </a:p>
        </p:txBody>
      </p:sp>
      <p:sp>
        <p:nvSpPr>
          <p:cNvPr id="8" name="Text 5"/>
          <p:cNvSpPr/>
          <p:nvPr/>
        </p:nvSpPr>
        <p:spPr>
          <a:xfrm>
            <a:off x="4297680" y="5440680"/>
            <a:ext cx="3566160" cy="457200"/>
          </a:xfrm>
          <a:prstGeom prst="rect">
            <a:avLst/>
          </a:prstGeom>
          <a:noFill/>
          <a:ln/>
        </p:spPr>
        <p:txBody>
          <a:bodyPr wrap="square" lIns="0" tIns="0" rIns="0" bIns="0" rtlCol="0" anchor="ctr"/>
          <a:lstStyle/>
          <a:p>
            <a:pPr indent="0" marL="0">
              <a:buNone/>
            </a:pPr>
            <a:r>
              <a:rPr lang="en-US" sz="2400" b="1" dirty="0">
                <a:solidFill>
                  <a:srgbClr val="C9F36B"/>
                </a:solidFill>
                <a:latin typeface="Arial" pitchFamily="34" charset="0"/>
                <a:ea typeface="Arial" pitchFamily="34" charset="-122"/>
                <a:cs typeface="Arial" pitchFamily="34" charset="-120"/>
              </a:rPr>
              <a:t>51% → 69%</a:t>
            </a:r>
            <a:endParaRPr lang="en-US" sz="2400" dirty="0"/>
          </a:p>
        </p:txBody>
      </p:sp>
      <p:sp>
        <p:nvSpPr>
          <p:cNvPr id="9" name="Text 6"/>
          <p:cNvSpPr/>
          <p:nvPr/>
        </p:nvSpPr>
        <p:spPr>
          <a:xfrm>
            <a:off x="4297680" y="5852160"/>
            <a:ext cx="3566160" cy="502920"/>
          </a:xfrm>
          <a:prstGeom prst="rect">
            <a:avLst/>
          </a:prstGeom>
          <a:noFill/>
          <a:ln/>
        </p:spPr>
        <p:txBody>
          <a:bodyPr wrap="square" lIns="0" tIns="0" rIns="0" bIns="0" rtlCol="0" anchor="t"/>
          <a:lstStyle/>
          <a:p>
            <a:pPr indent="0" marL="0">
              <a:buNone/>
            </a:pPr>
            <a:r>
              <a:rPr lang="en-US" sz="1100" dirty="0">
                <a:solidFill>
                  <a:srgbClr val="9A9F9B"/>
                </a:solidFill>
                <a:latin typeface="Arial" pitchFamily="34" charset="0"/>
                <a:ea typeface="Arial" pitchFamily="34" charset="-122"/>
                <a:cs typeface="Arial" pitchFamily="34" charset="-120"/>
              </a:rPr>
              <a:t>Tar selectivity rises 350→700°C, explaining the yield drop from vapour cracking</a:t>
            </a:r>
            <a:endParaRPr lang="en-US" sz="1100" dirty="0"/>
          </a:p>
        </p:txBody>
      </p:sp>
      <p:sp>
        <p:nvSpPr>
          <p:cNvPr id="10" name="Text 7"/>
          <p:cNvSpPr/>
          <p:nvPr/>
        </p:nvSpPr>
        <p:spPr>
          <a:xfrm>
            <a:off x="8046720" y="5440680"/>
            <a:ext cx="3566160" cy="457200"/>
          </a:xfrm>
          <a:prstGeom prst="rect">
            <a:avLst/>
          </a:prstGeom>
          <a:noFill/>
          <a:ln/>
        </p:spPr>
        <p:txBody>
          <a:bodyPr wrap="square" lIns="0" tIns="0" rIns="0" bIns="0" rtlCol="0" anchor="ctr"/>
          <a:lstStyle/>
          <a:p>
            <a:pPr indent="0" marL="0">
              <a:buNone/>
            </a:pPr>
            <a:r>
              <a:rPr lang="en-US" sz="2400" b="1" dirty="0">
                <a:solidFill>
                  <a:srgbClr val="C9F36B"/>
                </a:solidFill>
                <a:latin typeface="Arial" pitchFamily="34" charset="0"/>
                <a:ea typeface="Arial" pitchFamily="34" charset="-122"/>
                <a:cs typeface="Arial" pitchFamily="34" charset="-120"/>
              </a:rPr>
              <a:t>0.28 → 0.21</a:t>
            </a:r>
            <a:endParaRPr lang="en-US" sz="2400" dirty="0"/>
          </a:p>
        </p:txBody>
      </p:sp>
      <p:sp>
        <p:nvSpPr>
          <p:cNvPr id="11" name="Text 8"/>
          <p:cNvSpPr/>
          <p:nvPr/>
        </p:nvSpPr>
        <p:spPr>
          <a:xfrm>
            <a:off x="8046720" y="5852160"/>
            <a:ext cx="3566160" cy="502920"/>
          </a:xfrm>
          <a:prstGeom prst="rect">
            <a:avLst/>
          </a:prstGeom>
          <a:noFill/>
          <a:ln/>
        </p:spPr>
        <p:txBody>
          <a:bodyPr wrap="square" lIns="0" tIns="0" rIns="0" bIns="0" rtlCol="0" anchor="t"/>
          <a:lstStyle/>
          <a:p>
            <a:pPr indent="0" marL="0">
              <a:buNone/>
            </a:pPr>
            <a:r>
              <a:rPr lang="en-US" sz="1100" dirty="0">
                <a:solidFill>
                  <a:srgbClr val="9A9F9B"/>
                </a:solidFill>
                <a:latin typeface="Arial" pitchFamily="34" charset="0"/>
                <a:ea typeface="Arial" pitchFamily="34" charset="-122"/>
                <a:cs typeface="Arial" pitchFamily="34" charset="-120"/>
              </a:rPr>
              <a:t>O/C falls with temperature — stronger deoxygenation, never violated</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100" b="1" spc="300" kern="0" dirty="0">
                <a:solidFill>
                  <a:srgbClr val="C9F36B"/>
                </a:solidFill>
                <a:latin typeface="Consolas" pitchFamily="34" charset="0"/>
                <a:ea typeface="Consolas" pitchFamily="34" charset="-122"/>
                <a:cs typeface="Consolas" pitchFamily="34" charset="-120"/>
              </a:rPr>
              <a:t>TEST 2 · STRICTER CHECK ON UNSEEN BIOMASS</a:t>
            </a:r>
            <a:endParaRPr lang="en-US" sz="1100" dirty="0"/>
          </a:p>
        </p:txBody>
      </p:sp>
      <p:sp>
        <p:nvSpPr>
          <p:cNvPr id="3" name="Text 1"/>
          <p:cNvSpPr/>
          <p:nvPr/>
        </p:nvSpPr>
        <p:spPr>
          <a:xfrm>
            <a:off x="548640" y="777240"/>
            <a:ext cx="11064240" cy="822960"/>
          </a:xfrm>
          <a:prstGeom prst="rect">
            <a:avLst/>
          </a:prstGeom>
          <a:noFill/>
          <a:ln/>
        </p:spPr>
        <p:txBody>
          <a:bodyPr wrap="square" rtlCol="0" anchor="t"/>
          <a:lstStyle/>
          <a:p>
            <a:pPr indent="0" marL="0">
              <a:buNone/>
            </a:pPr>
            <a:r>
              <a:rPr lang="en-US" sz="3000" b="1" dirty="0">
                <a:solidFill>
                  <a:srgbClr val="F1F2ED"/>
                </a:solidFill>
                <a:latin typeface="Arial" pitchFamily="34" charset="0"/>
                <a:ea typeface="Arial" pitchFamily="34" charset="-122"/>
                <a:cs typeface="Arial" pitchFamily="34" charset="-120"/>
              </a:rPr>
              <a:t>Second test: a biomass the model has never seen</a:t>
            </a:r>
            <a:endParaRPr lang="en-US" sz="3000" dirty="0"/>
          </a:p>
        </p:txBody>
      </p:sp>
      <p:sp>
        <p:nvSpPr>
          <p:cNvPr id="4" name="Text 2"/>
          <p:cNvSpPr/>
          <p:nvPr/>
        </p:nvSpPr>
        <p:spPr>
          <a:xfrm>
            <a:off x="548640" y="1828800"/>
            <a:ext cx="3291840" cy="685800"/>
          </a:xfrm>
          <a:prstGeom prst="rect">
            <a:avLst/>
          </a:prstGeom>
          <a:noFill/>
          <a:ln/>
        </p:spPr>
        <p:txBody>
          <a:bodyPr wrap="square" lIns="0" tIns="0" rIns="0" bIns="0" rtlCol="0" anchor="b"/>
          <a:lstStyle/>
          <a:p>
            <a:pPr indent="0" marL="0">
              <a:buNone/>
            </a:pPr>
            <a:r>
              <a:rPr lang="en-US" sz="3600" b="1" dirty="0">
                <a:solidFill>
                  <a:srgbClr val="F1F2ED"/>
                </a:solidFill>
                <a:latin typeface="Arial" pitchFamily="34" charset="0"/>
                <a:ea typeface="Arial" pitchFamily="34" charset="-122"/>
                <a:cs typeface="Arial" pitchFamily="34" charset="-120"/>
              </a:rPr>
              <a:t>0.23</a:t>
            </a:r>
            <a:endParaRPr lang="en-US" sz="3600" dirty="0"/>
          </a:p>
        </p:txBody>
      </p:sp>
      <p:sp>
        <p:nvSpPr>
          <p:cNvPr id="5" name="Text 3"/>
          <p:cNvSpPr/>
          <p:nvPr/>
        </p:nvSpPr>
        <p:spPr>
          <a:xfrm>
            <a:off x="548640" y="2542032"/>
            <a:ext cx="3291840" cy="548640"/>
          </a:xfrm>
          <a:prstGeom prst="rect">
            <a:avLst/>
          </a:prstGeom>
          <a:noFill/>
          <a:ln/>
        </p:spPr>
        <p:txBody>
          <a:bodyPr wrap="square" lIns="0" tIns="0" rIns="0" bIns="0" rtlCol="0" anchor="t"/>
          <a:lstStyle/>
          <a:p>
            <a:pPr indent="0" marL="0">
              <a:buNone/>
            </a:pPr>
            <a:r>
              <a:rPr lang="en-US" sz="1200" dirty="0">
                <a:solidFill>
                  <a:srgbClr val="9A9F9B"/>
                </a:solidFill>
                <a:latin typeface="Arial" pitchFamily="34" charset="0"/>
                <a:ea typeface="Arial" pitchFamily="34" charset="-122"/>
                <a:cs typeface="Arial" pitchFamily="34" charset="-120"/>
              </a:rPr>
              <a:t>O/C R² when whole biomasses are held out (GPR)</a:t>
            </a:r>
            <a:endParaRPr lang="en-US" sz="1200" dirty="0"/>
          </a:p>
        </p:txBody>
      </p:sp>
      <p:sp>
        <p:nvSpPr>
          <p:cNvPr id="6" name="Text 4"/>
          <p:cNvSpPr/>
          <p:nvPr/>
        </p:nvSpPr>
        <p:spPr>
          <a:xfrm>
            <a:off x="548640" y="3291840"/>
            <a:ext cx="3291840" cy="685800"/>
          </a:xfrm>
          <a:prstGeom prst="rect">
            <a:avLst/>
          </a:prstGeom>
          <a:noFill/>
          <a:ln/>
        </p:spPr>
        <p:txBody>
          <a:bodyPr wrap="square" lIns="0" tIns="0" rIns="0" bIns="0" rtlCol="0" anchor="b"/>
          <a:lstStyle/>
          <a:p>
            <a:pPr indent="0" marL="0">
              <a:buNone/>
            </a:pPr>
            <a:r>
              <a:rPr lang="en-US" sz="3600" b="1" dirty="0">
                <a:solidFill>
                  <a:srgbClr val="F1F2ED"/>
                </a:solidFill>
                <a:latin typeface="Arial" pitchFamily="34" charset="0"/>
                <a:ea typeface="Arial" pitchFamily="34" charset="-122"/>
                <a:cs typeface="Arial" pitchFamily="34" charset="-120"/>
              </a:rPr>
              <a:t>0.66 → −0.18</a:t>
            </a:r>
            <a:endParaRPr lang="en-US" sz="3600" dirty="0"/>
          </a:p>
        </p:txBody>
      </p:sp>
      <p:sp>
        <p:nvSpPr>
          <p:cNvPr id="7" name="Text 5"/>
          <p:cNvSpPr/>
          <p:nvPr/>
        </p:nvSpPr>
        <p:spPr>
          <a:xfrm>
            <a:off x="548640" y="4005072"/>
            <a:ext cx="3291840" cy="548640"/>
          </a:xfrm>
          <a:prstGeom prst="rect">
            <a:avLst/>
          </a:prstGeom>
          <a:noFill/>
          <a:ln/>
        </p:spPr>
        <p:txBody>
          <a:bodyPr wrap="square" lIns="0" tIns="0" rIns="0" bIns="0" rtlCol="0" anchor="t"/>
          <a:lstStyle/>
          <a:p>
            <a:pPr indent="0" marL="0">
              <a:buNone/>
            </a:pPr>
            <a:r>
              <a:rPr lang="en-US" sz="1200" dirty="0">
                <a:solidFill>
                  <a:srgbClr val="9A9F9B"/>
                </a:solidFill>
                <a:latin typeface="Arial" pitchFamily="34" charset="0"/>
                <a:ea typeface="Arial" pitchFamily="34" charset="-122"/>
                <a:cs typeface="Arial" pitchFamily="34" charset="-120"/>
              </a:rPr>
              <a:t>Yield R², Test 1 → Test 2 (XGBoost)</a:t>
            </a:r>
            <a:endParaRPr lang="en-US" sz="1200" dirty="0"/>
          </a:p>
        </p:txBody>
      </p:sp>
      <p:sp>
        <p:nvSpPr>
          <p:cNvPr id="8" name="Text 6"/>
          <p:cNvSpPr/>
          <p:nvPr/>
        </p:nvSpPr>
        <p:spPr>
          <a:xfrm>
            <a:off x="548640" y="4754880"/>
            <a:ext cx="3383280" cy="1280160"/>
          </a:xfrm>
          <a:prstGeom prst="rect">
            <a:avLst/>
          </a:prstGeom>
          <a:noFill/>
          <a:ln/>
        </p:spPr>
        <p:txBody>
          <a:bodyPr wrap="square" rtlCol="0" anchor="t"/>
          <a:lstStyle/>
          <a:p>
            <a:pPr indent="0" marL="0">
              <a:buNone/>
            </a:pPr>
            <a:r>
              <a:rPr lang="en-US" sz="1300" dirty="0">
                <a:solidFill>
                  <a:srgbClr val="9A9F9B"/>
                </a:solidFill>
                <a:latin typeface="Arial" pitchFamily="34" charset="0"/>
                <a:ea typeface="Arial" pitchFamily="34" charset="-122"/>
                <a:cs typeface="Arial" pitchFamily="34" charset="-120"/>
              </a:rPr>
              <a:t>Most published studies stop at Test 1. Holding out whole biomasses is harder, and the drop tells us when to calibrate with real experiments.</a:t>
            </a:r>
            <a:endParaRPr lang="en-US" sz="1300" dirty="0"/>
          </a:p>
        </p:txBody>
      </p:sp>
      <p:sp>
        <p:nvSpPr>
          <p:cNvPr id="9" name="Shape 7"/>
          <p:cNvSpPr/>
          <p:nvPr/>
        </p:nvSpPr>
        <p:spPr>
          <a:xfrm>
            <a:off x="4206240" y="1828800"/>
            <a:ext cx="7406640" cy="3435198"/>
          </a:xfrm>
          <a:prstGeom prst="roundRect">
            <a:avLst>
              <a:gd name="adj" fmla="val 3194"/>
            </a:avLst>
          </a:prstGeom>
          <a:solidFill>
            <a:srgbClr val="FFFFFF"/>
          </a:solidFill>
          <a:ln w="12700">
            <a:solidFill>
              <a:srgbClr val="FFFFFF"/>
            </a:solidFill>
            <a:prstDash val="solid"/>
          </a:ln>
        </p:spPr>
      </p:sp>
      <p:pic>
        <p:nvPicPr>
          <p:cNvPr id="10" name="Image 0" descr="/home/user/BioOil-Automation/pyrolysis_advisor/results/figures/A1_leakage.png">    </p:cNvPr>
          <p:cNvPicPr>
            <a:picLocks noChangeAspect="1"/>
          </p:cNvPicPr>
          <p:nvPr/>
        </p:nvPicPr>
        <p:blipFill>
          <a:blip r:embed="rId1"/>
          <a:stretch>
            <a:fillRect/>
          </a:stretch>
        </p:blipFill>
        <p:spPr>
          <a:xfrm>
            <a:off x="4315968" y="1938528"/>
            <a:ext cx="7187184" cy="3215742"/>
          </a:xfrm>
          <a:prstGeom prst="rect">
            <a:avLst/>
          </a:prstGeom>
        </p:spPr>
      </p:pic>
      <p:sp>
        <p:nvSpPr>
          <p:cNvPr id="11" name="Text 8"/>
          <p:cNvSpPr/>
          <p:nvPr/>
        </p:nvSpPr>
        <p:spPr>
          <a:xfrm>
            <a:off x="4206240" y="5349240"/>
            <a:ext cx="7406640" cy="274320"/>
          </a:xfrm>
          <a:prstGeom prst="rect">
            <a:avLst/>
          </a:prstGeom>
          <a:noFill/>
          <a:ln/>
        </p:spPr>
        <p:txBody>
          <a:bodyPr wrap="square" rtlCol="0" anchor="ctr"/>
          <a:lstStyle/>
          <a:p>
            <a:pPr indent="0" marL="0">
              <a:buNone/>
            </a:pPr>
            <a:r>
              <a:rPr lang="en-US" sz="1000" dirty="0">
                <a:solidFill>
                  <a:srgbClr val="6B716E"/>
                </a:solidFill>
                <a:latin typeface="Consolas" pitchFamily="34" charset="0"/>
                <a:ea typeface="Consolas" pitchFamily="34" charset="-122"/>
                <a:cs typeface="Consolas" pitchFamily="34" charset="-120"/>
              </a:rPr>
              <a:t>Figure: test R² for Test 1 (random split) vs Test 2 (grouped by biomass)</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100" b="1" spc="300" kern="0" dirty="0">
                <a:solidFill>
                  <a:srgbClr val="C9F36B"/>
                </a:solidFill>
                <a:latin typeface="Consolas" pitchFamily="34" charset="0"/>
                <a:ea typeface="Consolas" pitchFamily="34" charset="-122"/>
                <a:cs typeface="Consolas" pitchFamily="34" charset="-120"/>
              </a:rPr>
              <a:t>RESULT 5 · UNCERTAINTY AND CALIBRATION</a:t>
            </a:r>
            <a:endParaRPr lang="en-US" sz="1100" dirty="0"/>
          </a:p>
        </p:txBody>
      </p:sp>
      <p:sp>
        <p:nvSpPr>
          <p:cNvPr id="3" name="Text 1"/>
          <p:cNvSpPr/>
          <p:nvPr/>
        </p:nvSpPr>
        <p:spPr>
          <a:xfrm>
            <a:off x="548640" y="777240"/>
            <a:ext cx="11064240" cy="822960"/>
          </a:xfrm>
          <a:prstGeom prst="rect">
            <a:avLst/>
          </a:prstGeom>
          <a:noFill/>
          <a:ln/>
        </p:spPr>
        <p:txBody>
          <a:bodyPr wrap="square" rtlCol="0" anchor="t"/>
          <a:lstStyle/>
          <a:p>
            <a:pPr indent="0" marL="0">
              <a:buNone/>
            </a:pPr>
            <a:r>
              <a:rPr lang="en-US" sz="3000" b="1" dirty="0">
                <a:solidFill>
                  <a:srgbClr val="F1F2ED"/>
                </a:solidFill>
                <a:latin typeface="Arial" pitchFamily="34" charset="0"/>
                <a:ea typeface="Arial" pitchFamily="34" charset="-122"/>
                <a:cs typeface="Arial" pitchFamily="34" charset="-120"/>
              </a:rPr>
              <a:t>One or two real experiments sharply cut the error</a:t>
            </a:r>
            <a:endParaRPr lang="en-US" sz="3000" dirty="0"/>
          </a:p>
        </p:txBody>
      </p:sp>
      <p:sp>
        <p:nvSpPr>
          <p:cNvPr id="4" name="Shape 2"/>
          <p:cNvSpPr/>
          <p:nvPr/>
        </p:nvSpPr>
        <p:spPr>
          <a:xfrm>
            <a:off x="548640" y="1828800"/>
            <a:ext cx="6217920" cy="3411826"/>
          </a:xfrm>
          <a:prstGeom prst="roundRect">
            <a:avLst>
              <a:gd name="adj" fmla="val 3216"/>
            </a:avLst>
          </a:prstGeom>
          <a:solidFill>
            <a:srgbClr val="FFFFFF"/>
          </a:solidFill>
          <a:ln w="12700">
            <a:solidFill>
              <a:srgbClr val="FFFFFF"/>
            </a:solidFill>
            <a:prstDash val="solid"/>
          </a:ln>
        </p:spPr>
      </p:sp>
      <p:pic>
        <p:nvPicPr>
          <p:cNvPr id="5" name="Image 0" descr="/home/user/BioOil-Automation/pyrolysis_advisor/results/figures/B2_calibration.png">    </p:cNvPr>
          <p:cNvPicPr>
            <a:picLocks noChangeAspect="1"/>
          </p:cNvPicPr>
          <p:nvPr/>
        </p:nvPicPr>
        <p:blipFill>
          <a:blip r:embed="rId1"/>
          <a:stretch>
            <a:fillRect/>
          </a:stretch>
        </p:blipFill>
        <p:spPr>
          <a:xfrm>
            <a:off x="658368" y="1938528"/>
            <a:ext cx="5998464" cy="3192370"/>
          </a:xfrm>
          <a:prstGeom prst="rect">
            <a:avLst/>
          </a:prstGeom>
        </p:spPr>
      </p:pic>
      <p:sp>
        <p:nvSpPr>
          <p:cNvPr id="6" name="Text 3"/>
          <p:cNvSpPr/>
          <p:nvPr/>
        </p:nvSpPr>
        <p:spPr>
          <a:xfrm>
            <a:off x="7315200" y="1828800"/>
            <a:ext cx="4297680" cy="685800"/>
          </a:xfrm>
          <a:prstGeom prst="rect">
            <a:avLst/>
          </a:prstGeom>
          <a:noFill/>
          <a:ln/>
        </p:spPr>
        <p:txBody>
          <a:bodyPr wrap="square" lIns="0" tIns="0" rIns="0" bIns="0" rtlCol="0" anchor="b"/>
          <a:lstStyle/>
          <a:p>
            <a:pPr indent="0" marL="0">
              <a:buNone/>
            </a:pPr>
            <a:r>
              <a:rPr lang="en-US" sz="3600" b="1" dirty="0">
                <a:solidFill>
                  <a:srgbClr val="C9F36B"/>
                </a:solidFill>
                <a:latin typeface="Arial" pitchFamily="34" charset="0"/>
                <a:ea typeface="Arial" pitchFamily="34" charset="-122"/>
                <a:cs typeface="Arial" pitchFamily="34" charset="-120"/>
              </a:rPr>
              <a:t>~8 → 5.3 → 4.2</a:t>
            </a:r>
            <a:endParaRPr lang="en-US" sz="3600" dirty="0"/>
          </a:p>
        </p:txBody>
      </p:sp>
      <p:sp>
        <p:nvSpPr>
          <p:cNvPr id="7" name="Text 4"/>
          <p:cNvSpPr/>
          <p:nvPr/>
        </p:nvSpPr>
        <p:spPr>
          <a:xfrm>
            <a:off x="7315200" y="2542032"/>
            <a:ext cx="4297680" cy="548640"/>
          </a:xfrm>
          <a:prstGeom prst="rect">
            <a:avLst/>
          </a:prstGeom>
          <a:noFill/>
          <a:ln/>
        </p:spPr>
        <p:txBody>
          <a:bodyPr wrap="square" lIns="0" tIns="0" rIns="0" bIns="0" rtlCol="0" anchor="t"/>
          <a:lstStyle/>
          <a:p>
            <a:pPr indent="0" marL="0">
              <a:buNone/>
            </a:pPr>
            <a:r>
              <a:rPr lang="en-US" sz="1200" dirty="0">
                <a:solidFill>
                  <a:srgbClr val="9A9F9B"/>
                </a:solidFill>
                <a:latin typeface="Arial" pitchFamily="34" charset="0"/>
                <a:ea typeface="Arial" pitchFamily="34" charset="-122"/>
                <a:cs typeface="Arial" pitchFamily="34" charset="-120"/>
              </a:rPr>
              <a:t>Average yield error (wt%) with 0, 1, 2 calibration experiments</a:t>
            </a:r>
            <a:endParaRPr lang="en-US" sz="1200" dirty="0"/>
          </a:p>
        </p:txBody>
      </p:sp>
      <p:sp>
        <p:nvSpPr>
          <p:cNvPr id="8" name="Text 5"/>
          <p:cNvSpPr/>
          <p:nvPr/>
        </p:nvSpPr>
        <p:spPr>
          <a:xfrm>
            <a:off x="7315200" y="3383280"/>
            <a:ext cx="4297680" cy="685800"/>
          </a:xfrm>
          <a:prstGeom prst="rect">
            <a:avLst/>
          </a:prstGeom>
          <a:noFill/>
          <a:ln/>
        </p:spPr>
        <p:txBody>
          <a:bodyPr wrap="square" lIns="0" tIns="0" rIns="0" bIns="0" rtlCol="0" anchor="b"/>
          <a:lstStyle/>
          <a:p>
            <a:pPr indent="0" marL="0">
              <a:buNone/>
            </a:pPr>
            <a:r>
              <a:rPr lang="en-US" sz="3600" b="1" dirty="0">
                <a:solidFill>
                  <a:srgbClr val="F1F2ED"/>
                </a:solidFill>
                <a:latin typeface="Arial" pitchFamily="34" charset="0"/>
                <a:ea typeface="Arial" pitchFamily="34" charset="-122"/>
                <a:cs typeface="Arial" pitchFamily="34" charset="-120"/>
              </a:rPr>
              <a:t>±12.6 wt%</a:t>
            </a:r>
            <a:endParaRPr lang="en-US" sz="3600" dirty="0"/>
          </a:p>
        </p:txBody>
      </p:sp>
      <p:sp>
        <p:nvSpPr>
          <p:cNvPr id="9" name="Text 6"/>
          <p:cNvSpPr/>
          <p:nvPr/>
        </p:nvSpPr>
        <p:spPr>
          <a:xfrm>
            <a:off x="7315200" y="4096512"/>
            <a:ext cx="4297680" cy="548640"/>
          </a:xfrm>
          <a:prstGeom prst="rect">
            <a:avLst/>
          </a:prstGeom>
          <a:noFill/>
          <a:ln/>
        </p:spPr>
        <p:txBody>
          <a:bodyPr wrap="square" lIns="0" tIns="0" rIns="0" bIns="0" rtlCol="0" anchor="t"/>
          <a:lstStyle/>
          <a:p>
            <a:pPr indent="0" marL="0">
              <a:buNone/>
            </a:pPr>
            <a:r>
              <a:rPr lang="en-US" sz="1200" dirty="0">
                <a:solidFill>
                  <a:srgbClr val="9A9F9B"/>
                </a:solidFill>
                <a:latin typeface="Arial" pitchFamily="34" charset="0"/>
                <a:ea typeface="Arial" pitchFamily="34" charset="-122"/>
                <a:cs typeface="Arial" pitchFamily="34" charset="-120"/>
              </a:rPr>
              <a:t>80% interval for a brand-new biomass (Test 2) with no experiments</a:t>
            </a:r>
            <a:endParaRPr lang="en-US" sz="1200" dirty="0"/>
          </a:p>
        </p:txBody>
      </p:sp>
      <p:sp>
        <p:nvSpPr>
          <p:cNvPr id="10" name="Text 7"/>
          <p:cNvSpPr/>
          <p:nvPr/>
        </p:nvSpPr>
        <p:spPr>
          <a:xfrm>
            <a:off x="7315200" y="4846320"/>
            <a:ext cx="4297680" cy="1097280"/>
          </a:xfrm>
          <a:prstGeom prst="rect">
            <a:avLst/>
          </a:prstGeom>
          <a:noFill/>
          <a:ln/>
        </p:spPr>
        <p:txBody>
          <a:bodyPr wrap="square" rtlCol="0" anchor="t"/>
          <a:lstStyle/>
          <a:p>
            <a:pPr indent="0" marL="0">
              <a:buNone/>
            </a:pPr>
            <a:r>
              <a:rPr lang="en-US" sz="1300" dirty="0">
                <a:solidFill>
                  <a:srgbClr val="9A9F9B"/>
                </a:solidFill>
                <a:latin typeface="Arial" pitchFamily="34" charset="0"/>
                <a:ea typeface="Arial" pitchFamily="34" charset="-122"/>
                <a:cs typeface="Arial" pitchFamily="34" charset="-120"/>
              </a:rPr>
              <a:t>Calibrated model beats simply reusing the measured value (5.7, 4.6 wt%) because it adds the learned response to conditions.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100" b="1" spc="300" kern="0" dirty="0">
                <a:solidFill>
                  <a:srgbClr val="C9F36B"/>
                </a:solidFill>
                <a:latin typeface="Consolas" pitchFamily="34" charset="0"/>
                <a:ea typeface="Consolas" pitchFamily="34" charset="-122"/>
                <a:cs typeface="Consolas" pitchFamily="34" charset="-120"/>
              </a:rPr>
              <a:t>RESULT 6 · CASE STUDIES</a:t>
            </a:r>
            <a:endParaRPr lang="en-US" sz="1100" dirty="0"/>
          </a:p>
        </p:txBody>
      </p:sp>
      <p:sp>
        <p:nvSpPr>
          <p:cNvPr id="3" name="Text 1"/>
          <p:cNvSpPr/>
          <p:nvPr/>
        </p:nvSpPr>
        <p:spPr>
          <a:xfrm>
            <a:off x="548640" y="777240"/>
            <a:ext cx="11064240" cy="822960"/>
          </a:xfrm>
          <a:prstGeom prst="rect">
            <a:avLst/>
          </a:prstGeom>
          <a:noFill/>
          <a:ln/>
        </p:spPr>
        <p:txBody>
          <a:bodyPr wrap="square" rtlCol="0" anchor="t"/>
          <a:lstStyle/>
          <a:p>
            <a:pPr indent="0" marL="0">
              <a:buNone/>
            </a:pPr>
            <a:r>
              <a:rPr lang="en-US" sz="3000" b="1" dirty="0">
                <a:solidFill>
                  <a:srgbClr val="F1F2ED"/>
                </a:solidFill>
                <a:latin typeface="Arial" pitchFamily="34" charset="0"/>
                <a:ea typeface="Arial" pitchFamily="34" charset="-122"/>
                <a:cs typeface="Arial" pitchFamily="34" charset="-120"/>
              </a:rPr>
              <a:t>Correct optimum temperature for 2 of 3 unseen biomasses</a:t>
            </a:r>
            <a:endParaRPr lang="en-US" sz="3000" dirty="0"/>
          </a:p>
        </p:txBody>
      </p:sp>
      <p:sp>
        <p:nvSpPr>
          <p:cNvPr id="4" name="Shape 2"/>
          <p:cNvSpPr/>
          <p:nvPr/>
        </p:nvSpPr>
        <p:spPr>
          <a:xfrm>
            <a:off x="1508760" y="1691640"/>
            <a:ext cx="9144000" cy="3008376"/>
          </a:xfrm>
          <a:prstGeom prst="roundRect">
            <a:avLst>
              <a:gd name="adj" fmla="val 3647"/>
            </a:avLst>
          </a:prstGeom>
          <a:solidFill>
            <a:srgbClr val="FFFFFF"/>
          </a:solidFill>
          <a:ln w="12700">
            <a:solidFill>
              <a:srgbClr val="FFFFFF"/>
            </a:solidFill>
            <a:prstDash val="solid"/>
          </a:ln>
        </p:spPr>
      </p:sp>
      <p:pic>
        <p:nvPicPr>
          <p:cNvPr id="5" name="Image 0" descr="/home/user/BioOil-Automation/pyrolysis_advisor/results/figures/B3_cases.png">    </p:cNvPr>
          <p:cNvPicPr>
            <a:picLocks noChangeAspect="1"/>
          </p:cNvPicPr>
          <p:nvPr/>
        </p:nvPicPr>
        <p:blipFill>
          <a:blip r:embed="rId1"/>
          <a:stretch>
            <a:fillRect/>
          </a:stretch>
        </p:blipFill>
        <p:spPr>
          <a:xfrm>
            <a:off x="1618488" y="1801368"/>
            <a:ext cx="8924544" cy="2788920"/>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4846320"/>
          <a:ext cx="11064240" cy="914400"/>
        </p:xfrm>
        <a:graphic>
          <a:graphicData uri="http://schemas.openxmlformats.org/drawingml/2006/table">
            <a:tbl>
              <a:tblPr/>
              <a:tblGrid>
                <a:gridCol w="3017520"/>
                <a:gridCol w="2011680"/>
                <a:gridCol w="2011680"/>
                <a:gridCol w="2011680"/>
                <a:gridCol w="2011680"/>
              </a:tblGrid>
              <a:tr h="310896">
                <a:tc>
                  <a:txBody>
                    <a:bodyPr/>
                    <a:lstStyle/>
                    <a:p>
                      <a:pPr indent="0" marL="0">
                        <a:buNone/>
                      </a:pPr>
                      <a:r>
                        <a:rPr lang="en-US" sz="1000" b="1" dirty="0">
                          <a:solidFill>
                            <a:srgbClr val="9A9F9B"/>
                          </a:solidFill>
                          <a:latin typeface="Consolas" pitchFamily="34" charset="0"/>
                          <a:ea typeface="Consolas" pitchFamily="34" charset="-122"/>
                          <a:cs typeface="Consolas" pitchFamily="34" charset="-120"/>
                        </a:rPr>
                        <a:t>Biomass</a:t>
                      </a:r>
                      <a:endParaRPr lang="en-US" sz="1000" dirty="0">
                        <a:latin typeface="Consolas" charset="0"/>
                        <a:ea typeface="Consolas" charset="0"/>
                        <a:cs typeface="Consolas"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C2122"/>
                    </a:solidFill>
                  </a:tcPr>
                </a:tc>
                <a:tc>
                  <a:txBody>
                    <a:bodyPr/>
                    <a:lstStyle/>
                    <a:p>
                      <a:pPr indent="0" marL="0">
                        <a:buNone/>
                      </a:pPr>
                      <a:r>
                        <a:rPr lang="en-US" sz="1000" b="1" dirty="0">
                          <a:solidFill>
                            <a:srgbClr val="9A9F9B"/>
                          </a:solidFill>
                          <a:latin typeface="Consolas" pitchFamily="34" charset="0"/>
                          <a:ea typeface="Consolas" pitchFamily="34" charset="-122"/>
                          <a:cs typeface="Consolas" pitchFamily="34" charset="-120"/>
                        </a:rPr>
                        <a:t>Real best T</a:t>
                      </a:r>
                      <a:endParaRPr lang="en-US" sz="1000" dirty="0">
                        <a:latin typeface="Consolas" charset="0"/>
                        <a:ea typeface="Consolas" charset="0"/>
                        <a:cs typeface="Consolas"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C2122"/>
                    </a:solidFill>
                  </a:tcPr>
                </a:tc>
                <a:tc>
                  <a:txBody>
                    <a:bodyPr/>
                    <a:lstStyle/>
                    <a:p>
                      <a:pPr indent="0" marL="0">
                        <a:buNone/>
                      </a:pPr>
                      <a:r>
                        <a:rPr lang="en-US" sz="1000" b="1" dirty="0">
                          <a:solidFill>
                            <a:srgbClr val="9A9F9B"/>
                          </a:solidFill>
                          <a:latin typeface="Consolas" pitchFamily="34" charset="0"/>
                          <a:ea typeface="Consolas" pitchFamily="34" charset="-122"/>
                          <a:cs typeface="Consolas" pitchFamily="34" charset="-120"/>
                        </a:rPr>
                        <a:t>Model best T</a:t>
                      </a:r>
                      <a:endParaRPr lang="en-US" sz="1000" dirty="0">
                        <a:latin typeface="Consolas" charset="0"/>
                        <a:ea typeface="Consolas" charset="0"/>
                        <a:cs typeface="Consolas"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C2122"/>
                    </a:solidFill>
                  </a:tcPr>
                </a:tc>
                <a:tc>
                  <a:txBody>
                    <a:bodyPr/>
                    <a:lstStyle/>
                    <a:p>
                      <a:pPr indent="0" marL="0">
                        <a:buNone/>
                      </a:pPr>
                      <a:r>
                        <a:rPr lang="en-US" sz="1000" b="1" dirty="0">
                          <a:solidFill>
                            <a:srgbClr val="9A9F9B"/>
                          </a:solidFill>
                          <a:latin typeface="Consolas" pitchFamily="34" charset="0"/>
                          <a:ea typeface="Consolas" pitchFamily="34" charset="-122"/>
                          <a:cs typeface="Consolas" pitchFamily="34" charset="-120"/>
                        </a:rPr>
                        <a:t>Error, 0 exp.</a:t>
                      </a:r>
                      <a:endParaRPr lang="en-US" sz="1000" dirty="0">
                        <a:latin typeface="Consolas" charset="0"/>
                        <a:ea typeface="Consolas" charset="0"/>
                        <a:cs typeface="Consolas"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C2122"/>
                    </a:solidFill>
                  </a:tcPr>
                </a:tc>
                <a:tc>
                  <a:txBody>
                    <a:bodyPr/>
                    <a:lstStyle/>
                    <a:p>
                      <a:pPr indent="0" marL="0">
                        <a:buNone/>
                      </a:pPr>
                      <a:r>
                        <a:rPr lang="en-US" sz="1000" b="1" dirty="0">
                          <a:solidFill>
                            <a:srgbClr val="9A9F9B"/>
                          </a:solidFill>
                          <a:latin typeface="Consolas" pitchFamily="34" charset="0"/>
                          <a:ea typeface="Consolas" pitchFamily="34" charset="-122"/>
                          <a:cs typeface="Consolas" pitchFamily="34" charset="-120"/>
                        </a:rPr>
                        <a:t>Error, 1 exp.</a:t>
                      </a:r>
                      <a:endParaRPr lang="en-US" sz="1000" dirty="0">
                        <a:latin typeface="Consolas" charset="0"/>
                        <a:ea typeface="Consolas" charset="0"/>
                        <a:cs typeface="Consolas"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C2122"/>
                    </a:solidFill>
                  </a:tcPr>
                </a:tc>
              </a:tr>
              <a:tr h="310896">
                <a:tc>
                  <a:txBody>
                    <a:bodyPr/>
                    <a:lstStyle/>
                    <a:p>
                      <a:pPr indent="0" marL="0">
                        <a:buNone/>
                      </a:pPr>
                      <a:r>
                        <a:rPr lang="en-US" sz="1200" dirty="0">
                          <a:solidFill>
                            <a:srgbClr val="F1F2ED"/>
                          </a:solidFill>
                          <a:latin typeface="Arial" pitchFamily="34" charset="0"/>
                          <a:ea typeface="Arial" pitchFamily="34" charset="-122"/>
                          <a:cs typeface="Arial" pitchFamily="34" charset="-120"/>
                        </a:rPr>
                        <a:t>11 (C 49%, O 34%)</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dirty="0">
                          <a:solidFill>
                            <a:srgbClr val="F1F2ED"/>
                          </a:solidFill>
                          <a:latin typeface="Arial" pitchFamily="34" charset="0"/>
                          <a:ea typeface="Arial" pitchFamily="34" charset="-122"/>
                          <a:cs typeface="Arial" pitchFamily="34" charset="-120"/>
                        </a:rPr>
                        <a:t>450°C</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dirty="0">
                          <a:solidFill>
                            <a:srgbClr val="F1F2ED"/>
                          </a:solidFill>
                          <a:latin typeface="Arial" pitchFamily="34" charset="0"/>
                          <a:ea typeface="Arial" pitchFamily="34" charset="-122"/>
                          <a:cs typeface="Arial" pitchFamily="34" charset="-120"/>
                        </a:rPr>
                        <a:t>450°C ✓</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dirty="0">
                          <a:solidFill>
                            <a:srgbClr val="F1F2ED"/>
                          </a:solidFill>
                          <a:latin typeface="Arial" pitchFamily="34" charset="0"/>
                          <a:ea typeface="Arial" pitchFamily="34" charset="-122"/>
                          <a:cs typeface="Arial" pitchFamily="34" charset="-120"/>
                        </a:rPr>
                        <a:t>6.6 wt%</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dirty="0">
                          <a:solidFill>
                            <a:srgbClr val="F1F2ED"/>
                          </a:solidFill>
                          <a:latin typeface="Arial" pitchFamily="34" charset="0"/>
                          <a:ea typeface="Arial" pitchFamily="34" charset="-122"/>
                          <a:cs typeface="Arial" pitchFamily="34" charset="-120"/>
                        </a:rPr>
                        <a:t>13.0 wt%</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r h="310896">
                <a:tc>
                  <a:txBody>
                    <a:bodyPr/>
                    <a:lstStyle/>
                    <a:p>
                      <a:pPr indent="0" marL="0">
                        <a:buNone/>
                      </a:pPr>
                      <a:r>
                        <a:rPr lang="en-US" sz="1200" dirty="0">
                          <a:solidFill>
                            <a:srgbClr val="F1F2ED"/>
                          </a:solidFill>
                          <a:latin typeface="Arial" pitchFamily="34" charset="0"/>
                          <a:ea typeface="Arial" pitchFamily="34" charset="-122"/>
                          <a:cs typeface="Arial" pitchFamily="34" charset="-120"/>
                        </a:rPr>
                        <a:t>108 (C 50%, O 45%)</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dirty="0">
                          <a:solidFill>
                            <a:srgbClr val="F1F2ED"/>
                          </a:solidFill>
                          <a:latin typeface="Arial" pitchFamily="34" charset="0"/>
                          <a:ea typeface="Arial" pitchFamily="34" charset="-122"/>
                          <a:cs typeface="Arial" pitchFamily="34" charset="-120"/>
                        </a:rPr>
                        <a:t>550°C</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dirty="0">
                          <a:solidFill>
                            <a:srgbClr val="F1F2ED"/>
                          </a:solidFill>
                          <a:latin typeface="Arial" pitchFamily="34" charset="0"/>
                          <a:ea typeface="Arial" pitchFamily="34" charset="-122"/>
                          <a:cs typeface="Arial" pitchFamily="34" charset="-120"/>
                        </a:rPr>
                        <a:t>550°C ✓</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dirty="0">
                          <a:solidFill>
                            <a:srgbClr val="F1F2ED"/>
                          </a:solidFill>
                          <a:latin typeface="Arial" pitchFamily="34" charset="0"/>
                          <a:ea typeface="Arial" pitchFamily="34" charset="-122"/>
                          <a:cs typeface="Arial" pitchFamily="34" charset="-120"/>
                        </a:rPr>
                        <a:t>5.6 wt%</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dirty="0">
                          <a:solidFill>
                            <a:srgbClr val="F1F2ED"/>
                          </a:solidFill>
                          <a:latin typeface="Arial" pitchFamily="34" charset="0"/>
                          <a:ea typeface="Arial" pitchFamily="34" charset="-122"/>
                          <a:cs typeface="Arial" pitchFamily="34" charset="-120"/>
                        </a:rPr>
                        <a:t>1.7 wt%</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r h="310896">
                <a:tc>
                  <a:txBody>
                    <a:bodyPr/>
                    <a:lstStyle/>
                    <a:p>
                      <a:pPr indent="0" marL="0">
                        <a:buNone/>
                      </a:pPr>
                      <a:r>
                        <a:rPr lang="en-US" sz="1200" dirty="0">
                          <a:solidFill>
                            <a:srgbClr val="F1F2ED"/>
                          </a:solidFill>
                          <a:latin typeface="Arial" pitchFamily="34" charset="0"/>
                          <a:ea typeface="Arial" pitchFamily="34" charset="-122"/>
                          <a:cs typeface="Arial" pitchFamily="34" charset="-120"/>
                        </a:rPr>
                        <a:t>99 (C 45%, O 47%)</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dirty="0">
                          <a:solidFill>
                            <a:srgbClr val="F1F2ED"/>
                          </a:solidFill>
                          <a:latin typeface="Arial" pitchFamily="34" charset="0"/>
                          <a:ea typeface="Arial" pitchFamily="34" charset="-122"/>
                          <a:cs typeface="Arial" pitchFamily="34" charset="-120"/>
                        </a:rPr>
                        <a:t>500°C</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dirty="0">
                          <a:solidFill>
                            <a:srgbClr val="F1F2ED"/>
                          </a:solidFill>
                          <a:latin typeface="Arial" pitchFamily="34" charset="0"/>
                          <a:ea typeface="Arial" pitchFamily="34" charset="-122"/>
                          <a:cs typeface="Arial" pitchFamily="34" charset="-120"/>
                        </a:rPr>
                        <a:t>600°C</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dirty="0">
                          <a:solidFill>
                            <a:srgbClr val="F1F2ED"/>
                          </a:solidFill>
                          <a:latin typeface="Arial" pitchFamily="34" charset="0"/>
                          <a:ea typeface="Arial" pitchFamily="34" charset="-122"/>
                          <a:cs typeface="Arial" pitchFamily="34" charset="-120"/>
                        </a:rPr>
                        <a:t>6.0 wt%</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200" dirty="0">
                          <a:solidFill>
                            <a:srgbClr val="F1F2ED"/>
                          </a:solidFill>
                          <a:latin typeface="Arial" pitchFamily="34" charset="0"/>
                          <a:ea typeface="Arial" pitchFamily="34" charset="-122"/>
                          <a:cs typeface="Arial" pitchFamily="34" charset="-120"/>
                        </a:rPr>
                        <a:t>1.9 wt%</a:t>
                      </a:r>
                      <a:endParaRPr lang="en-US" sz="12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100" b="1" spc="300" kern="0" dirty="0">
                <a:solidFill>
                  <a:srgbClr val="C9F36B"/>
                </a:solidFill>
                <a:latin typeface="Consolas" pitchFamily="34" charset="0"/>
                <a:ea typeface="Consolas" pitchFamily="34" charset="-122"/>
                <a:cs typeface="Consolas" pitchFamily="34" charset="-120"/>
              </a:rPr>
              <a:t>RESULT 7 · THE PYROLYSIS ADVISOR</a:t>
            </a:r>
            <a:endParaRPr lang="en-US" sz="1100" dirty="0"/>
          </a:p>
        </p:txBody>
      </p:sp>
      <p:sp>
        <p:nvSpPr>
          <p:cNvPr id="3" name="Text 1"/>
          <p:cNvSpPr/>
          <p:nvPr/>
        </p:nvSpPr>
        <p:spPr>
          <a:xfrm>
            <a:off x="548640" y="777240"/>
            <a:ext cx="11064240" cy="822960"/>
          </a:xfrm>
          <a:prstGeom prst="rect">
            <a:avLst/>
          </a:prstGeom>
          <a:noFill/>
          <a:ln/>
        </p:spPr>
        <p:txBody>
          <a:bodyPr wrap="square" rtlCol="0" anchor="t"/>
          <a:lstStyle/>
          <a:p>
            <a:pPr indent="0" marL="0">
              <a:buNone/>
            </a:pPr>
            <a:r>
              <a:rPr lang="en-US" sz="3000" b="1" dirty="0">
                <a:solidFill>
                  <a:srgbClr val="F1F2ED"/>
                </a:solidFill>
                <a:latin typeface="Arial" pitchFamily="34" charset="0"/>
                <a:ea typeface="Arial" pitchFamily="34" charset="-122"/>
                <a:cs typeface="Arial" pitchFamily="34" charset="-120"/>
              </a:rPr>
              <a:t>Recommendations that show the trade-off — and know their limits</a:t>
            </a:r>
            <a:endParaRPr lang="en-US" sz="3000" dirty="0"/>
          </a:p>
        </p:txBody>
      </p:sp>
      <p:sp>
        <p:nvSpPr>
          <p:cNvPr id="4" name="Shape 2"/>
          <p:cNvSpPr/>
          <p:nvPr/>
        </p:nvSpPr>
        <p:spPr>
          <a:xfrm>
            <a:off x="548640" y="1783080"/>
            <a:ext cx="4572000" cy="3445953"/>
          </a:xfrm>
          <a:prstGeom prst="roundRect">
            <a:avLst>
              <a:gd name="adj" fmla="val 3184"/>
            </a:avLst>
          </a:prstGeom>
          <a:solidFill>
            <a:srgbClr val="FFFFFF"/>
          </a:solidFill>
          <a:ln w="12700">
            <a:solidFill>
              <a:srgbClr val="FFFFFF"/>
            </a:solidFill>
            <a:prstDash val="solid"/>
          </a:ln>
        </p:spPr>
      </p:sp>
      <p:pic>
        <p:nvPicPr>
          <p:cNvPr id="5" name="Image 0" descr="/home/user/BioOil-Automation/pyrolysis_advisor/results/figures/B4_advisor_pine.png">    </p:cNvPr>
          <p:cNvPicPr>
            <a:picLocks noChangeAspect="1"/>
          </p:cNvPicPr>
          <p:nvPr/>
        </p:nvPicPr>
        <p:blipFill>
          <a:blip r:embed="rId1"/>
          <a:stretch>
            <a:fillRect/>
          </a:stretch>
        </p:blipFill>
        <p:spPr>
          <a:xfrm>
            <a:off x="658368" y="1892808"/>
            <a:ext cx="4352544" cy="3226497"/>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394960" y="1783080"/>
          <a:ext cx="6217920" cy="914400"/>
        </p:xfrm>
        <a:graphic>
          <a:graphicData uri="http://schemas.openxmlformats.org/drawingml/2006/table">
            <a:tbl>
              <a:tblPr/>
              <a:tblGrid>
                <a:gridCol w="1554480"/>
                <a:gridCol w="868680"/>
                <a:gridCol w="2148840"/>
                <a:gridCol w="1645920"/>
              </a:tblGrid>
              <a:tr h="566928">
                <a:tc>
                  <a:txBody>
                    <a:bodyPr/>
                    <a:lstStyle/>
                    <a:p>
                      <a:pPr indent="0" marL="0">
                        <a:buNone/>
                      </a:pPr>
                      <a:r>
                        <a:rPr lang="en-US" sz="1000" b="1" dirty="0">
                          <a:solidFill>
                            <a:srgbClr val="9A9F9B"/>
                          </a:solidFill>
                          <a:latin typeface="Consolas" pitchFamily="34" charset="0"/>
                          <a:ea typeface="Consolas" pitchFamily="34" charset="-122"/>
                          <a:cs typeface="Consolas" pitchFamily="34" charset="-120"/>
                        </a:rPr>
                        <a:t>Feedstock</a:t>
                      </a:r>
                      <a:endParaRPr lang="en-US" sz="1000" dirty="0">
                        <a:latin typeface="Consolas" charset="0"/>
                        <a:ea typeface="Consolas" charset="0"/>
                        <a:cs typeface="Consolas"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C2122"/>
                    </a:solidFill>
                  </a:tcPr>
                </a:tc>
                <a:tc>
                  <a:txBody>
                    <a:bodyPr/>
                    <a:lstStyle/>
                    <a:p>
                      <a:pPr indent="0" marL="0">
                        <a:buNone/>
                      </a:pPr>
                      <a:r>
                        <a:rPr lang="en-US" sz="1000" b="1" dirty="0">
                          <a:solidFill>
                            <a:srgbClr val="9A9F9B"/>
                          </a:solidFill>
                          <a:latin typeface="Consolas" pitchFamily="34" charset="0"/>
                          <a:ea typeface="Consolas" pitchFamily="34" charset="-122"/>
                          <a:cs typeface="Consolas" pitchFamily="34" charset="-120"/>
                        </a:rPr>
                        <a:t>Status</a:t>
                      </a:r>
                      <a:endParaRPr lang="en-US" sz="1000" dirty="0">
                        <a:latin typeface="Consolas" charset="0"/>
                        <a:ea typeface="Consolas" charset="0"/>
                        <a:cs typeface="Consolas"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C2122"/>
                    </a:solidFill>
                  </a:tcPr>
                </a:tc>
                <a:tc>
                  <a:txBody>
                    <a:bodyPr/>
                    <a:lstStyle/>
                    <a:p>
                      <a:pPr indent="0" marL="0">
                        <a:buNone/>
                      </a:pPr>
                      <a:r>
                        <a:rPr lang="en-US" sz="1000" b="1" dirty="0">
                          <a:solidFill>
                            <a:srgbClr val="9A9F9B"/>
                          </a:solidFill>
                          <a:latin typeface="Consolas" pitchFamily="34" charset="0"/>
                          <a:ea typeface="Consolas" pitchFamily="34" charset="-122"/>
                          <a:cs typeface="Consolas" pitchFamily="34" charset="-120"/>
                        </a:rPr>
                        <a:t>Recommended</a:t>
                      </a:r>
                      <a:endParaRPr lang="en-US" sz="1000" dirty="0">
                        <a:latin typeface="Consolas" charset="0"/>
                        <a:ea typeface="Consolas" charset="0"/>
                        <a:cs typeface="Consolas"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C2122"/>
                    </a:solidFill>
                  </a:tcPr>
                </a:tc>
                <a:tc>
                  <a:txBody>
                    <a:bodyPr/>
                    <a:lstStyle/>
                    <a:p>
                      <a:pPr indent="0" marL="0">
                        <a:buNone/>
                      </a:pPr>
                      <a:r>
                        <a:rPr lang="en-US" sz="1000" b="1" dirty="0">
                          <a:solidFill>
                            <a:srgbClr val="9A9F9B"/>
                          </a:solidFill>
                          <a:latin typeface="Consolas" pitchFamily="34" charset="0"/>
                          <a:ea typeface="Consolas" pitchFamily="34" charset="-122"/>
                          <a:cs typeface="Consolas" pitchFamily="34" charset="-120"/>
                        </a:rPr>
                        <a:t>Max-yield alternative</a:t>
                      </a:r>
                      <a:endParaRPr lang="en-US" sz="1000" dirty="0">
                        <a:latin typeface="Consolas" charset="0"/>
                        <a:ea typeface="Consolas" charset="0"/>
                        <a:cs typeface="Consolas"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C2122"/>
                    </a:solidFill>
                  </a:tcPr>
                </a:tc>
              </a:tr>
              <a:tr h="566928">
                <a:tc>
                  <a:txBody>
                    <a:bodyPr/>
                    <a:lstStyle/>
                    <a:p>
                      <a:pPr indent="0" marL="0">
                        <a:buNone/>
                      </a:pPr>
                      <a:r>
                        <a:rPr lang="en-US" sz="1100" b="1" dirty="0">
                          <a:solidFill>
                            <a:srgbClr val="F1F2ED"/>
                          </a:solidFill>
                          <a:latin typeface="Arial" pitchFamily="34" charset="0"/>
                          <a:ea typeface="Arial" pitchFamily="34" charset="-122"/>
                          <a:cs typeface="Arial" pitchFamily="34" charset="-120"/>
                        </a:rPr>
                        <a:t>Pine-like wood</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100" dirty="0">
                          <a:solidFill>
                            <a:srgbClr val="C9F36B"/>
                          </a:solidFill>
                          <a:latin typeface="Arial" pitchFamily="34" charset="0"/>
                          <a:ea typeface="Arial" pitchFamily="34" charset="-122"/>
                          <a:cs typeface="Arial" pitchFamily="34" charset="-120"/>
                        </a:rPr>
                        <a:t>In range</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100" dirty="0">
                          <a:solidFill>
                            <a:srgbClr val="F1F2ED"/>
                          </a:solidFill>
                          <a:latin typeface="Arial" pitchFamily="34" charset="0"/>
                          <a:ea typeface="Arial" pitchFamily="34" charset="-122"/>
                          <a:cs typeface="Arial" pitchFamily="34" charset="-120"/>
                        </a:rPr>
                        <a:t>480°C, 300°C/min → 41.8 wt%, O/C 0.068</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100" dirty="0">
                          <a:solidFill>
                            <a:srgbClr val="F1F2ED"/>
                          </a:solidFill>
                          <a:latin typeface="Arial" pitchFamily="34" charset="0"/>
                          <a:ea typeface="Arial" pitchFamily="34" charset="-122"/>
                          <a:cs typeface="Arial" pitchFamily="34" charset="-120"/>
                        </a:rPr>
                        <a:t>570°C → 43.5 wt%, O/C 0.097</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r h="566928">
                <a:tc>
                  <a:txBody>
                    <a:bodyPr/>
                    <a:lstStyle/>
                    <a:p>
                      <a:pPr indent="0" marL="0">
                        <a:buNone/>
                      </a:pPr>
                      <a:r>
                        <a:rPr lang="en-US" sz="1100" b="1" dirty="0">
                          <a:solidFill>
                            <a:srgbClr val="F1F2ED"/>
                          </a:solidFill>
                          <a:latin typeface="Arial" pitchFamily="34" charset="0"/>
                          <a:ea typeface="Arial" pitchFamily="34" charset="-122"/>
                          <a:cs typeface="Arial" pitchFamily="34" charset="-120"/>
                        </a:rPr>
                        <a:t>Rice husk-like</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100" dirty="0">
                          <a:solidFill>
                            <a:srgbClr val="C9F36B"/>
                          </a:solidFill>
                          <a:latin typeface="Arial" pitchFamily="34" charset="0"/>
                          <a:ea typeface="Arial" pitchFamily="34" charset="-122"/>
                          <a:cs typeface="Arial" pitchFamily="34" charset="-120"/>
                        </a:rPr>
                        <a:t>In range</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100" dirty="0">
                          <a:solidFill>
                            <a:srgbClr val="F1F2ED"/>
                          </a:solidFill>
                          <a:latin typeface="Arial" pitchFamily="34" charset="0"/>
                          <a:ea typeface="Arial" pitchFamily="34" charset="-122"/>
                          <a:cs typeface="Arial" pitchFamily="34" charset="-120"/>
                        </a:rPr>
                        <a:t>510°C, 10°C/min → 41.6 wt%, O/C 0.062</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100" dirty="0">
                          <a:solidFill>
                            <a:srgbClr val="F1F2ED"/>
                          </a:solidFill>
                          <a:latin typeface="Arial" pitchFamily="34" charset="0"/>
                          <a:ea typeface="Arial" pitchFamily="34" charset="-122"/>
                          <a:cs typeface="Arial" pitchFamily="34" charset="-120"/>
                        </a:rPr>
                        <a:t>570°C → 44.7 wt%, O/C 0.113</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r h="566928">
                <a:tc>
                  <a:txBody>
                    <a:bodyPr/>
                    <a:lstStyle/>
                    <a:p>
                      <a:pPr indent="0" marL="0">
                        <a:buNone/>
                      </a:pPr>
                      <a:r>
                        <a:rPr lang="en-US" sz="1100" b="1" dirty="0">
                          <a:solidFill>
                            <a:srgbClr val="F1F2ED"/>
                          </a:solidFill>
                          <a:latin typeface="Arial" pitchFamily="34" charset="0"/>
                          <a:ea typeface="Arial" pitchFamily="34" charset="-122"/>
                          <a:cs typeface="Arial" pitchFamily="34" charset="-120"/>
                        </a:rPr>
                        <a:t>Microalgae-like (N 8.5%)</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100" dirty="0">
                          <a:solidFill>
                            <a:srgbClr val="FF8C8C"/>
                          </a:solidFill>
                          <a:latin typeface="Arial" pitchFamily="34" charset="0"/>
                          <a:ea typeface="Arial" pitchFamily="34" charset="-122"/>
                          <a:cs typeface="Arial" pitchFamily="34" charset="-120"/>
                        </a:rPr>
                        <a:t>Flagged</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100" dirty="0">
                          <a:solidFill>
                            <a:srgbClr val="F1F2ED"/>
                          </a:solidFill>
                          <a:latin typeface="Arial" pitchFamily="34" charset="0"/>
                          <a:ea typeface="Arial" pitchFamily="34" charset="-122"/>
                          <a:cs typeface="Arial" pitchFamily="34" charset="-120"/>
                        </a:rPr>
                        <a:t>Withheld — distance 0.52 &gt; 0.41</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100" dirty="0">
                          <a:solidFill>
                            <a:srgbClr val="F1F2ED"/>
                          </a:solidFill>
                          <a:latin typeface="Arial" pitchFamily="34" charset="0"/>
                          <a:ea typeface="Arial" pitchFamily="34" charset="-122"/>
                          <a:cs typeface="Arial" pitchFamily="34" charset="-120"/>
                        </a:rPr>
                        <a:t>Needs 1–2 experiments</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r h="566928">
                <a:tc>
                  <a:txBody>
                    <a:bodyPr/>
                    <a:lstStyle/>
                    <a:p>
                      <a:pPr indent="0" marL="0">
                        <a:buNone/>
                      </a:pPr>
                      <a:r>
                        <a:rPr lang="en-US" sz="1100" b="1" dirty="0">
                          <a:solidFill>
                            <a:srgbClr val="F1F2ED"/>
                          </a:solidFill>
                          <a:latin typeface="Arial" pitchFamily="34" charset="0"/>
                          <a:ea typeface="Arial" pitchFamily="34" charset="-122"/>
                          <a:cs typeface="Arial" pitchFamily="34" charset="-120"/>
                        </a:rPr>
                        <a:t>Coal-like (C 80%)</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100" dirty="0">
                          <a:solidFill>
                            <a:srgbClr val="FF8C8C"/>
                          </a:solidFill>
                          <a:latin typeface="Arial" pitchFamily="34" charset="0"/>
                          <a:ea typeface="Arial" pitchFamily="34" charset="-122"/>
                          <a:cs typeface="Arial" pitchFamily="34" charset="-120"/>
                        </a:rPr>
                        <a:t>Flagged</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100" dirty="0">
                          <a:solidFill>
                            <a:srgbClr val="F1F2ED"/>
                          </a:solidFill>
                          <a:latin typeface="Arial" pitchFamily="34" charset="0"/>
                          <a:ea typeface="Arial" pitchFamily="34" charset="-122"/>
                          <a:cs typeface="Arial" pitchFamily="34" charset="-120"/>
                        </a:rPr>
                        <a:t>Withheld — distance 1.20 &gt; 0.41</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indent="0" marL="0">
                        <a:buNone/>
                      </a:pPr>
                      <a:r>
                        <a:rPr lang="en-US" sz="1100" dirty="0">
                          <a:solidFill>
                            <a:srgbClr val="F1F2ED"/>
                          </a:solidFill>
                          <a:latin typeface="Arial" pitchFamily="34" charset="0"/>
                          <a:ea typeface="Arial" pitchFamily="34" charset="-122"/>
                          <a:cs typeface="Arial" pitchFamily="34" charset="-120"/>
                        </a:rPr>
                        <a:t>Not biomass</a:t>
                      </a:r>
                      <a:endParaRPr lang="en-US" sz="11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bl>
          </a:graphicData>
        </a:graphic>
      </p:graphicFrame>
      <p:sp>
        <p:nvSpPr>
          <p:cNvPr id="7" name="Text 3"/>
          <p:cNvSpPr/>
          <p:nvPr/>
        </p:nvSpPr>
        <p:spPr>
          <a:xfrm>
            <a:off x="548640" y="5486400"/>
            <a:ext cx="10972800" cy="457200"/>
          </a:xfrm>
          <a:prstGeom prst="rect">
            <a:avLst/>
          </a:prstGeom>
          <a:noFill/>
          <a:ln/>
        </p:spPr>
        <p:txBody>
          <a:bodyPr wrap="square" rtlCol="0" anchor="ctr"/>
          <a:lstStyle/>
          <a:p>
            <a:pPr indent="0" marL="0">
              <a:buNone/>
            </a:pPr>
            <a:r>
              <a:rPr lang="en-US" sz="1800" b="1" dirty="0">
                <a:solidFill>
                  <a:srgbClr val="C9F36B"/>
                </a:solidFill>
                <a:latin typeface="Arial" pitchFamily="34" charset="0"/>
                <a:ea typeface="Arial" pitchFamily="34" charset="-122"/>
                <a:cs typeface="Arial" pitchFamily="34" charset="-120"/>
              </a:rPr>
              <a:t>For pine, the last 1.7 wt% of yield costs about 40% more oxygen in the oil.</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100" b="1" spc="300" kern="0" dirty="0">
                <a:solidFill>
                  <a:srgbClr val="C9F36B"/>
                </a:solidFill>
                <a:latin typeface="Consolas" pitchFamily="34" charset="0"/>
                <a:ea typeface="Consolas" pitchFamily="34" charset="-122"/>
                <a:cs typeface="Consolas" pitchFamily="34" charset="-120"/>
              </a:rPr>
              <a:t>WORKING MODEL · LIVE DEMO</a:t>
            </a:r>
            <a:endParaRPr lang="en-US" sz="1100" dirty="0"/>
          </a:p>
        </p:txBody>
      </p:sp>
      <p:sp>
        <p:nvSpPr>
          <p:cNvPr id="3" name="Text 1"/>
          <p:cNvSpPr/>
          <p:nvPr/>
        </p:nvSpPr>
        <p:spPr>
          <a:xfrm>
            <a:off x="548640" y="777240"/>
            <a:ext cx="11064240" cy="822960"/>
          </a:xfrm>
          <a:prstGeom prst="rect">
            <a:avLst/>
          </a:prstGeom>
          <a:noFill/>
          <a:ln/>
        </p:spPr>
        <p:txBody>
          <a:bodyPr wrap="square" rtlCol="0" anchor="t"/>
          <a:lstStyle/>
          <a:p>
            <a:pPr indent="0" marL="0">
              <a:buNone/>
            </a:pPr>
            <a:r>
              <a:rPr lang="en-US" sz="3000" b="1" dirty="0">
                <a:solidFill>
                  <a:srgbClr val="F1F2ED"/>
                </a:solidFill>
                <a:latin typeface="Arial" pitchFamily="34" charset="0"/>
                <a:ea typeface="Arial" pitchFamily="34" charset="-122"/>
                <a:cs typeface="Arial" pitchFamily="34" charset="-120"/>
              </a:rPr>
              <a:t>The Advisor as a web app</a:t>
            </a:r>
            <a:endParaRPr lang="en-US" sz="3000" dirty="0"/>
          </a:p>
        </p:txBody>
      </p:sp>
      <p:pic>
        <p:nvPicPr>
          <p:cNvPr id="4" name="Image 0" descr="/tmp/claude-0/-home-user-BioOil-Automation/5397d81f-6477-55ef-8890-ec0ebaf31f4d/scratchpad/deck/shots/hero.png">    </p:cNvPr>
          <p:cNvPicPr>
            <a:picLocks noChangeAspect="1"/>
          </p:cNvPicPr>
          <p:nvPr/>
        </p:nvPicPr>
        <p:blipFill>
          <a:blip r:embed="rId1"/>
          <a:stretch>
            <a:fillRect/>
          </a:stretch>
        </p:blipFill>
        <p:spPr>
          <a:xfrm>
            <a:off x="548640" y="1737360"/>
            <a:ext cx="7498080" cy="4686300"/>
          </a:xfrm>
          <a:prstGeom prst="rect">
            <a:avLst/>
          </a:prstGeom>
        </p:spPr>
      </p:pic>
      <p:sp>
        <p:nvSpPr>
          <p:cNvPr id="5" name="Shape 2"/>
          <p:cNvSpPr/>
          <p:nvPr/>
        </p:nvSpPr>
        <p:spPr>
          <a:xfrm>
            <a:off x="548640" y="1737360"/>
            <a:ext cx="7498080" cy="4686300"/>
          </a:xfrm>
          <a:prstGeom prst="roundRect">
            <a:avLst>
              <a:gd name="adj" fmla="val 1951"/>
            </a:avLst>
          </a:prstGeom>
          <a:ln w="12700">
            <a:solidFill>
              <a:srgbClr val="2A3031"/>
            </a:solidFill>
            <a:prstDash val="solid"/>
          </a:ln>
        </p:spPr>
      </p:sp>
      <p:sp>
        <p:nvSpPr>
          <p:cNvPr id="6" name="Text 3"/>
          <p:cNvSpPr/>
          <p:nvPr/>
        </p:nvSpPr>
        <p:spPr>
          <a:xfrm>
            <a:off x="8412480" y="1828800"/>
            <a:ext cx="3200400" cy="4114800"/>
          </a:xfrm>
          <a:prstGeom prst="rect">
            <a:avLst/>
          </a:prstGeom>
          <a:noFill/>
          <a:ln/>
        </p:spPr>
        <p:txBody>
          <a:bodyPr wrap="square" rtlCol="0" anchor="t"/>
          <a:lstStyle/>
          <a:p>
            <a:pPr marL="342900" indent="-342900">
              <a:spcAft>
                <a:spcPts val="800"/>
              </a:spcAft>
              <a:buSzPct val="100000"/>
              <a:buChar char="■"/>
            </a:pPr>
            <a:r>
              <a:rPr lang="en-US" sz="1500" dirty="0">
                <a:solidFill>
                  <a:srgbClr val="F1F2ED"/>
                </a:solidFill>
                <a:latin typeface="Arial" pitchFamily="34" charset="0"/>
                <a:ea typeface="Arial" pitchFamily="34" charset="-122"/>
                <a:cs typeface="Arial" pitchFamily="34" charset="-120"/>
              </a:rPr>
              <a:t>React + TypeScript web app</a:t>
            </a:r>
            <a:endParaRPr lang="en-US" sz="1500" dirty="0"/>
          </a:p>
          <a:p>
            <a:pPr marL="342900" indent="-342900">
              <a:spcAft>
                <a:spcPts val="800"/>
              </a:spcAft>
              <a:buSzPct val="100000"/>
              <a:buChar char="■"/>
            </a:pPr>
            <a:r>
              <a:rPr lang="en-US" sz="1500" dirty="0">
                <a:solidFill>
                  <a:srgbClr val="F1F2ED"/>
                </a:solidFill>
                <a:latin typeface="Arial" pitchFamily="34" charset="0"/>
                <a:ea typeface="Arial" pitchFamily="34" charset="-122"/>
                <a:cs typeface="Arial" pitchFamily="34" charset="-120"/>
              </a:rPr>
              <a:t>Pick a feedstock, review the recommended conditions, then accept or reject</a:t>
            </a:r>
            <a:endParaRPr lang="en-US" sz="1500" dirty="0"/>
          </a:p>
          <a:p>
            <a:pPr marL="342900" indent="-342900">
              <a:spcAft>
                <a:spcPts val="800"/>
              </a:spcAft>
              <a:buSzPct val="100000"/>
              <a:buChar char="■"/>
            </a:pPr>
            <a:r>
              <a:rPr lang="en-US" sz="1500" dirty="0">
                <a:solidFill>
                  <a:srgbClr val="F1F2ED"/>
                </a:solidFill>
                <a:latin typeface="Arial" pitchFamily="34" charset="0"/>
                <a:ea typeface="Arial" pitchFamily="34" charset="-122"/>
                <a:cs typeface="Arial" pitchFamily="34" charset="-120"/>
              </a:rPr>
              <a:t>Every screen states it uses sample results from our validation</a:t>
            </a:r>
            <a:endParaRPr lang="en-US" sz="1500" dirty="0"/>
          </a:p>
        </p:txBody>
      </p:sp>
      <p:sp>
        <p:nvSpPr>
          <p:cNvPr id="7" name="Text 4"/>
          <p:cNvSpPr/>
          <p:nvPr/>
        </p:nvSpPr>
        <p:spPr>
          <a:xfrm>
            <a:off x="8412480" y="5394960"/>
            <a:ext cx="3200400" cy="457200"/>
          </a:xfrm>
          <a:prstGeom prst="rect">
            <a:avLst/>
          </a:prstGeom>
          <a:noFill/>
          <a:ln/>
        </p:spPr>
        <p:txBody>
          <a:bodyPr wrap="square" rtlCol="0" anchor="ctr"/>
          <a:lstStyle/>
          <a:p>
            <a:pPr indent="0" marL="0">
              <a:buNone/>
            </a:pPr>
            <a:r>
              <a:rPr lang="en-US" sz="1000" dirty="0">
                <a:solidFill>
                  <a:srgbClr val="6B716E"/>
                </a:solidFill>
                <a:latin typeface="Consolas" pitchFamily="34" charset="0"/>
                <a:ea typeface="Consolas" pitchFamily="34" charset="-122"/>
                <a:cs typeface="Consolas" pitchFamily="34" charset="-120"/>
              </a:rPr>
              <a:t>Run locally: advisor-frontend → npm run dev</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100" b="1" spc="300" kern="0" dirty="0">
                <a:solidFill>
                  <a:srgbClr val="C9F36B"/>
                </a:solidFill>
                <a:latin typeface="Consolas" pitchFamily="34" charset="0"/>
                <a:ea typeface="Consolas" pitchFamily="34" charset="-122"/>
                <a:cs typeface="Consolas" pitchFamily="34" charset="-120"/>
              </a:rPr>
              <a:t>WORKING MODEL · DEMO FLOW</a:t>
            </a:r>
            <a:endParaRPr lang="en-US" sz="1100" dirty="0"/>
          </a:p>
        </p:txBody>
      </p:sp>
      <p:sp>
        <p:nvSpPr>
          <p:cNvPr id="3" name="Text 1"/>
          <p:cNvSpPr/>
          <p:nvPr/>
        </p:nvSpPr>
        <p:spPr>
          <a:xfrm>
            <a:off x="548640" y="777240"/>
            <a:ext cx="11064240" cy="822960"/>
          </a:xfrm>
          <a:prstGeom prst="rect">
            <a:avLst/>
          </a:prstGeom>
          <a:noFill/>
          <a:ln/>
        </p:spPr>
        <p:txBody>
          <a:bodyPr wrap="square" rtlCol="0" anchor="t"/>
          <a:lstStyle/>
          <a:p>
            <a:pPr indent="0" marL="0">
              <a:buNone/>
            </a:pPr>
            <a:r>
              <a:rPr lang="en-US" sz="3000" b="1" dirty="0">
                <a:solidFill>
                  <a:srgbClr val="F1F2ED"/>
                </a:solidFill>
                <a:latin typeface="Arial" pitchFamily="34" charset="0"/>
                <a:ea typeface="Arial" pitchFamily="34" charset="-122"/>
                <a:cs typeface="Arial" pitchFamily="34" charset="-120"/>
              </a:rPr>
              <a:t>Choose → review → decide</a:t>
            </a:r>
            <a:endParaRPr lang="en-US" sz="3000" dirty="0"/>
          </a:p>
        </p:txBody>
      </p:sp>
      <p:sp>
        <p:nvSpPr>
          <p:cNvPr id="4" name="Text 2"/>
          <p:cNvSpPr/>
          <p:nvPr/>
        </p:nvSpPr>
        <p:spPr>
          <a:xfrm>
            <a:off x="548640" y="1691640"/>
            <a:ext cx="3474720" cy="320040"/>
          </a:xfrm>
          <a:prstGeom prst="rect">
            <a:avLst/>
          </a:prstGeom>
          <a:noFill/>
          <a:ln/>
        </p:spPr>
        <p:txBody>
          <a:bodyPr wrap="square" rtlCol="0" anchor="ctr"/>
          <a:lstStyle/>
          <a:p>
            <a:pPr indent="0" marL="0">
              <a:buNone/>
            </a:pPr>
            <a:r>
              <a:rPr lang="en-US" sz="1100" b="1" dirty="0">
                <a:solidFill>
                  <a:srgbClr val="C9F36B"/>
                </a:solidFill>
                <a:latin typeface="Consolas" pitchFamily="34" charset="0"/>
                <a:ea typeface="Consolas" pitchFamily="34" charset="-122"/>
                <a:cs typeface="Consolas" pitchFamily="34" charset="-120"/>
              </a:rPr>
              <a:t>1  Choose a sample feedstock</a:t>
            </a:r>
            <a:endParaRPr lang="en-US" sz="1100" dirty="0"/>
          </a:p>
        </p:txBody>
      </p:sp>
      <p:pic>
        <p:nvPicPr>
          <p:cNvPr id="5" name="Image 0" descr="/tmp/claude-0/-home-user-BioOil-Automation/5397d81f-6477-55ef-8890-ec0ebaf31f4d/scratchpad/deck/shots/select.png">    </p:cNvPr>
          <p:cNvPicPr>
            <a:picLocks noChangeAspect="1"/>
          </p:cNvPicPr>
          <p:nvPr/>
        </p:nvPicPr>
        <p:blipFill>
          <a:blip r:embed="rId1"/>
          <a:stretch>
            <a:fillRect/>
          </a:stretch>
        </p:blipFill>
        <p:spPr>
          <a:xfrm>
            <a:off x="548640" y="2057400"/>
            <a:ext cx="3474720" cy="1737360"/>
          </a:xfrm>
          <a:prstGeom prst="rect">
            <a:avLst/>
          </a:prstGeom>
        </p:spPr>
      </p:pic>
      <p:sp>
        <p:nvSpPr>
          <p:cNvPr id="6" name="Shape 3"/>
          <p:cNvSpPr/>
          <p:nvPr/>
        </p:nvSpPr>
        <p:spPr>
          <a:xfrm>
            <a:off x="548640" y="2057400"/>
            <a:ext cx="3474720" cy="1737360"/>
          </a:xfrm>
          <a:prstGeom prst="roundRect">
            <a:avLst>
              <a:gd name="adj" fmla="val 5263"/>
            </a:avLst>
          </a:prstGeom>
          <a:ln w="12700">
            <a:solidFill>
              <a:srgbClr val="2A3031"/>
            </a:solidFill>
            <a:prstDash val="solid"/>
          </a:ln>
        </p:spPr>
      </p:sp>
      <p:sp>
        <p:nvSpPr>
          <p:cNvPr id="7" name="Text 4"/>
          <p:cNvSpPr/>
          <p:nvPr/>
        </p:nvSpPr>
        <p:spPr>
          <a:xfrm>
            <a:off x="548640" y="3931920"/>
            <a:ext cx="3474720" cy="1097280"/>
          </a:xfrm>
          <a:prstGeom prst="rect">
            <a:avLst/>
          </a:prstGeom>
          <a:noFill/>
          <a:ln/>
        </p:spPr>
        <p:txBody>
          <a:bodyPr wrap="square" rtlCol="0" anchor="t"/>
          <a:lstStyle/>
          <a:p>
            <a:pPr indent="0" marL="0">
              <a:buNone/>
            </a:pPr>
            <a:r>
              <a:rPr lang="en-US" sz="1300" dirty="0">
                <a:solidFill>
                  <a:srgbClr val="9A9F9B"/>
                </a:solidFill>
                <a:latin typeface="Arial" pitchFamily="34" charset="0"/>
                <a:ea typeface="Arial" pitchFamily="34" charset="-122"/>
                <a:cs typeface="Arial" pitchFamily="34" charset="-120"/>
              </a:rPr>
              <a:t>Two feedstocks are in range; two are flagged before any number is shown.</a:t>
            </a:r>
            <a:endParaRPr lang="en-US" sz="1300" dirty="0"/>
          </a:p>
        </p:txBody>
      </p:sp>
      <p:sp>
        <p:nvSpPr>
          <p:cNvPr id="8" name="Text 5"/>
          <p:cNvSpPr/>
          <p:nvPr/>
        </p:nvSpPr>
        <p:spPr>
          <a:xfrm>
            <a:off x="4343400" y="1691640"/>
            <a:ext cx="3588913" cy="320040"/>
          </a:xfrm>
          <a:prstGeom prst="rect">
            <a:avLst/>
          </a:prstGeom>
          <a:noFill/>
          <a:ln/>
        </p:spPr>
        <p:txBody>
          <a:bodyPr wrap="square" rtlCol="0" anchor="ctr"/>
          <a:lstStyle/>
          <a:p>
            <a:pPr indent="0" marL="0">
              <a:buNone/>
            </a:pPr>
            <a:r>
              <a:rPr lang="en-US" sz="1100" b="1" dirty="0">
                <a:solidFill>
                  <a:srgbClr val="C9F36B"/>
                </a:solidFill>
                <a:latin typeface="Consolas" pitchFamily="34" charset="0"/>
                <a:ea typeface="Consolas" pitchFamily="34" charset="-122"/>
                <a:cs typeface="Consolas" pitchFamily="34" charset="-120"/>
              </a:rPr>
              <a:t>2  Review recommendation and range</a:t>
            </a:r>
            <a:endParaRPr lang="en-US" sz="1100" dirty="0"/>
          </a:p>
        </p:txBody>
      </p:sp>
      <p:pic>
        <p:nvPicPr>
          <p:cNvPr id="9" name="Image 1" descr="/tmp/claude-0/-home-user-BioOil-Automation/5397d81f-6477-55ef-8890-ec0ebaf31f4d/scratchpad/deck/shots/review.png">    </p:cNvPr>
          <p:cNvPicPr>
            <a:picLocks noChangeAspect="1"/>
          </p:cNvPicPr>
          <p:nvPr/>
        </p:nvPicPr>
        <p:blipFill>
          <a:blip r:embed="rId2"/>
          <a:stretch>
            <a:fillRect/>
          </a:stretch>
        </p:blipFill>
        <p:spPr>
          <a:xfrm>
            <a:off x="4343400" y="2057400"/>
            <a:ext cx="3588913" cy="4023360"/>
          </a:xfrm>
          <a:prstGeom prst="rect">
            <a:avLst/>
          </a:prstGeom>
        </p:spPr>
      </p:pic>
      <p:sp>
        <p:nvSpPr>
          <p:cNvPr id="10" name="Shape 6"/>
          <p:cNvSpPr/>
          <p:nvPr/>
        </p:nvSpPr>
        <p:spPr>
          <a:xfrm>
            <a:off x="4343400" y="2057400"/>
            <a:ext cx="3588913" cy="4023360"/>
          </a:xfrm>
          <a:prstGeom prst="roundRect">
            <a:avLst>
              <a:gd name="adj" fmla="val 2548"/>
            </a:avLst>
          </a:prstGeom>
          <a:ln w="12700">
            <a:solidFill>
              <a:srgbClr val="2A3031"/>
            </a:solidFill>
            <a:prstDash val="solid"/>
          </a:ln>
        </p:spPr>
      </p:sp>
      <p:sp>
        <p:nvSpPr>
          <p:cNvPr id="11" name="Text 7"/>
          <p:cNvSpPr/>
          <p:nvPr/>
        </p:nvSpPr>
        <p:spPr>
          <a:xfrm>
            <a:off x="8160913" y="1691640"/>
            <a:ext cx="3588913" cy="320040"/>
          </a:xfrm>
          <a:prstGeom prst="rect">
            <a:avLst/>
          </a:prstGeom>
          <a:noFill/>
          <a:ln/>
        </p:spPr>
        <p:txBody>
          <a:bodyPr wrap="square" rtlCol="0" anchor="ctr"/>
          <a:lstStyle/>
          <a:p>
            <a:pPr indent="0" marL="0">
              <a:buNone/>
            </a:pPr>
            <a:r>
              <a:rPr lang="en-US" sz="1100" b="1" dirty="0">
                <a:solidFill>
                  <a:srgbClr val="C9F36B"/>
                </a:solidFill>
                <a:latin typeface="Consolas" pitchFamily="34" charset="0"/>
                <a:ea typeface="Consolas" pitchFamily="34" charset="-122"/>
                <a:cs typeface="Consolas" pitchFamily="34" charset="-120"/>
              </a:rPr>
              <a:t>3  Accept — result shown honestly</a:t>
            </a:r>
            <a:endParaRPr lang="en-US" sz="1100" dirty="0"/>
          </a:p>
        </p:txBody>
      </p:sp>
      <p:pic>
        <p:nvPicPr>
          <p:cNvPr id="12" name="Image 2" descr="/tmp/claude-0/-home-user-BioOil-Automation/5397d81f-6477-55ef-8890-ec0ebaf31f4d/scratchpad/deck/shots/approved.png">    </p:cNvPr>
          <p:cNvPicPr>
            <a:picLocks noChangeAspect="1"/>
          </p:cNvPicPr>
          <p:nvPr/>
        </p:nvPicPr>
        <p:blipFill>
          <a:blip r:embed="rId3"/>
          <a:stretch>
            <a:fillRect/>
          </a:stretch>
        </p:blipFill>
        <p:spPr>
          <a:xfrm>
            <a:off x="8160913" y="2057400"/>
            <a:ext cx="3588913" cy="4023360"/>
          </a:xfrm>
          <a:prstGeom prst="rect">
            <a:avLst/>
          </a:prstGeom>
        </p:spPr>
      </p:pic>
      <p:sp>
        <p:nvSpPr>
          <p:cNvPr id="13" name="Shape 8"/>
          <p:cNvSpPr/>
          <p:nvPr/>
        </p:nvSpPr>
        <p:spPr>
          <a:xfrm>
            <a:off x="8160913" y="2057400"/>
            <a:ext cx="3588913" cy="4023360"/>
          </a:xfrm>
          <a:prstGeom prst="roundRect">
            <a:avLst>
              <a:gd name="adj" fmla="val 2548"/>
            </a:avLst>
          </a:prstGeom>
          <a:ln w="12700">
            <a:solidFill>
              <a:srgbClr val="2A3031"/>
            </a:solidFill>
            <a:prstDash val="solid"/>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100" b="1" spc="300" kern="0" dirty="0">
                <a:solidFill>
                  <a:srgbClr val="C9F36B"/>
                </a:solidFill>
                <a:latin typeface="Consolas" pitchFamily="34" charset="0"/>
                <a:ea typeface="Consolas" pitchFamily="34" charset="-122"/>
                <a:cs typeface="Consolas" pitchFamily="34" charset="-120"/>
              </a:rPr>
              <a:t>WORKING MODEL · SAFETY CHECK</a:t>
            </a:r>
            <a:endParaRPr lang="en-US" sz="1100" dirty="0"/>
          </a:p>
        </p:txBody>
      </p:sp>
      <p:sp>
        <p:nvSpPr>
          <p:cNvPr id="3" name="Text 1"/>
          <p:cNvSpPr/>
          <p:nvPr/>
        </p:nvSpPr>
        <p:spPr>
          <a:xfrm>
            <a:off x="548640" y="777240"/>
            <a:ext cx="11064240" cy="822960"/>
          </a:xfrm>
          <a:prstGeom prst="rect">
            <a:avLst/>
          </a:prstGeom>
          <a:noFill/>
          <a:ln/>
        </p:spPr>
        <p:txBody>
          <a:bodyPr wrap="square" rtlCol="0" anchor="t"/>
          <a:lstStyle/>
          <a:p>
            <a:pPr indent="0" marL="0">
              <a:buNone/>
            </a:pPr>
            <a:r>
              <a:rPr lang="en-US" sz="3000" b="1" dirty="0">
                <a:solidFill>
                  <a:srgbClr val="F1F2ED"/>
                </a:solidFill>
                <a:latin typeface="Arial" pitchFamily="34" charset="0"/>
                <a:ea typeface="Arial" pitchFamily="34" charset="-122"/>
                <a:cs typeface="Arial" pitchFamily="34" charset="-120"/>
              </a:rPr>
              <a:t>It refuses to guess on unfamiliar feedstock</a:t>
            </a:r>
            <a:endParaRPr lang="en-US" sz="3000" dirty="0"/>
          </a:p>
        </p:txBody>
      </p:sp>
      <p:pic>
        <p:nvPicPr>
          <p:cNvPr id="4" name="Image 0" descr="/tmp/claude-0/-home-user-BioOil-Automation/5397d81f-6477-55ef-8890-ec0ebaf31f4d/scratchpad/deck/shots/flagged.png">    </p:cNvPr>
          <p:cNvPicPr>
            <a:picLocks noChangeAspect="1"/>
          </p:cNvPicPr>
          <p:nvPr/>
        </p:nvPicPr>
        <p:blipFill>
          <a:blip r:embed="rId1"/>
          <a:stretch>
            <a:fillRect/>
          </a:stretch>
        </p:blipFill>
        <p:spPr>
          <a:xfrm>
            <a:off x="548640" y="1737360"/>
            <a:ext cx="3996744" cy="4480560"/>
          </a:xfrm>
          <a:prstGeom prst="rect">
            <a:avLst/>
          </a:prstGeom>
        </p:spPr>
      </p:pic>
      <p:sp>
        <p:nvSpPr>
          <p:cNvPr id="5" name="Shape 2"/>
          <p:cNvSpPr/>
          <p:nvPr/>
        </p:nvSpPr>
        <p:spPr>
          <a:xfrm>
            <a:off x="548640" y="1737360"/>
            <a:ext cx="3996744" cy="4480560"/>
          </a:xfrm>
          <a:prstGeom prst="roundRect">
            <a:avLst>
              <a:gd name="adj" fmla="val 2288"/>
            </a:avLst>
          </a:prstGeom>
          <a:ln w="12700">
            <a:solidFill>
              <a:srgbClr val="2A3031"/>
            </a:solidFill>
            <a:prstDash val="solid"/>
          </a:ln>
        </p:spPr>
      </p:sp>
      <p:sp>
        <p:nvSpPr>
          <p:cNvPr id="6" name="Text 3"/>
          <p:cNvSpPr/>
          <p:nvPr/>
        </p:nvSpPr>
        <p:spPr>
          <a:xfrm>
            <a:off x="5094024" y="1828800"/>
            <a:ext cx="6518856" cy="685800"/>
          </a:xfrm>
          <a:prstGeom prst="rect">
            <a:avLst/>
          </a:prstGeom>
          <a:noFill/>
          <a:ln/>
        </p:spPr>
        <p:txBody>
          <a:bodyPr wrap="square" lIns="0" tIns="0" rIns="0" bIns="0" rtlCol="0" anchor="b"/>
          <a:lstStyle/>
          <a:p>
            <a:pPr indent="0" marL="0">
              <a:buNone/>
            </a:pPr>
            <a:r>
              <a:rPr lang="en-US" sz="3600" b="1" dirty="0">
                <a:solidFill>
                  <a:srgbClr val="FF8C8C"/>
                </a:solidFill>
                <a:latin typeface="Arial" pitchFamily="34" charset="0"/>
                <a:ea typeface="Arial" pitchFamily="34" charset="-122"/>
                <a:cs typeface="Arial" pitchFamily="34" charset="-120"/>
              </a:rPr>
              <a:t>0.52 &gt; 0.41</a:t>
            </a:r>
            <a:endParaRPr lang="en-US" sz="3600" dirty="0"/>
          </a:p>
        </p:txBody>
      </p:sp>
      <p:sp>
        <p:nvSpPr>
          <p:cNvPr id="7" name="Text 4"/>
          <p:cNvSpPr/>
          <p:nvPr/>
        </p:nvSpPr>
        <p:spPr>
          <a:xfrm>
            <a:off x="5094024" y="2542032"/>
            <a:ext cx="6518856" cy="548640"/>
          </a:xfrm>
          <a:prstGeom prst="rect">
            <a:avLst/>
          </a:prstGeom>
          <a:noFill/>
          <a:ln/>
        </p:spPr>
        <p:txBody>
          <a:bodyPr wrap="square" lIns="0" tIns="0" rIns="0" bIns="0" rtlCol="0" anchor="t"/>
          <a:lstStyle/>
          <a:p>
            <a:pPr indent="0" marL="0">
              <a:buNone/>
            </a:pPr>
            <a:r>
              <a:rPr lang="en-US" sz="1200" dirty="0">
                <a:solidFill>
                  <a:srgbClr val="9A9F9B"/>
                </a:solidFill>
                <a:latin typeface="Arial" pitchFamily="34" charset="0"/>
                <a:ea typeface="Arial" pitchFamily="34" charset="-122"/>
                <a:cs typeface="Arial" pitchFamily="34" charset="-120"/>
              </a:rPr>
              <a:t>Microalgae-like feedstock: composition distance exceeds the applicability limit</a:t>
            </a:r>
            <a:endParaRPr lang="en-US" sz="1200" dirty="0"/>
          </a:p>
        </p:txBody>
      </p:sp>
      <p:sp>
        <p:nvSpPr>
          <p:cNvPr id="8" name="Text 5"/>
          <p:cNvSpPr/>
          <p:nvPr/>
        </p:nvSpPr>
        <p:spPr>
          <a:xfrm>
            <a:off x="5094024" y="3474720"/>
            <a:ext cx="6518856" cy="2560320"/>
          </a:xfrm>
          <a:prstGeom prst="rect">
            <a:avLst/>
          </a:prstGeom>
          <a:noFill/>
          <a:ln/>
        </p:spPr>
        <p:txBody>
          <a:bodyPr wrap="square" rtlCol="0" anchor="t"/>
          <a:lstStyle/>
          <a:p>
            <a:pPr marL="342900" indent="-342900">
              <a:spcAft>
                <a:spcPts val="800"/>
              </a:spcAft>
              <a:buSzPct val="100000"/>
              <a:buChar char="■"/>
            </a:pPr>
            <a:r>
              <a:rPr lang="en-US" sz="1500" dirty="0">
                <a:solidFill>
                  <a:srgbClr val="F1F2ED"/>
                </a:solidFill>
                <a:latin typeface="Arial" pitchFamily="34" charset="0"/>
                <a:ea typeface="Arial" pitchFamily="34" charset="-122"/>
                <a:cs typeface="Arial" pitchFamily="34" charset="-120"/>
              </a:rPr>
              <a:t>No recommendation is shown, only the reason</a:t>
            </a:r>
            <a:endParaRPr lang="en-US" sz="1500" dirty="0"/>
          </a:p>
          <a:p>
            <a:pPr marL="342900" indent="-342900">
              <a:spcAft>
                <a:spcPts val="800"/>
              </a:spcAft>
              <a:buSzPct val="100000"/>
              <a:buChar char="■"/>
            </a:pPr>
            <a:r>
              <a:rPr lang="en-US" sz="1500" dirty="0">
                <a:solidFill>
                  <a:srgbClr val="F1F2ED"/>
                </a:solidFill>
                <a:latin typeface="Arial" pitchFamily="34" charset="0"/>
                <a:ea typeface="Arial" pitchFamily="34" charset="-122"/>
                <a:cs typeface="Arial" pitchFamily="34" charset="-120"/>
              </a:rPr>
              <a:t>User is told to run 1–2 calibration experiments first</a:t>
            </a:r>
            <a:endParaRPr lang="en-US" sz="1500" dirty="0"/>
          </a:p>
          <a:p>
            <a:pPr marL="342900" indent="-342900">
              <a:spcAft>
                <a:spcPts val="800"/>
              </a:spcAft>
              <a:buSzPct val="100000"/>
              <a:buChar char="■"/>
            </a:pPr>
            <a:r>
              <a:rPr lang="en-US" sz="1500" dirty="0">
                <a:solidFill>
                  <a:srgbClr val="F1F2ED"/>
                </a:solidFill>
                <a:latin typeface="Arial" pitchFamily="34" charset="0"/>
                <a:ea typeface="Arial" pitchFamily="34" charset="-122"/>
                <a:cs typeface="Arial" pitchFamily="34" charset="-120"/>
              </a:rPr>
              <a:t>Coal-like input (distance 1.20) is refused the same way</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100" b="1" spc="300" kern="0" dirty="0">
                <a:solidFill>
                  <a:srgbClr val="C9F36B"/>
                </a:solidFill>
                <a:latin typeface="Consolas" pitchFamily="34" charset="0"/>
                <a:ea typeface="Consolas" pitchFamily="34" charset="-122"/>
                <a:cs typeface="Consolas" pitchFamily="34" charset="-120"/>
              </a:rPr>
              <a:t>SUMMARY</a:t>
            </a:r>
            <a:endParaRPr lang="en-US" sz="1100" dirty="0"/>
          </a:p>
        </p:txBody>
      </p:sp>
      <p:sp>
        <p:nvSpPr>
          <p:cNvPr id="3" name="Text 1"/>
          <p:cNvSpPr/>
          <p:nvPr/>
        </p:nvSpPr>
        <p:spPr>
          <a:xfrm>
            <a:off x="548640" y="777240"/>
            <a:ext cx="11064240" cy="822960"/>
          </a:xfrm>
          <a:prstGeom prst="rect">
            <a:avLst/>
          </a:prstGeom>
          <a:noFill/>
          <a:ln/>
        </p:spPr>
        <p:txBody>
          <a:bodyPr wrap="square" rtlCol="0" anchor="t"/>
          <a:lstStyle/>
          <a:p>
            <a:pPr indent="0" marL="0">
              <a:buNone/>
            </a:pPr>
            <a:r>
              <a:rPr lang="en-US" sz="3000" b="1" dirty="0">
                <a:solidFill>
                  <a:srgbClr val="F1F2ED"/>
                </a:solidFill>
                <a:latin typeface="Arial" pitchFamily="34" charset="0"/>
                <a:ea typeface="Arial" pitchFamily="34" charset="-122"/>
                <a:cs typeface="Arial" pitchFamily="34" charset="-120"/>
              </a:rPr>
              <a:t>Results scorecard</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5029200"/>
                <a:gridCol w="3017520"/>
                <a:gridCol w="3017520"/>
              </a:tblGrid>
              <a:tr h="512064">
                <a:tc>
                  <a:txBody>
                    <a:bodyPr/>
                    <a:lstStyle/>
                    <a:p>
                      <a:pPr algn="l" indent="0" marL="0">
                        <a:buNone/>
                      </a:pPr>
                      <a:r>
                        <a:rPr lang="en-US" sz="1000" b="1" dirty="0">
                          <a:solidFill>
                            <a:srgbClr val="9A9F9B"/>
                          </a:solidFill>
                          <a:latin typeface="Consolas" pitchFamily="34" charset="0"/>
                          <a:ea typeface="Consolas" pitchFamily="34" charset="-122"/>
                          <a:cs typeface="Consolas" pitchFamily="34" charset="-120"/>
                        </a:rPr>
                        <a:t>Metric</a:t>
                      </a:r>
                      <a:endParaRPr lang="en-US" sz="1000" dirty="0">
                        <a:latin typeface="Consolas" charset="0"/>
                        <a:ea typeface="Consolas" charset="0"/>
                        <a:cs typeface="Consolas"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C2122"/>
                    </a:solidFill>
                  </a:tcPr>
                </a:tc>
                <a:tc>
                  <a:txBody>
                    <a:bodyPr/>
                    <a:lstStyle/>
                    <a:p>
                      <a:pPr algn="ctr" indent="0" marL="0">
                        <a:buNone/>
                      </a:pPr>
                      <a:r>
                        <a:rPr lang="en-US" sz="1000" b="1" dirty="0">
                          <a:solidFill>
                            <a:srgbClr val="9A9F9B"/>
                          </a:solidFill>
                          <a:latin typeface="Consolas" pitchFamily="34" charset="0"/>
                          <a:ea typeface="Consolas" pitchFamily="34" charset="-122"/>
                          <a:cs typeface="Consolas" pitchFamily="34" charset="-120"/>
                        </a:rPr>
                        <a:t>Test 1: standard 80/20 split</a:t>
                      </a:r>
                      <a:endParaRPr lang="en-US" sz="1000" dirty="0">
                        <a:latin typeface="Consolas" charset="0"/>
                        <a:ea typeface="Consolas" charset="0"/>
                        <a:cs typeface="Consolas"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C2122"/>
                    </a:solidFill>
                  </a:tcPr>
                </a:tc>
                <a:tc>
                  <a:txBody>
                    <a:bodyPr/>
                    <a:lstStyle/>
                    <a:p>
                      <a:pPr algn="ctr" indent="0" marL="0">
                        <a:buNone/>
                      </a:pPr>
                      <a:r>
                        <a:rPr lang="en-US" sz="1000" b="1" dirty="0">
                          <a:solidFill>
                            <a:srgbClr val="9A9F9B"/>
                          </a:solidFill>
                          <a:latin typeface="Consolas" pitchFamily="34" charset="0"/>
                          <a:ea typeface="Consolas" pitchFamily="34" charset="-122"/>
                          <a:cs typeface="Consolas" pitchFamily="34" charset="-120"/>
                        </a:rPr>
                        <a:t>Test 2: unseen biomass</a:t>
                      </a:r>
                      <a:endParaRPr lang="en-US" sz="1000" dirty="0">
                        <a:latin typeface="Consolas" charset="0"/>
                        <a:ea typeface="Consolas" charset="0"/>
                        <a:cs typeface="Consolas"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C2122"/>
                    </a:solidFill>
                  </a:tcPr>
                </a:tc>
              </a:tr>
              <a:tr h="512064">
                <a:tc>
                  <a:txBody>
                    <a:bodyPr/>
                    <a:lstStyle/>
                    <a:p>
                      <a:pPr algn="l" indent="0" marL="0">
                        <a:buNone/>
                      </a:pPr>
                      <a:r>
                        <a:rPr lang="en-US" sz="1300" dirty="0">
                          <a:solidFill>
                            <a:srgbClr val="F1F2ED"/>
                          </a:solidFill>
                          <a:latin typeface="Arial" pitchFamily="34" charset="0"/>
                          <a:ea typeface="Arial" pitchFamily="34" charset="-122"/>
                          <a:cs typeface="Arial" pitchFamily="34" charset="-120"/>
                        </a:rPr>
                        <a:t>O/C R², best benchmark model (XGBoost)</a:t>
                      </a:r>
                      <a:endParaRPr lang="en-US" sz="13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algn="ctr" indent="0" marL="0">
                        <a:buNone/>
                      </a:pPr>
                      <a:r>
                        <a:rPr lang="en-US" sz="1500" b="1" dirty="0">
                          <a:solidFill>
                            <a:srgbClr val="C9F36B"/>
                          </a:solidFill>
                          <a:latin typeface="Arial" pitchFamily="34" charset="0"/>
                          <a:ea typeface="Arial" pitchFamily="34" charset="-122"/>
                          <a:cs typeface="Arial" pitchFamily="34" charset="-120"/>
                        </a:rPr>
                        <a:t>0.90</a:t>
                      </a:r>
                      <a:endParaRPr lang="en-US" sz="15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algn="ctr" indent="0" marL="0">
                        <a:buNone/>
                      </a:pPr>
                      <a:r>
                        <a:rPr lang="en-US" sz="1500" b="1" dirty="0">
                          <a:solidFill>
                            <a:srgbClr val="F1F2ED"/>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r h="512064">
                <a:tc>
                  <a:txBody>
                    <a:bodyPr/>
                    <a:lstStyle/>
                    <a:p>
                      <a:pPr algn="l" indent="0" marL="0">
                        <a:buNone/>
                      </a:pPr>
                      <a:r>
                        <a:rPr lang="en-US" sz="1300" dirty="0">
                          <a:solidFill>
                            <a:srgbClr val="F1F2ED"/>
                          </a:solidFill>
                          <a:latin typeface="Arial" pitchFamily="34" charset="0"/>
                          <a:ea typeface="Arial" pitchFamily="34" charset="-122"/>
                          <a:cs typeface="Arial" pitchFamily="34" charset="-120"/>
                        </a:rPr>
                        <a:t>O/C R², final Advisor model (log scale)</a:t>
                      </a:r>
                      <a:endParaRPr lang="en-US" sz="13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algn="ctr" indent="0" marL="0">
                        <a:buNone/>
                      </a:pPr>
                      <a:r>
                        <a:rPr lang="en-US" sz="1500" b="1" dirty="0">
                          <a:solidFill>
                            <a:srgbClr val="C9F36B"/>
                          </a:solidFill>
                          <a:latin typeface="Arial" pitchFamily="34" charset="0"/>
                          <a:ea typeface="Arial" pitchFamily="34" charset="-122"/>
                          <a:cs typeface="Arial" pitchFamily="34" charset="-120"/>
                        </a:rPr>
                        <a:t>0.61</a:t>
                      </a:r>
                      <a:endParaRPr lang="en-US" sz="15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algn="ctr" indent="0" marL="0">
                        <a:buNone/>
                      </a:pPr>
                      <a:r>
                        <a:rPr lang="en-US" sz="1500" b="1" dirty="0">
                          <a:solidFill>
                            <a:srgbClr val="F1F2ED"/>
                          </a:solidFill>
                          <a:latin typeface="Arial" pitchFamily="34" charset="0"/>
                          <a:ea typeface="Arial" pitchFamily="34" charset="-122"/>
                          <a:cs typeface="Arial" pitchFamily="34" charset="-120"/>
                        </a:rPr>
                        <a:t>0.27</a:t>
                      </a:r>
                      <a:endParaRPr lang="en-US" sz="15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r h="512064">
                <a:tc>
                  <a:txBody>
                    <a:bodyPr/>
                    <a:lstStyle/>
                    <a:p>
                      <a:pPr algn="l" indent="0" marL="0">
                        <a:buNone/>
                      </a:pPr>
                      <a:r>
                        <a:rPr lang="en-US" sz="1300" dirty="0">
                          <a:solidFill>
                            <a:srgbClr val="F1F2ED"/>
                          </a:solidFill>
                          <a:latin typeface="Arial" pitchFamily="34" charset="0"/>
                          <a:ea typeface="Arial" pitchFamily="34" charset="-122"/>
                          <a:cs typeface="Arial" pitchFamily="34" charset="-120"/>
                        </a:rPr>
                        <a:t>Yield R², best single model (Random Forest)</a:t>
                      </a:r>
                      <a:endParaRPr lang="en-US" sz="13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algn="ctr" indent="0" marL="0">
                        <a:buNone/>
                      </a:pPr>
                      <a:r>
                        <a:rPr lang="en-US" sz="1500" b="1" dirty="0">
                          <a:solidFill>
                            <a:srgbClr val="C9F36B"/>
                          </a:solidFill>
                          <a:latin typeface="Arial" pitchFamily="34" charset="0"/>
                          <a:ea typeface="Arial" pitchFamily="34" charset="-122"/>
                          <a:cs typeface="Arial" pitchFamily="34" charset="-120"/>
                        </a:rPr>
                        <a:t>0.69</a:t>
                      </a:r>
                      <a:endParaRPr lang="en-US" sz="15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algn="ctr" indent="0" marL="0">
                        <a:buNone/>
                      </a:pPr>
                      <a:r>
                        <a:rPr lang="en-US" sz="1500" b="1" dirty="0">
                          <a:solidFill>
                            <a:srgbClr val="F1F2ED"/>
                          </a:solidFill>
                          <a:latin typeface="Arial" pitchFamily="34" charset="0"/>
                          <a:ea typeface="Arial" pitchFamily="34" charset="-122"/>
                          <a:cs typeface="Arial" pitchFamily="34" charset="-120"/>
                        </a:rPr>
                        <a:t>−0.25</a:t>
                      </a:r>
                      <a:endParaRPr lang="en-US" sz="15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r h="512064">
                <a:tc>
                  <a:txBody>
                    <a:bodyPr/>
                    <a:lstStyle/>
                    <a:p>
                      <a:pPr algn="l" indent="0" marL="0">
                        <a:buNone/>
                      </a:pPr>
                      <a:r>
                        <a:rPr lang="en-US" sz="1300" dirty="0">
                          <a:solidFill>
                            <a:srgbClr val="F1F2ED"/>
                          </a:solidFill>
                          <a:latin typeface="Arial" pitchFamily="34" charset="0"/>
                          <a:ea typeface="Arial" pitchFamily="34" charset="-122"/>
                          <a:cs typeface="Arial" pitchFamily="34" charset="-120"/>
                        </a:rPr>
                        <a:t>Yield R², final Advisor model</a:t>
                      </a:r>
                      <a:endParaRPr lang="en-US" sz="13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algn="ctr" indent="0" marL="0">
                        <a:buNone/>
                      </a:pPr>
                      <a:r>
                        <a:rPr lang="en-US" sz="1500" b="1" dirty="0">
                          <a:solidFill>
                            <a:srgbClr val="C9F36B"/>
                          </a:solidFill>
                          <a:latin typeface="Arial" pitchFamily="34" charset="0"/>
                          <a:ea typeface="Arial" pitchFamily="34" charset="-122"/>
                          <a:cs typeface="Arial" pitchFamily="34" charset="-120"/>
                        </a:rPr>
                        <a:t>0.61</a:t>
                      </a:r>
                      <a:endParaRPr lang="en-US" sz="15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algn="ctr" indent="0" marL="0">
                        <a:buNone/>
                      </a:pPr>
                      <a:r>
                        <a:rPr lang="en-US" sz="1500" b="1" dirty="0">
                          <a:solidFill>
                            <a:srgbClr val="F1F2ED"/>
                          </a:solidFill>
                          <a:latin typeface="Arial" pitchFamily="34" charset="0"/>
                          <a:ea typeface="Arial" pitchFamily="34" charset="-122"/>
                          <a:cs typeface="Arial" pitchFamily="34" charset="-120"/>
                        </a:rPr>
                        <a:t>0.07</a:t>
                      </a:r>
                      <a:endParaRPr lang="en-US" sz="15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r h="512064">
                <a:tc>
                  <a:txBody>
                    <a:bodyPr/>
                    <a:lstStyle/>
                    <a:p>
                      <a:pPr algn="l" indent="0" marL="0">
                        <a:buNone/>
                      </a:pPr>
                      <a:r>
                        <a:rPr lang="en-US" sz="1300" dirty="0">
                          <a:solidFill>
                            <a:srgbClr val="F1F2ED"/>
                          </a:solidFill>
                          <a:latin typeface="Arial" pitchFamily="34" charset="0"/>
                          <a:ea typeface="Arial" pitchFamily="34" charset="-122"/>
                          <a:cs typeface="Arial" pitchFamily="34" charset="-120"/>
                        </a:rPr>
                        <a:t>Yield error after 1 / 2 calibration experiments</a:t>
                      </a:r>
                      <a:endParaRPr lang="en-US" sz="13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algn="ctr" indent="0" marL="0">
                        <a:buNone/>
                      </a:pPr>
                      <a:r>
                        <a:rPr lang="en-US" sz="1500" b="1" dirty="0">
                          <a:solidFill>
                            <a:srgbClr val="C9F36B"/>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algn="ctr" indent="0" marL="0">
                        <a:buNone/>
                      </a:pPr>
                      <a:r>
                        <a:rPr lang="en-US" sz="1500" b="1" dirty="0">
                          <a:solidFill>
                            <a:srgbClr val="F1F2ED"/>
                          </a:solidFill>
                          <a:latin typeface="Arial" pitchFamily="34" charset="0"/>
                          <a:ea typeface="Arial" pitchFamily="34" charset="-122"/>
                          <a:cs typeface="Arial" pitchFamily="34" charset="-120"/>
                        </a:rPr>
                        <a:t>5.3 / 4.2 wt%</a:t>
                      </a:r>
                      <a:endParaRPr lang="en-US" sz="15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r h="512064">
                <a:tc>
                  <a:txBody>
                    <a:bodyPr/>
                    <a:lstStyle/>
                    <a:p>
                      <a:pPr algn="l" indent="0" marL="0">
                        <a:buNone/>
                      </a:pPr>
                      <a:r>
                        <a:rPr lang="en-US" sz="1300" dirty="0">
                          <a:solidFill>
                            <a:srgbClr val="F1F2ED"/>
                          </a:solidFill>
                          <a:latin typeface="Arial" pitchFamily="34" charset="0"/>
                          <a:ea typeface="Arial" pitchFamily="34" charset="-122"/>
                          <a:cs typeface="Arial" pitchFamily="34" charset="-120"/>
                        </a:rPr>
                        <a:t>Correct optimum temperature, 3 held-out biomasses</a:t>
                      </a:r>
                      <a:endParaRPr lang="en-US" sz="13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algn="ctr" indent="0" marL="0">
                        <a:buNone/>
                      </a:pPr>
                      <a:r>
                        <a:rPr lang="en-US" sz="1500" b="1" dirty="0">
                          <a:solidFill>
                            <a:srgbClr val="C9F36B"/>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algn="ctr" indent="0" marL="0">
                        <a:buNone/>
                      </a:pPr>
                      <a:r>
                        <a:rPr lang="en-US" sz="1500" b="1" dirty="0">
                          <a:solidFill>
                            <a:srgbClr val="F1F2ED"/>
                          </a:solidFill>
                          <a:latin typeface="Arial" pitchFamily="34" charset="0"/>
                          <a:ea typeface="Arial" pitchFamily="34" charset="-122"/>
                          <a:cs typeface="Arial" pitchFamily="34" charset="-120"/>
                        </a:rPr>
                        <a:t>2 of 3</a:t>
                      </a:r>
                      <a:endParaRPr lang="en-US" sz="15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r h="512064">
                <a:tc>
                  <a:txBody>
                    <a:bodyPr/>
                    <a:lstStyle/>
                    <a:p>
                      <a:pPr algn="l" indent="0" marL="0">
                        <a:buNone/>
                      </a:pPr>
                      <a:r>
                        <a:rPr lang="en-US" sz="1300" dirty="0">
                          <a:solidFill>
                            <a:srgbClr val="F1F2ED"/>
                          </a:solidFill>
                          <a:latin typeface="Arial" pitchFamily="34" charset="0"/>
                          <a:ea typeface="Arial" pitchFamily="34" charset="-122"/>
                          <a:cs typeface="Arial" pitchFamily="34" charset="-120"/>
                        </a:rPr>
                        <a:t>Out-of-range feedstocks flagged</a:t>
                      </a:r>
                      <a:endParaRPr lang="en-US" sz="13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algn="ctr" indent="0" marL="0">
                        <a:buNone/>
                      </a:pPr>
                      <a:r>
                        <a:rPr lang="en-US" sz="1500" b="1" dirty="0">
                          <a:solidFill>
                            <a:srgbClr val="C9F36B"/>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c>
                  <a:txBody>
                    <a:bodyPr/>
                    <a:lstStyle/>
                    <a:p>
                      <a:pPr algn="ctr" indent="0" marL="0">
                        <a:buNone/>
                      </a:pPr>
                      <a:r>
                        <a:rPr lang="en-US" sz="1500" b="1" dirty="0">
                          <a:solidFill>
                            <a:srgbClr val="F1F2ED"/>
                          </a:solidFill>
                          <a:latin typeface="Arial" pitchFamily="34" charset="0"/>
                          <a:ea typeface="Arial" pitchFamily="34" charset="-122"/>
                          <a:cs typeface="Arial" pitchFamily="34" charset="-120"/>
                        </a:rPr>
                        <a:t>2 of 2</a:t>
                      </a:r>
                      <a:endParaRPr lang="en-US" sz="1500" dirty="0">
                        <a:latin typeface="Arial" charset="0"/>
                        <a:ea typeface="Arial" charset="0"/>
                        <a:cs typeface="Arial" charset="0"/>
                      </a:endParaRPr>
                    </a:p>
                  </a:txBody>
                  <a:tcPr marL="91440" marR="91440" marT="45720" marB="45720" anchor="ctr">
                    <a:lnL w="9525" cap="flat" cmpd="sng" algn="ctr">
                      <a:solidFill>
                        <a:srgbClr val="2A3031"/>
                      </a:solidFill>
                      <a:prstDash val="solid"/>
                      <a:round/>
                      <a:headEnd type="none" w="med" len="med"/>
                      <a:tailEnd type="none" w="med" len="med"/>
                    </a:lnL>
                    <a:lnR w="9525" cap="flat" cmpd="sng" algn="ctr">
                      <a:solidFill>
                        <a:srgbClr val="2A3031"/>
                      </a:solidFill>
                      <a:prstDash val="solid"/>
                      <a:round/>
                      <a:headEnd type="none" w="med" len="med"/>
                      <a:tailEnd type="none" w="med" len="med"/>
                    </a:lnR>
                    <a:lnT w="9525" cap="flat" cmpd="sng" algn="ctr">
                      <a:solidFill>
                        <a:srgbClr val="2A3031"/>
                      </a:solidFill>
                      <a:prstDash val="solid"/>
                      <a:round/>
                      <a:headEnd type="none" w="med" len="med"/>
                      <a:tailEnd type="none" w="med" len="med"/>
                    </a:lnT>
                    <a:lnB w="9525" cap="flat" cmpd="sng" algn="ctr">
                      <a:solidFill>
                        <a:srgbClr val="2A3031"/>
                      </a:solidFill>
                      <a:prstDash val="solid"/>
                      <a:round/>
                      <a:headEnd type="none" w="med" len="med"/>
                      <a:tailEnd type="none" w="med" len="med"/>
                    </a:lnB>
                    <a:solidFill>
                      <a:srgbClr val="15191A"/>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100" b="1" spc="300" kern="0" dirty="0">
                <a:solidFill>
                  <a:srgbClr val="C9F36B"/>
                </a:solidFill>
                <a:latin typeface="Consolas" pitchFamily="34" charset="0"/>
                <a:ea typeface="Consolas" pitchFamily="34" charset="-122"/>
                <a:cs typeface="Consolas" pitchFamily="34" charset="-120"/>
              </a:rPr>
              <a:t>LIMITATIONS AND NEXT STEPS</a:t>
            </a:r>
            <a:endParaRPr lang="en-US" sz="1100" dirty="0"/>
          </a:p>
        </p:txBody>
      </p:sp>
      <p:sp>
        <p:nvSpPr>
          <p:cNvPr id="3" name="Text 1"/>
          <p:cNvSpPr/>
          <p:nvPr/>
        </p:nvSpPr>
        <p:spPr>
          <a:xfrm>
            <a:off x="548640" y="777240"/>
            <a:ext cx="11064240" cy="822960"/>
          </a:xfrm>
          <a:prstGeom prst="rect">
            <a:avLst/>
          </a:prstGeom>
          <a:noFill/>
          <a:ln/>
        </p:spPr>
        <p:txBody>
          <a:bodyPr wrap="square" rtlCol="0" anchor="t"/>
          <a:lstStyle/>
          <a:p>
            <a:pPr indent="0" marL="0">
              <a:buNone/>
            </a:pPr>
            <a:r>
              <a:rPr lang="en-US" sz="3000" b="1" dirty="0">
                <a:solidFill>
                  <a:srgbClr val="F1F2ED"/>
                </a:solidFill>
                <a:latin typeface="Arial" pitchFamily="34" charset="0"/>
                <a:ea typeface="Arial" pitchFamily="34" charset="-122"/>
                <a:cs typeface="Arial" pitchFamily="34" charset="-120"/>
              </a:rPr>
              <a:t>What we would do next</a:t>
            </a:r>
            <a:endParaRPr lang="en-US" sz="3000" dirty="0"/>
          </a:p>
        </p:txBody>
      </p:sp>
      <p:sp>
        <p:nvSpPr>
          <p:cNvPr id="4" name="Shape 2"/>
          <p:cNvSpPr/>
          <p:nvPr/>
        </p:nvSpPr>
        <p:spPr>
          <a:xfrm>
            <a:off x="548640" y="1783080"/>
            <a:ext cx="5394960" cy="4206240"/>
          </a:xfrm>
          <a:prstGeom prst="roundRect">
            <a:avLst>
              <a:gd name="adj" fmla="val 2609"/>
            </a:avLst>
          </a:prstGeom>
          <a:solidFill>
            <a:srgbClr val="15191A"/>
          </a:solidFill>
          <a:ln w="12700">
            <a:solidFill>
              <a:srgbClr val="2A3031"/>
            </a:solidFill>
            <a:prstDash val="solid"/>
          </a:ln>
        </p:spPr>
      </p:sp>
      <p:sp>
        <p:nvSpPr>
          <p:cNvPr id="5" name="Text 3"/>
          <p:cNvSpPr/>
          <p:nvPr/>
        </p:nvSpPr>
        <p:spPr>
          <a:xfrm>
            <a:off x="822960" y="1965960"/>
            <a:ext cx="4572000" cy="320040"/>
          </a:xfrm>
          <a:prstGeom prst="rect">
            <a:avLst/>
          </a:prstGeom>
          <a:noFill/>
          <a:ln/>
        </p:spPr>
        <p:txBody>
          <a:bodyPr wrap="square" rtlCol="0" anchor="ctr"/>
          <a:lstStyle/>
          <a:p>
            <a:pPr indent="0" marL="0">
              <a:buNone/>
            </a:pPr>
            <a:r>
              <a:rPr lang="en-US" sz="1100" b="1" spc="200" kern="0" dirty="0">
                <a:solidFill>
                  <a:srgbClr val="FF8C8C"/>
                </a:solidFill>
                <a:latin typeface="Consolas" pitchFamily="34" charset="0"/>
                <a:ea typeface="Consolas" pitchFamily="34" charset="-122"/>
                <a:cs typeface="Consolas" pitchFamily="34" charset="-120"/>
              </a:rPr>
              <a:t>LIMITATIONS</a:t>
            </a:r>
            <a:endParaRPr lang="en-US" sz="1100" dirty="0"/>
          </a:p>
        </p:txBody>
      </p:sp>
      <p:sp>
        <p:nvSpPr>
          <p:cNvPr id="6" name="Text 4"/>
          <p:cNvSpPr/>
          <p:nvPr/>
        </p:nvSpPr>
        <p:spPr>
          <a:xfrm>
            <a:off x="822960" y="2377440"/>
            <a:ext cx="4937760" cy="3474720"/>
          </a:xfrm>
          <a:prstGeom prst="rect">
            <a:avLst/>
          </a:prstGeom>
          <a:noFill/>
          <a:ln/>
        </p:spPr>
        <p:txBody>
          <a:bodyPr wrap="square" rtlCol="0" anchor="t"/>
          <a:lstStyle/>
          <a:p>
            <a:pPr marL="342900" indent="-342900">
              <a:spcAft>
                <a:spcPts val="800"/>
              </a:spcAft>
              <a:buSzPct val="100000"/>
              <a:buChar char="■"/>
            </a:pPr>
            <a:r>
              <a:rPr lang="en-US" sz="1400" dirty="0">
                <a:solidFill>
                  <a:srgbClr val="F1F2ED"/>
                </a:solidFill>
                <a:latin typeface="Arial" pitchFamily="34" charset="0"/>
                <a:ea typeface="Arial" pitchFamily="34" charset="-122"/>
                <a:cs typeface="Arial" pitchFamily="34" charset="-120"/>
              </a:rPr>
              <a:t>Literature data mixes labs; residence time rarely reported</a:t>
            </a:r>
            <a:endParaRPr lang="en-US" sz="1400" dirty="0"/>
          </a:p>
          <a:p>
            <a:pPr marL="342900" indent="-342900">
              <a:spcAft>
                <a:spcPts val="800"/>
              </a:spcAft>
              <a:buSzPct val="100000"/>
              <a:buChar char="■"/>
            </a:pPr>
            <a:r>
              <a:rPr lang="en-US" sz="1400" dirty="0">
                <a:solidFill>
                  <a:srgbClr val="F1F2ED"/>
                </a:solidFill>
                <a:latin typeface="Arial" pitchFamily="34" charset="0"/>
                <a:ea typeface="Arial" pitchFamily="34" charset="-122"/>
                <a:cs typeface="Arial" pitchFamily="34" charset="-120"/>
              </a:rPr>
              <a:t>Yield and O/C come from two separate datasets</a:t>
            </a:r>
            <a:endParaRPr lang="en-US" sz="1400" dirty="0"/>
          </a:p>
          <a:p>
            <a:pPr marL="342900" indent="-342900">
              <a:spcAft>
                <a:spcPts val="800"/>
              </a:spcAft>
              <a:buSzPct val="100000"/>
              <a:buChar char="■"/>
            </a:pPr>
            <a:r>
              <a:rPr lang="en-US" sz="1400" dirty="0">
                <a:solidFill>
                  <a:srgbClr val="F1F2ED"/>
                </a:solidFill>
                <a:latin typeface="Arial" pitchFamily="34" charset="0"/>
                <a:ea typeface="Arial" pitchFamily="34" charset="-122"/>
                <a:cs typeface="Arial" pitchFamily="34" charset="-120"/>
              </a:rPr>
              <a:t>Wide uncertainty for a brand-new biomass</a:t>
            </a:r>
            <a:endParaRPr lang="en-US" sz="1400" dirty="0"/>
          </a:p>
          <a:p>
            <a:pPr marL="342900" indent="-342900">
              <a:spcAft>
                <a:spcPts val="800"/>
              </a:spcAft>
              <a:buSzPct val="100000"/>
              <a:buChar char="■"/>
            </a:pPr>
            <a:r>
              <a:rPr lang="en-US" sz="1400" dirty="0">
                <a:solidFill>
                  <a:srgbClr val="F1F2ED"/>
                </a:solidFill>
                <a:latin typeface="Arial" pitchFamily="34" charset="0"/>
                <a:ea typeface="Arial" pitchFamily="34" charset="-122"/>
                <a:cs typeface="Arial" pitchFamily="34" charset="-120"/>
              </a:rPr>
              <a:t>Lower accuracy on brand-new biomass (Test 2)</a:t>
            </a:r>
            <a:endParaRPr lang="en-US" sz="1400" dirty="0"/>
          </a:p>
          <a:p>
            <a:pPr marL="342900" indent="-342900">
              <a:spcAft>
                <a:spcPts val="800"/>
              </a:spcAft>
              <a:buSzPct val="100000"/>
              <a:buChar char="■"/>
            </a:pPr>
            <a:r>
              <a:rPr lang="en-US" sz="1400" dirty="0">
                <a:solidFill>
                  <a:srgbClr val="F1F2ED"/>
                </a:solidFill>
                <a:latin typeface="Arial" pitchFamily="34" charset="0"/>
                <a:ea typeface="Arial" pitchFamily="34" charset="-122"/>
                <a:cs typeface="Arial" pitchFamily="34" charset="-120"/>
              </a:rPr>
              <a:t>Web demo runs on pre-computed sample results</a:t>
            </a:r>
            <a:endParaRPr lang="en-US" sz="1400" dirty="0"/>
          </a:p>
        </p:txBody>
      </p:sp>
      <p:sp>
        <p:nvSpPr>
          <p:cNvPr id="7" name="Shape 5"/>
          <p:cNvSpPr/>
          <p:nvPr/>
        </p:nvSpPr>
        <p:spPr>
          <a:xfrm>
            <a:off x="6217920" y="1783080"/>
            <a:ext cx="5394960" cy="4206240"/>
          </a:xfrm>
          <a:prstGeom prst="roundRect">
            <a:avLst>
              <a:gd name="adj" fmla="val 2609"/>
            </a:avLst>
          </a:prstGeom>
          <a:solidFill>
            <a:srgbClr val="15191A"/>
          </a:solidFill>
          <a:ln w="12700">
            <a:solidFill>
              <a:srgbClr val="2A3031"/>
            </a:solidFill>
            <a:prstDash val="solid"/>
          </a:ln>
        </p:spPr>
      </p:sp>
      <p:sp>
        <p:nvSpPr>
          <p:cNvPr id="8" name="Text 6"/>
          <p:cNvSpPr/>
          <p:nvPr/>
        </p:nvSpPr>
        <p:spPr>
          <a:xfrm>
            <a:off x="6492240" y="1965960"/>
            <a:ext cx="4572000" cy="320040"/>
          </a:xfrm>
          <a:prstGeom prst="rect">
            <a:avLst/>
          </a:prstGeom>
          <a:noFill/>
          <a:ln/>
        </p:spPr>
        <p:txBody>
          <a:bodyPr wrap="square" rtlCol="0" anchor="ctr"/>
          <a:lstStyle/>
          <a:p>
            <a:pPr indent="0" marL="0">
              <a:buNone/>
            </a:pPr>
            <a:r>
              <a:rPr lang="en-US" sz="1100" b="1" spc="200" kern="0" dirty="0">
                <a:solidFill>
                  <a:srgbClr val="C9F36B"/>
                </a:solidFill>
                <a:latin typeface="Consolas" pitchFamily="34" charset="0"/>
                <a:ea typeface="Consolas" pitchFamily="34" charset="-122"/>
                <a:cs typeface="Consolas" pitchFamily="34" charset="-120"/>
              </a:rPr>
              <a:t>NEXT STEPS</a:t>
            </a:r>
            <a:endParaRPr lang="en-US" sz="1100" dirty="0"/>
          </a:p>
        </p:txBody>
      </p:sp>
      <p:sp>
        <p:nvSpPr>
          <p:cNvPr id="9" name="Text 7"/>
          <p:cNvSpPr/>
          <p:nvPr/>
        </p:nvSpPr>
        <p:spPr>
          <a:xfrm>
            <a:off x="6492240" y="2377440"/>
            <a:ext cx="4937760" cy="3474720"/>
          </a:xfrm>
          <a:prstGeom prst="rect">
            <a:avLst/>
          </a:prstGeom>
          <a:noFill/>
          <a:ln/>
        </p:spPr>
        <p:txBody>
          <a:bodyPr wrap="square" rtlCol="0" anchor="t"/>
          <a:lstStyle/>
          <a:p>
            <a:pPr marL="342900" indent="-342900">
              <a:spcAft>
                <a:spcPts val="800"/>
              </a:spcAft>
              <a:buSzPct val="100000"/>
              <a:buChar char="■"/>
            </a:pPr>
            <a:r>
              <a:rPr lang="en-US" sz="1400" dirty="0">
                <a:solidFill>
                  <a:srgbClr val="F1F2ED"/>
                </a:solidFill>
                <a:latin typeface="Arial" pitchFamily="34" charset="0"/>
                <a:ea typeface="Arial" pitchFamily="34" charset="-122"/>
                <a:cs typeface="Arial" pitchFamily="34" charset="-120"/>
              </a:rPr>
              <a:t>Leave-one-study-out testing to isolate lab effects</a:t>
            </a:r>
            <a:endParaRPr lang="en-US" sz="1400" dirty="0"/>
          </a:p>
          <a:p>
            <a:pPr marL="342900" indent="-342900">
              <a:spcAft>
                <a:spcPts val="800"/>
              </a:spcAft>
              <a:buSzPct val="100000"/>
              <a:buChar char="■"/>
            </a:pPr>
            <a:r>
              <a:rPr lang="en-US" sz="1400" dirty="0">
                <a:solidFill>
                  <a:srgbClr val="F1F2ED"/>
                </a:solidFill>
                <a:latin typeface="Arial" pitchFamily="34" charset="0"/>
                <a:ea typeface="Arial" pitchFamily="34" charset="-122"/>
                <a:cs typeface="Arial" pitchFamily="34" charset="-120"/>
              </a:rPr>
              <a:t>Model organic (water-free) yield on 413 rows</a:t>
            </a:r>
            <a:endParaRPr lang="en-US" sz="1400" dirty="0"/>
          </a:p>
          <a:p>
            <a:pPr marL="342900" indent="-342900">
              <a:spcAft>
                <a:spcPts val="800"/>
              </a:spcAft>
              <a:buSzPct val="100000"/>
              <a:buChar char="■"/>
            </a:pPr>
            <a:r>
              <a:rPr lang="en-US" sz="1400" dirty="0">
                <a:solidFill>
                  <a:srgbClr val="F1F2ED"/>
                </a:solidFill>
                <a:latin typeface="Arial" pitchFamily="34" charset="0"/>
                <a:ea typeface="Arial" pitchFamily="34" charset="-122"/>
                <a:cs typeface="Arial" pitchFamily="34" charset="-120"/>
              </a:rPr>
              <a:t>Collect consistent single-reactor data and retrain</a:t>
            </a:r>
            <a:endParaRPr lang="en-US" sz="1400" dirty="0"/>
          </a:p>
          <a:p>
            <a:pPr marL="342900" indent="-342900">
              <a:spcAft>
                <a:spcPts val="800"/>
              </a:spcAft>
              <a:buSzPct val="100000"/>
              <a:buChar char="■"/>
            </a:pPr>
            <a:r>
              <a:rPr lang="en-US" sz="1400" dirty="0">
                <a:solidFill>
                  <a:srgbClr val="F1F2ED"/>
                </a:solidFill>
                <a:latin typeface="Arial" pitchFamily="34" charset="0"/>
                <a:ea typeface="Arial" pitchFamily="34" charset="-122"/>
                <a:cs typeface="Arial" pitchFamily="34" charset="-120"/>
              </a:rPr>
              <a:t>Connect the web app to the trained models via API</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103120"/>
            <a:ext cx="10972800" cy="1097280"/>
          </a:xfrm>
          <a:prstGeom prst="rect">
            <a:avLst/>
          </a:prstGeom>
          <a:noFill/>
          <a:ln/>
        </p:spPr>
        <p:txBody>
          <a:bodyPr wrap="square" rtlCol="0" anchor="ctr"/>
          <a:lstStyle/>
          <a:p>
            <a:pPr indent="0" marL="0">
              <a:buNone/>
            </a:pPr>
            <a:r>
              <a:rPr lang="en-US" sz="5400" b="1" dirty="0">
                <a:solidFill>
                  <a:srgbClr val="F1F2ED"/>
                </a:solidFill>
                <a:latin typeface="Arial" pitchFamily="34" charset="0"/>
                <a:ea typeface="Arial" pitchFamily="34" charset="-122"/>
                <a:cs typeface="Arial" pitchFamily="34" charset="-120"/>
              </a:rPr>
              <a:t>Thank you</a:t>
            </a:r>
            <a:endParaRPr lang="en-US" sz="5400" dirty="0"/>
          </a:p>
        </p:txBody>
      </p:sp>
      <p:sp>
        <p:nvSpPr>
          <p:cNvPr id="3" name="Text 1"/>
          <p:cNvSpPr/>
          <p:nvPr/>
        </p:nvSpPr>
        <p:spPr>
          <a:xfrm>
            <a:off x="548640" y="3200400"/>
            <a:ext cx="10972800" cy="548640"/>
          </a:xfrm>
          <a:prstGeom prst="rect">
            <a:avLst/>
          </a:prstGeom>
          <a:noFill/>
          <a:ln/>
        </p:spPr>
        <p:txBody>
          <a:bodyPr wrap="square" rtlCol="0" anchor="ctr"/>
          <a:lstStyle/>
          <a:p>
            <a:pPr indent="0" marL="0">
              <a:buNone/>
            </a:pPr>
            <a:r>
              <a:rPr lang="en-US" sz="2200" dirty="0">
                <a:solidFill>
                  <a:srgbClr val="C9F36B"/>
                </a:solidFill>
                <a:latin typeface="Arial" pitchFamily="34" charset="0"/>
                <a:ea typeface="Arial" pitchFamily="34" charset="-122"/>
                <a:cs typeface="Arial" pitchFamily="34" charset="-120"/>
              </a:rPr>
              <a:t>Questions and live demo</a:t>
            </a:r>
            <a:endParaRPr lang="en-US" sz="2200" dirty="0"/>
          </a:p>
        </p:txBody>
      </p:sp>
      <p:sp>
        <p:nvSpPr>
          <p:cNvPr id="4" name="Text 2"/>
          <p:cNvSpPr/>
          <p:nvPr/>
        </p:nvSpPr>
        <p:spPr>
          <a:xfrm>
            <a:off x="548640" y="4114800"/>
            <a:ext cx="10972800" cy="365760"/>
          </a:xfrm>
          <a:prstGeom prst="rect">
            <a:avLst/>
          </a:prstGeom>
          <a:noFill/>
          <a:ln/>
        </p:spPr>
        <p:txBody>
          <a:bodyPr wrap="square" rtlCol="0" anchor="ctr"/>
          <a:lstStyle/>
          <a:p>
            <a:pPr indent="0" marL="0">
              <a:buNone/>
            </a:pPr>
            <a:r>
              <a:rPr lang="en-US" sz="1300" dirty="0">
                <a:solidFill>
                  <a:srgbClr val="9A9F9B"/>
                </a:solidFill>
                <a:latin typeface="Consolas" pitchFamily="34" charset="0"/>
                <a:ea typeface="Consolas" pitchFamily="34" charset="-122"/>
                <a:cs typeface="Consolas" pitchFamily="34" charset="-120"/>
              </a:rPr>
              <a:t>github.com/umasuthanpalaniappan/BioOil-Automation</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6E"/>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Pyrolysis Advisor — Results</dc:title>
  <dc:subject>PptxGenJS Presentation</dc:subject>
  <dc:creator>PptxGenJS</dc:creator>
  <cp:lastModifiedBy>PptxGenJS</cp:lastModifiedBy>
  <cp:revision>1</cp:revision>
  <dcterms:created xsi:type="dcterms:W3CDTF">2026-10-20T05:14:15Z</dcterms:created>
  <dcterms:modified xsi:type="dcterms:W3CDTF">2026-10-20T05:14:15Z</dcterms:modified>
</cp:coreProperties>
</file>