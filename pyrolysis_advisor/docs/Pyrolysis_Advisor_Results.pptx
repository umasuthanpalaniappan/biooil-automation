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One-line framing: we asked how well machine learning can really predict bio-oil yield and oxygen content for a new biomass, and built a tool that gives honest, physics-consistent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outcomes. Everything after this slide is evidence for one of them. Datasets: Zhang 2022 for O/C ratio, Pascarella 2025 compiled dataset for yield.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headline result. With a random 80/20 split, rows from the same biomass end up in both train and test, so the model just recognises the biomass. Testing on genuinely unseen biomasses, yield prediction drops to guessing level and O/C drops to R² 0.23. This matches the 0.75 to 0.97 range typically reported in literature — those numbers mostly reflect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honest testing, adding physics features improved O/C prediction for every model; for GPR it moved from worse-than-average to usable. The features encode known reaction chemistry rather than raw numbers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Sanity check against chemistry. Average predicted yield peaks at 525 °C, matching the known optimum. Above about 600 °C the yield falls, consistent with secondary cracking of vapours — the model learned this two-step behaviour from data. O/C decreases monotonically with temperature, guaranteed by a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report realistic uncertainty, not optimistic numbers. For a completely new biomass the 80 percent interval is about plus or minus 12.6 wt%. After one real experiment, error drops to 5.3 wt%; after two, to 4.2. That is better than just reusing the measured point. For O/C the measured value alone was slightly better, which we state openly.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biomasses were withheld entirely from training. With zero experiments, the model picked the correct optimum temperature for two of them. One calibration point cut the error under 2 wt% for biomasses 108 and 99. For biomass 11 the calibration point was an outlier, which made things worse — lesson: calibrate with at least two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Advisor searches temperature and heating rate, then shows the yield-versus-oxygen Pareto front instead of a single answer. For pine, pushing from 41.8 to 43.5 wt% yield raises O/C by about 40 percent. The applicability check correctly refuses the nitrogen-rich microalgae and the coal-like feedstock.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model. Show it live if possible: cd advisor-frontend, npm install, npm run dev. The page explains the method, then the Run the Advisor button opens the interactive demo. The demo uses the Advisor's actual pre-computed outputs for four feedstocks; it does not connect to a reactor.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demo. Step 1: pick a sample feedstock. Step 2: the Advisor shows the composition, its domain-distance check, the proposed temperature and heating rate, and the yield range across all settings. Step 3: the user decides; the result screen says clearly that this is a model estimate,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that always answers is dangerous. The Advisor measures how far a feedstock's composition is from anything in training. Above the 0.41 limit it withholds the recommendation, explains why, and asks for calibration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here come from grouped-by-biomass testing. 72 percent of yield variance in the compiled data lies between biomasses and labs, which sets a ceiling on yield accuracy. The strength of the project is that every number is honest and the tool behaves physically.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limits. Most important next step: consistent single-reactor data, and wiring the web app to the live models through the FastAPI backend already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to run the live demo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0B0D0C"/>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rtlCol="0" anchor="ctr"/>
          <a:lstStyle/>
          <a:p>
            <a:pPr indent="0" marL="0">
              <a:buNone/>
            </a:pPr>
            <a:r>
              <a:rPr lang="en-US" sz="900" spc="200" kern="0" dirty="0">
                <a:solidFill>
                  <a:srgbClr val="6B716E"/>
                </a:solidFill>
                <a:latin typeface="Consolas" pitchFamily="34" charset="0"/>
                <a:ea typeface="Consolas" pitchFamily="34" charset="-122"/>
                <a:cs typeface="Consolas" pitchFamily="34" charset="-120"/>
              </a:rPr>
              <a:t>PYROLYSIS ADVISOR · TEAM 2</a:t>
            </a:r>
            <a:endParaRPr lang="en-US" sz="9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BioOil-Automation/5397d81f-6477-55ef-8890-ec0ebaf31f4d/scratchpad/final_report/assets/logo.png">    </p:cNvPr>
          <p:cNvPicPr>
            <a:picLocks noChangeAspect="1"/>
          </p:cNvPicPr>
          <p:nvPr/>
        </p:nvPicPr>
        <p:blipFill>
          <a:blip r:embed="rId1"/>
          <a:stretch>
            <a:fillRect/>
          </a:stretch>
        </p:blipFill>
        <p:spPr>
          <a:xfrm>
            <a:off x="548640" y="457200"/>
            <a:ext cx="566928" cy="688413"/>
          </a:xfrm>
          <a:prstGeom prst="rect">
            <a:avLst/>
          </a:prstGeom>
        </p:spPr>
      </p:pic>
      <p:sp>
        <p:nvSpPr>
          <p:cNvPr id="3" name="Text 0"/>
          <p:cNvSpPr/>
          <p:nvPr/>
        </p:nvSpPr>
        <p:spPr>
          <a:xfrm>
            <a:off x="1371600" y="548640"/>
            <a:ext cx="9144000" cy="365760"/>
          </a:xfrm>
          <a:prstGeom prst="rect">
            <a:avLst/>
          </a:prstGeom>
          <a:noFill/>
          <a:ln/>
        </p:spPr>
        <p:txBody>
          <a:bodyPr wrap="square" rtlCol="0" anchor="ctr"/>
          <a:lstStyle/>
          <a:p>
            <a:pPr indent="0" marL="0">
              <a:buNone/>
            </a:pPr>
            <a:r>
              <a:rPr lang="en-US" sz="1100" spc="200" kern="0" dirty="0">
                <a:solidFill>
                  <a:srgbClr val="9A9F9B"/>
                </a:solidFill>
                <a:latin typeface="Consolas" pitchFamily="34" charset="0"/>
                <a:ea typeface="Consolas" pitchFamily="34" charset="-122"/>
                <a:cs typeface="Consolas" pitchFamily="34" charset="-120"/>
              </a:rPr>
              <a:t>AMRITA VISHWA VIDYAPEETHAM · SCHOOL OF ARTIFICIAL INTELLIGENCE</a:t>
            </a:r>
            <a:endParaRPr lang="en-US" sz="1100" dirty="0"/>
          </a:p>
        </p:txBody>
      </p:sp>
      <p:sp>
        <p:nvSpPr>
          <p:cNvPr id="4" name="Text 1"/>
          <p:cNvSpPr/>
          <p:nvPr/>
        </p:nvSpPr>
        <p:spPr>
          <a:xfrm>
            <a:off x="548640" y="1645920"/>
            <a:ext cx="10972800" cy="365760"/>
          </a:xfrm>
          <a:prstGeom prst="rect">
            <a:avLst/>
          </a:prstGeom>
          <a:noFill/>
          <a:ln/>
        </p:spPr>
        <p:txBody>
          <a:bodyPr wrap="square" rtlCol="0" anchor="ctr"/>
          <a:lstStyle/>
          <a:p>
            <a:pPr indent="0" marL="0">
              <a:buNone/>
            </a:pPr>
            <a:r>
              <a:rPr lang="en-US" sz="1300" b="1" spc="400" kern="0" dirty="0">
                <a:solidFill>
                  <a:srgbClr val="C9F36B"/>
                </a:solidFill>
                <a:latin typeface="Consolas" pitchFamily="34" charset="0"/>
                <a:ea typeface="Consolas" pitchFamily="34" charset="-122"/>
                <a:cs typeface="Consolas" pitchFamily="34" charset="-120"/>
              </a:rPr>
              <a:t>PROJECT RESULTS</a:t>
            </a:r>
            <a:endParaRPr lang="en-US" sz="1300" dirty="0"/>
          </a:p>
        </p:txBody>
      </p:sp>
      <p:sp>
        <p:nvSpPr>
          <p:cNvPr id="5" name="Text 2"/>
          <p:cNvSpPr/>
          <p:nvPr/>
        </p:nvSpPr>
        <p:spPr>
          <a:xfrm>
            <a:off x="548640" y="2011680"/>
            <a:ext cx="10972800" cy="914400"/>
          </a:xfrm>
          <a:prstGeom prst="rect">
            <a:avLst/>
          </a:prstGeom>
          <a:noFill/>
          <a:ln/>
        </p:spPr>
        <p:txBody>
          <a:bodyPr wrap="square" rtlCol="0" anchor="ctr"/>
          <a:lstStyle/>
          <a:p>
            <a:pPr indent="0" marL="0">
              <a:buNone/>
            </a:pPr>
            <a:r>
              <a:rPr lang="en-US" sz="4400" b="1" dirty="0">
                <a:solidFill>
                  <a:srgbClr val="F1F2ED"/>
                </a:solidFill>
                <a:latin typeface="Arial" pitchFamily="34" charset="0"/>
                <a:ea typeface="Arial" pitchFamily="34" charset="-122"/>
                <a:cs typeface="Arial" pitchFamily="34" charset="-120"/>
              </a:rPr>
              <a:t>Physics-Aware ML for Bio-Oil Pyrolysis</a:t>
            </a:r>
            <a:endParaRPr lang="en-US" sz="4400" dirty="0"/>
          </a:p>
        </p:txBody>
      </p:sp>
      <p:sp>
        <p:nvSpPr>
          <p:cNvPr id="6" name="Text 3"/>
          <p:cNvSpPr/>
          <p:nvPr/>
        </p:nvSpPr>
        <p:spPr>
          <a:xfrm>
            <a:off x="548640" y="2926080"/>
            <a:ext cx="10058400" cy="548640"/>
          </a:xfrm>
          <a:prstGeom prst="rect">
            <a:avLst/>
          </a:prstGeom>
          <a:noFill/>
          <a:ln/>
        </p:spPr>
        <p:txBody>
          <a:bodyPr wrap="square" rtlCol="0" anchor="ctr"/>
          <a:lstStyle/>
          <a:p>
            <a:pPr indent="0" marL="0">
              <a:buNone/>
            </a:pPr>
            <a:r>
              <a:rPr lang="en-US" sz="2000" dirty="0">
                <a:solidFill>
                  <a:srgbClr val="9A9F9B"/>
                </a:solidFill>
                <a:latin typeface="Arial" pitchFamily="34" charset="0"/>
                <a:ea typeface="Arial" pitchFamily="34" charset="-122"/>
                <a:cs typeface="Arial" pitchFamily="34" charset="-120"/>
              </a:rPr>
              <a:t>An honest benchmark and a working Pyrolysis Advisor for higher yield and lower oxygen</a:t>
            </a:r>
            <a:endParaRPr lang="en-US" sz="2000" dirty="0"/>
          </a:p>
        </p:txBody>
      </p:sp>
      <p:sp>
        <p:nvSpPr>
          <p:cNvPr id="7" name="Shape 4"/>
          <p:cNvSpPr/>
          <p:nvPr/>
        </p:nvSpPr>
        <p:spPr>
          <a:xfrm>
            <a:off x="548640" y="3931920"/>
            <a:ext cx="11064240" cy="0"/>
          </a:xfrm>
          <a:prstGeom prst="line">
            <a:avLst/>
          </a:prstGeom>
          <a:noFill/>
          <a:ln w="12700">
            <a:solidFill>
              <a:srgbClr val="2A3031"/>
            </a:solidFill>
            <a:prstDash val="solid"/>
          </a:ln>
        </p:spPr>
      </p:sp>
      <p:sp>
        <p:nvSpPr>
          <p:cNvPr id="8" name="Text 5"/>
          <p:cNvSpPr/>
          <p:nvPr/>
        </p:nvSpPr>
        <p:spPr>
          <a:xfrm>
            <a:off x="548640" y="4160520"/>
            <a:ext cx="5486400" cy="274320"/>
          </a:xfrm>
          <a:prstGeom prst="rect">
            <a:avLst/>
          </a:prstGeom>
          <a:noFill/>
          <a:ln/>
        </p:spPr>
        <p:txBody>
          <a:bodyPr wrap="square" rtlCol="0" anchor="ctr"/>
          <a:lstStyle/>
          <a:p>
            <a:pPr indent="0" marL="0">
              <a:buNone/>
            </a:pPr>
            <a:r>
              <a:rPr lang="en-US" sz="1100" spc="200" kern="0" dirty="0">
                <a:solidFill>
                  <a:srgbClr val="6B716E"/>
                </a:solidFill>
                <a:latin typeface="Consolas" pitchFamily="34" charset="0"/>
                <a:ea typeface="Consolas" pitchFamily="34" charset="-122"/>
                <a:cs typeface="Consolas" pitchFamily="34" charset="-120"/>
              </a:rPr>
              <a:t>TEAM 2</a:t>
            </a:r>
            <a:endParaRPr lang="en-US" sz="1100" dirty="0"/>
          </a:p>
        </p:txBody>
      </p:sp>
      <p:sp>
        <p:nvSpPr>
          <p:cNvPr id="9" name="Text 6"/>
          <p:cNvSpPr/>
          <p:nvPr/>
        </p:nvSpPr>
        <p:spPr>
          <a:xfrm>
            <a:off x="548640" y="4480560"/>
            <a:ext cx="5486400" cy="1463040"/>
          </a:xfrm>
          <a:prstGeom prst="rect">
            <a:avLst/>
          </a:prstGeom>
          <a:noFill/>
          <a:ln/>
        </p:spPr>
        <p:txBody>
          <a:bodyPr wrap="square" rtlCol="0" anchor="t"/>
          <a:lstStyle/>
          <a:p>
            <a:pPr indent="0" marL="0">
              <a:spcAft>
                <a:spcPts val="400"/>
              </a:spcAft>
              <a:buNone/>
            </a:pPr>
            <a:r>
              <a:rPr lang="en-US" sz="1500" dirty="0">
                <a:solidFill>
                  <a:srgbClr val="F1F2ED"/>
                </a:solidFill>
                <a:latin typeface="Arial" pitchFamily="34" charset="0"/>
                <a:ea typeface="Arial" pitchFamily="34" charset="-122"/>
                <a:cs typeface="Arial" pitchFamily="34" charset="-120"/>
              </a:rPr>
              <a:t>Mohalraj Shivanethran (AIM25020)</a:t>
            </a:r>
            <a:endParaRPr lang="en-US" sz="1500" dirty="0"/>
          </a:p>
          <a:p>
            <a:pPr indent="0" marL="0">
              <a:spcAft>
                <a:spcPts val="400"/>
              </a:spcAft>
              <a:buNone/>
            </a:pPr>
            <a:r>
              <a:rPr lang="en-US" sz="1500" dirty="0">
                <a:solidFill>
                  <a:srgbClr val="F1F2ED"/>
                </a:solidFill>
                <a:latin typeface="Arial" pitchFamily="34" charset="0"/>
                <a:ea typeface="Arial" pitchFamily="34" charset="-122"/>
                <a:cs typeface="Arial" pitchFamily="34" charset="-120"/>
              </a:rPr>
              <a:t>Pranesh Subramanian (AIM25030)</a:t>
            </a:r>
            <a:endParaRPr lang="en-US" sz="1500" dirty="0"/>
          </a:p>
          <a:p>
            <a:pPr indent="0" marL="0">
              <a:spcAft>
                <a:spcPts val="400"/>
              </a:spcAft>
              <a:buNone/>
            </a:pPr>
            <a:r>
              <a:rPr lang="en-US" sz="1500" dirty="0">
                <a:solidFill>
                  <a:srgbClr val="F1F2ED"/>
                </a:solidFill>
                <a:latin typeface="Arial" pitchFamily="34" charset="0"/>
                <a:ea typeface="Arial" pitchFamily="34" charset="-122"/>
                <a:cs typeface="Arial" pitchFamily="34" charset="-120"/>
              </a:rPr>
              <a:t>Srinath Balakrishnan (AIM25040)</a:t>
            </a:r>
            <a:endParaRPr lang="en-US" sz="1500" dirty="0"/>
          </a:p>
          <a:p>
            <a:pPr indent="0" marL="0">
              <a:spcAft>
                <a:spcPts val="400"/>
              </a:spcAft>
              <a:buNone/>
            </a:pPr>
            <a:r>
              <a:rPr lang="en-US" sz="1500" dirty="0">
                <a:solidFill>
                  <a:srgbClr val="F1F2ED"/>
                </a:solidFill>
                <a:latin typeface="Arial" pitchFamily="34" charset="0"/>
                <a:ea typeface="Arial" pitchFamily="34" charset="-122"/>
                <a:cs typeface="Arial" pitchFamily="34" charset="-120"/>
              </a:rPr>
              <a:t>Umasuthan Palaniappan (AIM25041)</a:t>
            </a:r>
            <a:endParaRPr lang="en-US" sz="1500" dirty="0"/>
          </a:p>
        </p:txBody>
      </p:sp>
      <p:sp>
        <p:nvSpPr>
          <p:cNvPr id="10" name="Text 7"/>
          <p:cNvSpPr/>
          <p:nvPr/>
        </p:nvSpPr>
        <p:spPr>
          <a:xfrm>
            <a:off x="6583680" y="4160520"/>
            <a:ext cx="4572000" cy="274320"/>
          </a:xfrm>
          <a:prstGeom prst="rect">
            <a:avLst/>
          </a:prstGeom>
          <a:noFill/>
          <a:ln/>
        </p:spPr>
        <p:txBody>
          <a:bodyPr wrap="square" rtlCol="0" anchor="ctr"/>
          <a:lstStyle/>
          <a:p>
            <a:pPr indent="0" marL="0">
              <a:buNone/>
            </a:pPr>
            <a:r>
              <a:rPr lang="en-US" sz="1100" spc="200" kern="0" dirty="0">
                <a:solidFill>
                  <a:srgbClr val="6B716E"/>
                </a:solidFill>
                <a:latin typeface="Consolas" pitchFamily="34" charset="0"/>
                <a:ea typeface="Consolas" pitchFamily="34" charset="-122"/>
                <a:cs typeface="Consolas" pitchFamily="34" charset="-120"/>
              </a:rPr>
              <a:t>MENTOR</a:t>
            </a:r>
            <a:endParaRPr lang="en-US" sz="1100" dirty="0"/>
          </a:p>
        </p:txBody>
      </p:sp>
      <p:sp>
        <p:nvSpPr>
          <p:cNvPr id="11" name="Text 8"/>
          <p:cNvSpPr/>
          <p:nvPr/>
        </p:nvSpPr>
        <p:spPr>
          <a:xfrm>
            <a:off x="6583680" y="4480560"/>
            <a:ext cx="5029200" cy="914400"/>
          </a:xfrm>
          <a:prstGeom prst="rect">
            <a:avLst/>
          </a:prstGeom>
          <a:noFill/>
          <a:ln/>
        </p:spPr>
        <p:txBody>
          <a:bodyPr wrap="square" rtlCol="0" anchor="t"/>
          <a:lstStyle/>
          <a:p>
            <a:pPr indent="0" marL="0">
              <a:buNone/>
            </a:pPr>
            <a:r>
              <a:rPr lang="en-US" sz="1500" b="1" dirty="0">
                <a:solidFill>
                  <a:srgbClr val="F1F2ED"/>
                </a:solidFill>
                <a:latin typeface="Arial" pitchFamily="34" charset="0"/>
                <a:ea typeface="Arial" pitchFamily="34" charset="-122"/>
                <a:cs typeface="Arial" pitchFamily="34" charset="-120"/>
              </a:rPr>
              <a:t>Dr. Akhil Mohan</a:t>
            </a:r>
            <a:endParaRPr lang="en-US" sz="1500" dirty="0"/>
          </a:p>
          <a:p>
            <a:pPr indent="0" marL="0">
              <a:buNone/>
            </a:pPr>
            <a:r>
              <a:rPr lang="en-US" sz="1500" dirty="0">
                <a:solidFill>
                  <a:srgbClr val="F1F2ED"/>
                </a:solidFill>
                <a:latin typeface="Arial" pitchFamily="34" charset="0"/>
                <a:ea typeface="Arial" pitchFamily="34" charset="-122"/>
                <a:cs typeface="Arial" pitchFamily="34" charset="-120"/>
              </a:rPr>
              <a:t>Assistant Professor, School of Artificial Intelligence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OUTCOMES AT A GLANCE</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Three things this project delivers</a:t>
            </a:r>
            <a:endParaRPr lang="en-US" sz="3000" dirty="0"/>
          </a:p>
        </p:txBody>
      </p:sp>
      <p:sp>
        <p:nvSpPr>
          <p:cNvPr id="4" name="Shape 2"/>
          <p:cNvSpPr/>
          <p:nvPr/>
        </p:nvSpPr>
        <p:spPr>
          <a:xfrm>
            <a:off x="548640" y="1920240"/>
            <a:ext cx="3520440" cy="3566160"/>
          </a:xfrm>
          <a:prstGeom prst="roundRect">
            <a:avLst>
              <a:gd name="adj" fmla="val 3117"/>
            </a:avLst>
          </a:prstGeom>
          <a:solidFill>
            <a:srgbClr val="15191A"/>
          </a:solidFill>
          <a:ln w="12700">
            <a:solidFill>
              <a:srgbClr val="2A3031"/>
            </a:solidFill>
            <a:prstDash val="solid"/>
          </a:ln>
        </p:spPr>
      </p:sp>
      <p:sp>
        <p:nvSpPr>
          <p:cNvPr id="5" name="Text 3"/>
          <p:cNvSpPr/>
          <p:nvPr/>
        </p:nvSpPr>
        <p:spPr>
          <a:xfrm>
            <a:off x="868680" y="2194560"/>
            <a:ext cx="914400" cy="365760"/>
          </a:xfrm>
          <a:prstGeom prst="rect">
            <a:avLst/>
          </a:prstGeom>
          <a:noFill/>
          <a:ln/>
        </p:spPr>
        <p:txBody>
          <a:bodyPr wrap="square" rtlCol="0" anchor="ctr"/>
          <a:lstStyle/>
          <a:p>
            <a:pPr indent="0" marL="0">
              <a:buNone/>
            </a:pPr>
            <a:r>
              <a:rPr lang="en-US" sz="1400" b="1" dirty="0">
                <a:solidFill>
                  <a:srgbClr val="C9F36B"/>
                </a:solidFill>
                <a:latin typeface="Consolas" pitchFamily="34" charset="0"/>
                <a:ea typeface="Consolas" pitchFamily="34" charset="-122"/>
                <a:cs typeface="Consolas" pitchFamily="34" charset="-120"/>
              </a:rPr>
              <a:t>01</a:t>
            </a:r>
            <a:endParaRPr lang="en-US" sz="1400" dirty="0"/>
          </a:p>
        </p:txBody>
      </p:sp>
      <p:sp>
        <p:nvSpPr>
          <p:cNvPr id="6" name="Text 4"/>
          <p:cNvSpPr/>
          <p:nvPr/>
        </p:nvSpPr>
        <p:spPr>
          <a:xfrm>
            <a:off x="868680" y="2697480"/>
            <a:ext cx="2926080" cy="822960"/>
          </a:xfrm>
          <a:prstGeom prst="rect">
            <a:avLst/>
          </a:prstGeom>
          <a:noFill/>
          <a:ln/>
        </p:spPr>
        <p:txBody>
          <a:bodyPr wrap="square" rtlCol="0" anchor="t"/>
          <a:lstStyle/>
          <a:p>
            <a:pPr indent="0" marL="0">
              <a:buNone/>
            </a:pPr>
            <a:r>
              <a:rPr lang="en-US" sz="2200" b="1" dirty="0">
                <a:solidFill>
                  <a:srgbClr val="F1F2ED"/>
                </a:solidFill>
                <a:latin typeface="Arial" pitchFamily="34" charset="0"/>
                <a:ea typeface="Arial" pitchFamily="34" charset="-122"/>
                <a:cs typeface="Arial" pitchFamily="34" charset="-120"/>
              </a:rPr>
              <a:t>An honest benchmark</a:t>
            </a:r>
            <a:endParaRPr lang="en-US" sz="2200" dirty="0"/>
          </a:p>
        </p:txBody>
      </p:sp>
      <p:sp>
        <p:nvSpPr>
          <p:cNvPr id="7" name="Text 5"/>
          <p:cNvSpPr/>
          <p:nvPr/>
        </p:nvSpPr>
        <p:spPr>
          <a:xfrm>
            <a:off x="868680" y="3566160"/>
            <a:ext cx="2926080" cy="1737360"/>
          </a:xfrm>
          <a:prstGeom prst="rect">
            <a:avLst/>
          </a:prstGeom>
          <a:noFill/>
          <a:ln/>
        </p:spPr>
        <p:txBody>
          <a:bodyPr wrap="square" rtlCol="0" anchor="t"/>
          <a:lstStyle/>
          <a:p>
            <a:pPr indent="0" marL="0">
              <a:buNone/>
            </a:pPr>
            <a:r>
              <a:rPr lang="en-US" sz="1400" dirty="0">
                <a:solidFill>
                  <a:srgbClr val="9A9F9B"/>
                </a:solidFill>
                <a:latin typeface="Arial" pitchFamily="34" charset="0"/>
                <a:ea typeface="Arial" pitchFamily="34" charset="-122"/>
                <a:cs typeface="Arial" pitchFamily="34" charset="-120"/>
              </a:rPr>
              <a:t>We showed that typical published accuracy collapses when a model is tested on a biomass it has never seen.</a:t>
            </a:r>
            <a:endParaRPr lang="en-US" sz="1400" dirty="0"/>
          </a:p>
        </p:txBody>
      </p:sp>
      <p:sp>
        <p:nvSpPr>
          <p:cNvPr id="8" name="Shape 6"/>
          <p:cNvSpPr/>
          <p:nvPr/>
        </p:nvSpPr>
        <p:spPr>
          <a:xfrm>
            <a:off x="4297680" y="1920240"/>
            <a:ext cx="3520440" cy="3566160"/>
          </a:xfrm>
          <a:prstGeom prst="roundRect">
            <a:avLst>
              <a:gd name="adj" fmla="val 3117"/>
            </a:avLst>
          </a:prstGeom>
          <a:solidFill>
            <a:srgbClr val="15191A"/>
          </a:solidFill>
          <a:ln w="12700">
            <a:solidFill>
              <a:srgbClr val="2A3031"/>
            </a:solidFill>
            <a:prstDash val="solid"/>
          </a:ln>
        </p:spPr>
      </p:sp>
      <p:sp>
        <p:nvSpPr>
          <p:cNvPr id="9" name="Text 7"/>
          <p:cNvSpPr/>
          <p:nvPr/>
        </p:nvSpPr>
        <p:spPr>
          <a:xfrm>
            <a:off x="4617720" y="2194560"/>
            <a:ext cx="914400" cy="365760"/>
          </a:xfrm>
          <a:prstGeom prst="rect">
            <a:avLst/>
          </a:prstGeom>
          <a:noFill/>
          <a:ln/>
        </p:spPr>
        <p:txBody>
          <a:bodyPr wrap="square" rtlCol="0" anchor="ctr"/>
          <a:lstStyle/>
          <a:p>
            <a:pPr indent="0" marL="0">
              <a:buNone/>
            </a:pPr>
            <a:r>
              <a:rPr lang="en-US" sz="1400" b="1" dirty="0">
                <a:solidFill>
                  <a:srgbClr val="C9F36B"/>
                </a:solidFill>
                <a:latin typeface="Consolas" pitchFamily="34" charset="0"/>
                <a:ea typeface="Consolas" pitchFamily="34" charset="-122"/>
                <a:cs typeface="Consolas" pitchFamily="34" charset="-120"/>
              </a:rPr>
              <a:t>02</a:t>
            </a:r>
            <a:endParaRPr lang="en-US" sz="1400" dirty="0"/>
          </a:p>
        </p:txBody>
      </p:sp>
      <p:sp>
        <p:nvSpPr>
          <p:cNvPr id="10" name="Text 8"/>
          <p:cNvSpPr/>
          <p:nvPr/>
        </p:nvSpPr>
        <p:spPr>
          <a:xfrm>
            <a:off x="4617720" y="2697480"/>
            <a:ext cx="2926080" cy="822960"/>
          </a:xfrm>
          <a:prstGeom prst="rect">
            <a:avLst/>
          </a:prstGeom>
          <a:noFill/>
          <a:ln/>
        </p:spPr>
        <p:txBody>
          <a:bodyPr wrap="square" rtlCol="0" anchor="t"/>
          <a:lstStyle/>
          <a:p>
            <a:pPr indent="0" marL="0">
              <a:buNone/>
            </a:pPr>
            <a:r>
              <a:rPr lang="en-US" sz="2200" b="1" dirty="0">
                <a:solidFill>
                  <a:srgbClr val="F1F2ED"/>
                </a:solidFill>
                <a:latin typeface="Arial" pitchFamily="34" charset="0"/>
                <a:ea typeface="Arial" pitchFamily="34" charset="-122"/>
                <a:cs typeface="Arial" pitchFamily="34" charset="-120"/>
              </a:rPr>
              <a:t>Physics-aware models</a:t>
            </a:r>
            <a:endParaRPr lang="en-US" sz="2200" dirty="0"/>
          </a:p>
        </p:txBody>
      </p:sp>
      <p:sp>
        <p:nvSpPr>
          <p:cNvPr id="11" name="Text 9"/>
          <p:cNvSpPr/>
          <p:nvPr/>
        </p:nvSpPr>
        <p:spPr>
          <a:xfrm>
            <a:off x="4617720" y="3566160"/>
            <a:ext cx="2926080" cy="1737360"/>
          </a:xfrm>
          <a:prstGeom prst="rect">
            <a:avLst/>
          </a:prstGeom>
          <a:noFill/>
          <a:ln/>
        </p:spPr>
        <p:txBody>
          <a:bodyPr wrap="square" rtlCol="0" anchor="t"/>
          <a:lstStyle/>
          <a:p>
            <a:pPr indent="0" marL="0">
              <a:buNone/>
            </a:pPr>
            <a:r>
              <a:rPr lang="en-US" sz="1400" dirty="0">
                <a:solidFill>
                  <a:srgbClr val="9A9F9B"/>
                </a:solidFill>
                <a:latin typeface="Arial" pitchFamily="34" charset="0"/>
                <a:ea typeface="Arial" pitchFamily="34" charset="-122"/>
                <a:cs typeface="Arial" pitchFamily="34" charset="-120"/>
              </a:rPr>
              <a:t>Final yield and O/C models built on kinetics-based features and physical constraints that behave like real pyrolysis.</a:t>
            </a:r>
            <a:endParaRPr lang="en-US" sz="1400" dirty="0"/>
          </a:p>
        </p:txBody>
      </p:sp>
      <p:sp>
        <p:nvSpPr>
          <p:cNvPr id="12" name="Shape 10"/>
          <p:cNvSpPr/>
          <p:nvPr/>
        </p:nvSpPr>
        <p:spPr>
          <a:xfrm>
            <a:off x="8046720" y="1920240"/>
            <a:ext cx="3520440" cy="3566160"/>
          </a:xfrm>
          <a:prstGeom prst="roundRect">
            <a:avLst>
              <a:gd name="adj" fmla="val 3117"/>
            </a:avLst>
          </a:prstGeom>
          <a:solidFill>
            <a:srgbClr val="15191A"/>
          </a:solidFill>
          <a:ln w="12700">
            <a:solidFill>
              <a:srgbClr val="2A3031"/>
            </a:solidFill>
            <a:prstDash val="solid"/>
          </a:ln>
        </p:spPr>
      </p:sp>
      <p:sp>
        <p:nvSpPr>
          <p:cNvPr id="13" name="Text 11"/>
          <p:cNvSpPr/>
          <p:nvPr/>
        </p:nvSpPr>
        <p:spPr>
          <a:xfrm>
            <a:off x="8366760" y="2194560"/>
            <a:ext cx="914400" cy="365760"/>
          </a:xfrm>
          <a:prstGeom prst="rect">
            <a:avLst/>
          </a:prstGeom>
          <a:noFill/>
          <a:ln/>
        </p:spPr>
        <p:txBody>
          <a:bodyPr wrap="square" rtlCol="0" anchor="ctr"/>
          <a:lstStyle/>
          <a:p>
            <a:pPr indent="0" marL="0">
              <a:buNone/>
            </a:pPr>
            <a:r>
              <a:rPr lang="en-US" sz="1400" b="1" dirty="0">
                <a:solidFill>
                  <a:srgbClr val="C9F36B"/>
                </a:solidFill>
                <a:latin typeface="Consolas" pitchFamily="34" charset="0"/>
                <a:ea typeface="Consolas" pitchFamily="34" charset="-122"/>
                <a:cs typeface="Consolas" pitchFamily="34" charset="-120"/>
              </a:rPr>
              <a:t>03</a:t>
            </a:r>
            <a:endParaRPr lang="en-US" sz="1400" dirty="0"/>
          </a:p>
        </p:txBody>
      </p:sp>
      <p:sp>
        <p:nvSpPr>
          <p:cNvPr id="14" name="Text 12"/>
          <p:cNvSpPr/>
          <p:nvPr/>
        </p:nvSpPr>
        <p:spPr>
          <a:xfrm>
            <a:off x="8366760" y="2697480"/>
            <a:ext cx="2926080" cy="822960"/>
          </a:xfrm>
          <a:prstGeom prst="rect">
            <a:avLst/>
          </a:prstGeom>
          <a:noFill/>
          <a:ln/>
        </p:spPr>
        <p:txBody>
          <a:bodyPr wrap="square" rtlCol="0" anchor="t"/>
          <a:lstStyle/>
          <a:p>
            <a:pPr indent="0" marL="0">
              <a:buNone/>
            </a:pPr>
            <a:r>
              <a:rPr lang="en-US" sz="2200" b="1" dirty="0">
                <a:solidFill>
                  <a:srgbClr val="F1F2ED"/>
                </a:solidFill>
                <a:latin typeface="Arial" pitchFamily="34" charset="0"/>
                <a:ea typeface="Arial" pitchFamily="34" charset="-122"/>
                <a:cs typeface="Arial" pitchFamily="34" charset="-120"/>
              </a:rPr>
              <a:t>A working Advisor</a:t>
            </a:r>
            <a:endParaRPr lang="en-US" sz="2200" dirty="0"/>
          </a:p>
        </p:txBody>
      </p:sp>
      <p:sp>
        <p:nvSpPr>
          <p:cNvPr id="15" name="Text 13"/>
          <p:cNvSpPr/>
          <p:nvPr/>
        </p:nvSpPr>
        <p:spPr>
          <a:xfrm>
            <a:off x="8366760" y="3566160"/>
            <a:ext cx="2926080" cy="1737360"/>
          </a:xfrm>
          <a:prstGeom prst="rect">
            <a:avLst/>
          </a:prstGeom>
          <a:noFill/>
          <a:ln/>
        </p:spPr>
        <p:txBody>
          <a:bodyPr wrap="square" rtlCol="0" anchor="t"/>
          <a:lstStyle/>
          <a:p>
            <a:pPr indent="0" marL="0">
              <a:buNone/>
            </a:pPr>
            <a:r>
              <a:rPr lang="en-US" sz="1400" dirty="0">
                <a:solidFill>
                  <a:srgbClr val="9A9F9B"/>
                </a:solidFill>
                <a:latin typeface="Arial" pitchFamily="34" charset="0"/>
                <a:ea typeface="Arial" pitchFamily="34" charset="-122"/>
                <a:cs typeface="Arial" pitchFamily="34" charset="-120"/>
              </a:rPr>
              <a:t>A tool that recommends temperature and heating rate, shows the yield/oxygen trade-off, and refuses unfamiliar feedstocks.</a:t>
            </a:r>
            <a:endParaRPr lang="en-US" sz="1400" dirty="0"/>
          </a:p>
        </p:txBody>
      </p:sp>
      <p:sp>
        <p:nvSpPr>
          <p:cNvPr id="16" name="Text 14"/>
          <p:cNvSpPr/>
          <p:nvPr/>
        </p:nvSpPr>
        <p:spPr>
          <a:xfrm>
            <a:off x="548640" y="5760720"/>
            <a:ext cx="10972800" cy="365760"/>
          </a:xfrm>
          <a:prstGeom prst="rect">
            <a:avLst/>
          </a:prstGeom>
          <a:noFill/>
          <a:ln/>
        </p:spPr>
        <p:txBody>
          <a:bodyPr wrap="square" rtlCol="0" anchor="ctr"/>
          <a:lstStyle/>
          <a:p>
            <a:pPr indent="0" marL="0">
              <a:buNone/>
            </a:pPr>
            <a:r>
              <a:rPr lang="en-US" sz="1100" dirty="0">
                <a:solidFill>
                  <a:srgbClr val="6B716E"/>
                </a:solidFill>
                <a:latin typeface="Consolas" pitchFamily="34" charset="0"/>
                <a:ea typeface="Consolas" pitchFamily="34" charset="-122"/>
                <a:cs typeface="Consolas" pitchFamily="34" charset="-120"/>
              </a:rPr>
              <a:t>Data: Zhang et al. 2022 (O/C, 122 biomasses) and Pascarella et al. 2025 (yield, ~160 studies)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RESULT 1 · HONEST BENCHMARK</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Random splits make models look far better than they are</a:t>
            </a:r>
            <a:endParaRPr lang="en-US" sz="3000" dirty="0"/>
          </a:p>
        </p:txBody>
      </p:sp>
      <p:sp>
        <p:nvSpPr>
          <p:cNvPr id="4" name="Text 2"/>
          <p:cNvSpPr/>
          <p:nvPr/>
        </p:nvSpPr>
        <p:spPr>
          <a:xfrm>
            <a:off x="548640" y="1828800"/>
            <a:ext cx="3291840" cy="685800"/>
          </a:xfrm>
          <a:prstGeom prst="rect">
            <a:avLst/>
          </a:prstGeom>
          <a:noFill/>
          <a:ln/>
        </p:spPr>
        <p:txBody>
          <a:bodyPr wrap="square" lIns="0" tIns="0" rIns="0" bIns="0" rtlCol="0" anchor="b"/>
          <a:lstStyle/>
          <a:p>
            <a:pPr indent="0" marL="0">
              <a:buNone/>
            </a:pPr>
            <a:r>
              <a:rPr lang="en-US" sz="3600" b="1" dirty="0">
                <a:solidFill>
                  <a:srgbClr val="FF8C8C"/>
                </a:solidFill>
                <a:latin typeface="Arial" pitchFamily="34" charset="0"/>
                <a:ea typeface="Arial" pitchFamily="34" charset="-122"/>
                <a:cs typeface="Arial" pitchFamily="34" charset="-120"/>
              </a:rPr>
              <a:t>0.66 → −0.18</a:t>
            </a:r>
            <a:endParaRPr lang="en-US" sz="3600" dirty="0"/>
          </a:p>
        </p:txBody>
      </p:sp>
      <p:sp>
        <p:nvSpPr>
          <p:cNvPr id="5" name="Text 3"/>
          <p:cNvSpPr/>
          <p:nvPr/>
        </p:nvSpPr>
        <p:spPr>
          <a:xfrm>
            <a:off x="548640" y="2542032"/>
            <a:ext cx="3291840" cy="548640"/>
          </a:xfrm>
          <a:prstGeom prst="rect">
            <a:avLst/>
          </a:prstGeom>
          <a:noFill/>
          <a:ln/>
        </p:spPr>
        <p:txBody>
          <a:bodyPr wrap="square" lIns="0" tIns="0" rIns="0" bIns="0" rtlCol="0" anchor="t"/>
          <a:lstStyle/>
          <a:p>
            <a:pPr indent="0" marL="0">
              <a:buNone/>
            </a:pPr>
            <a:r>
              <a:rPr lang="en-US" sz="1200" dirty="0">
                <a:solidFill>
                  <a:srgbClr val="9A9F9B"/>
                </a:solidFill>
                <a:latin typeface="Arial" pitchFamily="34" charset="0"/>
                <a:ea typeface="Arial" pitchFamily="34" charset="-122"/>
                <a:cs typeface="Arial" pitchFamily="34" charset="-120"/>
              </a:rPr>
              <a:t>Yield R², random split → unseen biomass (XGBoost)</a:t>
            </a:r>
            <a:endParaRPr lang="en-US" sz="1200" dirty="0"/>
          </a:p>
        </p:txBody>
      </p:sp>
      <p:sp>
        <p:nvSpPr>
          <p:cNvPr id="6" name="Text 4"/>
          <p:cNvSpPr/>
          <p:nvPr/>
        </p:nvSpPr>
        <p:spPr>
          <a:xfrm>
            <a:off x="548640" y="3383280"/>
            <a:ext cx="3291840" cy="685800"/>
          </a:xfrm>
          <a:prstGeom prst="rect">
            <a:avLst/>
          </a:prstGeom>
          <a:noFill/>
          <a:ln/>
        </p:spPr>
        <p:txBody>
          <a:bodyPr wrap="square" lIns="0" tIns="0" rIns="0" bIns="0" rtlCol="0" anchor="b"/>
          <a:lstStyle/>
          <a:p>
            <a:pPr indent="0" marL="0">
              <a:buNone/>
            </a:pPr>
            <a:r>
              <a:rPr lang="en-US" sz="3600" b="1" dirty="0">
                <a:solidFill>
                  <a:srgbClr val="FF8C8C"/>
                </a:solidFill>
                <a:latin typeface="Arial" pitchFamily="34" charset="0"/>
                <a:ea typeface="Arial" pitchFamily="34" charset="-122"/>
                <a:cs typeface="Arial" pitchFamily="34" charset="-120"/>
              </a:rPr>
              <a:t>0.63 → 0.23</a:t>
            </a:r>
            <a:endParaRPr lang="en-US" sz="3600" dirty="0"/>
          </a:p>
        </p:txBody>
      </p:sp>
      <p:sp>
        <p:nvSpPr>
          <p:cNvPr id="7" name="Text 5"/>
          <p:cNvSpPr/>
          <p:nvPr/>
        </p:nvSpPr>
        <p:spPr>
          <a:xfrm>
            <a:off x="548640" y="4096512"/>
            <a:ext cx="3291840" cy="548640"/>
          </a:xfrm>
          <a:prstGeom prst="rect">
            <a:avLst/>
          </a:prstGeom>
          <a:noFill/>
          <a:ln/>
        </p:spPr>
        <p:txBody>
          <a:bodyPr wrap="square" lIns="0" tIns="0" rIns="0" bIns="0" rtlCol="0" anchor="t"/>
          <a:lstStyle/>
          <a:p>
            <a:pPr indent="0" marL="0">
              <a:buNone/>
            </a:pPr>
            <a:r>
              <a:rPr lang="en-US" sz="1200" dirty="0">
                <a:solidFill>
                  <a:srgbClr val="9A9F9B"/>
                </a:solidFill>
                <a:latin typeface="Arial" pitchFamily="34" charset="0"/>
                <a:ea typeface="Arial" pitchFamily="34" charset="-122"/>
                <a:cs typeface="Arial" pitchFamily="34" charset="-120"/>
              </a:rPr>
              <a:t>O/C R², random split → unseen biomass (GPR)</a:t>
            </a:r>
            <a:endParaRPr lang="en-US" sz="1200" dirty="0"/>
          </a:p>
        </p:txBody>
      </p:sp>
      <p:sp>
        <p:nvSpPr>
          <p:cNvPr id="8" name="Text 6"/>
          <p:cNvSpPr/>
          <p:nvPr/>
        </p:nvSpPr>
        <p:spPr>
          <a:xfrm>
            <a:off x="548640" y="4846320"/>
            <a:ext cx="3383280" cy="1097280"/>
          </a:xfrm>
          <a:prstGeom prst="rect">
            <a:avLst/>
          </a:prstGeom>
          <a:noFill/>
          <a:ln/>
        </p:spPr>
        <p:txBody>
          <a:bodyPr wrap="square" rtlCol="0" anchor="t"/>
          <a:lstStyle/>
          <a:p>
            <a:pPr indent="0" marL="0">
              <a:buNone/>
            </a:pPr>
            <a:r>
              <a:rPr lang="en-US" sz="1300" dirty="0">
                <a:solidFill>
                  <a:srgbClr val="9A9F9B"/>
                </a:solidFill>
                <a:latin typeface="Arial" pitchFamily="34" charset="0"/>
                <a:ea typeface="Arial" pitchFamily="34" charset="-122"/>
                <a:cs typeface="Arial" pitchFamily="34" charset="-120"/>
              </a:rPr>
              <a:t>Hidden near-duplicate rows in compiled data inflate scores further unless clustered first.</a:t>
            </a:r>
            <a:endParaRPr lang="en-US" sz="1300" dirty="0"/>
          </a:p>
        </p:txBody>
      </p:sp>
      <p:sp>
        <p:nvSpPr>
          <p:cNvPr id="9" name="Shape 7"/>
          <p:cNvSpPr/>
          <p:nvPr/>
        </p:nvSpPr>
        <p:spPr>
          <a:xfrm>
            <a:off x="4206240" y="1828800"/>
            <a:ext cx="7406640" cy="3435198"/>
          </a:xfrm>
          <a:prstGeom prst="roundRect">
            <a:avLst>
              <a:gd name="adj" fmla="val 3194"/>
            </a:avLst>
          </a:prstGeom>
          <a:solidFill>
            <a:srgbClr val="FFFFFF"/>
          </a:solidFill>
          <a:ln w="12700">
            <a:solidFill>
              <a:srgbClr val="FFFFFF"/>
            </a:solidFill>
            <a:prstDash val="solid"/>
          </a:ln>
        </p:spPr>
      </p:sp>
      <p:pic>
        <p:nvPicPr>
          <p:cNvPr id="10" name="Image 0" descr="/home/user/BioOil-Automation/pyrolysis_advisor/results/figures/A1_leakage.png">    </p:cNvPr>
          <p:cNvPicPr>
            <a:picLocks noChangeAspect="1"/>
          </p:cNvPicPr>
          <p:nvPr/>
        </p:nvPicPr>
        <p:blipFill>
          <a:blip r:embed="rId1"/>
          <a:stretch>
            <a:fillRect/>
          </a:stretch>
        </p:blipFill>
        <p:spPr>
          <a:xfrm>
            <a:off x="4315968" y="1938528"/>
            <a:ext cx="7187184" cy="3215742"/>
          </a:xfrm>
          <a:prstGeom prst="rect">
            <a:avLst/>
          </a:prstGeom>
        </p:spPr>
      </p:pic>
      <p:sp>
        <p:nvSpPr>
          <p:cNvPr id="11" name="Text 8"/>
          <p:cNvSpPr/>
          <p:nvPr/>
        </p:nvSpPr>
        <p:spPr>
          <a:xfrm>
            <a:off x="4206240" y="5349240"/>
            <a:ext cx="7406640" cy="274320"/>
          </a:xfrm>
          <a:prstGeom prst="rect">
            <a:avLst/>
          </a:prstGeom>
          <a:noFill/>
          <a:ln/>
        </p:spPr>
        <p:txBody>
          <a:bodyPr wrap="square" rtlCol="0" anchor="ctr"/>
          <a:lstStyle/>
          <a:p>
            <a:pPr indent="0" marL="0">
              <a:buNone/>
            </a:pPr>
            <a:r>
              <a:rPr lang="en-US" sz="1000" dirty="0">
                <a:solidFill>
                  <a:srgbClr val="6B716E"/>
                </a:solidFill>
                <a:latin typeface="Consolas" pitchFamily="34" charset="0"/>
                <a:ea typeface="Consolas" pitchFamily="34" charset="-122"/>
                <a:cs typeface="Consolas" pitchFamily="34" charset="-120"/>
              </a:rPr>
              <a:t>Figure: test R² under random vs. grouped-by-biomass testing</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RESULT 2 · PHYSICS FEATURES</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Physics-informed features help most on new biomass</a:t>
            </a:r>
            <a:endParaRPr lang="en-US" sz="3000" dirty="0"/>
          </a:p>
        </p:txBody>
      </p:sp>
      <p:sp>
        <p:nvSpPr>
          <p:cNvPr id="4" name="Shape 2"/>
          <p:cNvSpPr/>
          <p:nvPr/>
        </p:nvSpPr>
        <p:spPr>
          <a:xfrm>
            <a:off x="548640" y="1828800"/>
            <a:ext cx="6035040" cy="3542647"/>
          </a:xfrm>
          <a:prstGeom prst="roundRect">
            <a:avLst>
              <a:gd name="adj" fmla="val 3097"/>
            </a:avLst>
          </a:prstGeom>
          <a:solidFill>
            <a:srgbClr val="FFFFFF"/>
          </a:solidFill>
          <a:ln w="12700">
            <a:solidFill>
              <a:srgbClr val="FFFFFF"/>
            </a:solidFill>
            <a:prstDash val="solid"/>
          </a:ln>
        </p:spPr>
      </p:sp>
      <p:pic>
        <p:nvPicPr>
          <p:cNvPr id="5" name="Image 0" descr="/home/user/BioOil-Automation/pyrolysis_advisor/results/figures/A2_physics_vs_raw.png">    </p:cNvPr>
          <p:cNvPicPr>
            <a:picLocks noChangeAspect="1"/>
          </p:cNvPicPr>
          <p:nvPr/>
        </p:nvPicPr>
        <p:blipFill>
          <a:blip r:embed="rId1"/>
          <a:stretch>
            <a:fillRect/>
          </a:stretch>
        </p:blipFill>
        <p:spPr>
          <a:xfrm>
            <a:off x="658368" y="1938528"/>
            <a:ext cx="5815584" cy="3323191"/>
          </a:xfrm>
          <a:prstGeom prst="rect">
            <a:avLst/>
          </a:prstGeom>
        </p:spPr>
      </p:pic>
      <p:sp>
        <p:nvSpPr>
          <p:cNvPr id="6" name="Text 3"/>
          <p:cNvSpPr/>
          <p:nvPr/>
        </p:nvSpPr>
        <p:spPr>
          <a:xfrm>
            <a:off x="7132320" y="1828800"/>
            <a:ext cx="4480560" cy="685800"/>
          </a:xfrm>
          <a:prstGeom prst="rect">
            <a:avLst/>
          </a:prstGeom>
          <a:noFill/>
          <a:ln/>
        </p:spPr>
        <p:txBody>
          <a:bodyPr wrap="square" lIns="0" tIns="0" rIns="0" bIns="0" rtlCol="0" anchor="b"/>
          <a:lstStyle/>
          <a:p>
            <a:pPr indent="0" marL="0">
              <a:buNone/>
            </a:pPr>
            <a:r>
              <a:rPr lang="en-US" sz="3600" b="1" dirty="0">
                <a:solidFill>
                  <a:srgbClr val="C9F36B"/>
                </a:solidFill>
                <a:latin typeface="Arial" pitchFamily="34" charset="0"/>
                <a:ea typeface="Arial" pitchFamily="34" charset="-122"/>
                <a:cs typeface="Arial" pitchFamily="34" charset="-120"/>
              </a:rPr>
              <a:t>−0.14 → 0.23</a:t>
            </a:r>
            <a:endParaRPr lang="en-US" sz="3600" dirty="0"/>
          </a:p>
        </p:txBody>
      </p:sp>
      <p:sp>
        <p:nvSpPr>
          <p:cNvPr id="7" name="Text 4"/>
          <p:cNvSpPr/>
          <p:nvPr/>
        </p:nvSpPr>
        <p:spPr>
          <a:xfrm>
            <a:off x="7132320" y="2542032"/>
            <a:ext cx="4480560" cy="548640"/>
          </a:xfrm>
          <a:prstGeom prst="rect">
            <a:avLst/>
          </a:prstGeom>
          <a:noFill/>
          <a:ln/>
        </p:spPr>
        <p:txBody>
          <a:bodyPr wrap="square" lIns="0" tIns="0" rIns="0" bIns="0" rtlCol="0" anchor="t"/>
          <a:lstStyle/>
          <a:p>
            <a:pPr indent="0" marL="0">
              <a:buNone/>
            </a:pPr>
            <a:r>
              <a:rPr lang="en-US" sz="1200" dirty="0">
                <a:solidFill>
                  <a:srgbClr val="9A9F9B"/>
                </a:solidFill>
                <a:latin typeface="Arial" pitchFamily="34" charset="0"/>
                <a:ea typeface="Arial" pitchFamily="34" charset="-122"/>
                <a:cs typeface="Arial" pitchFamily="34" charset="-120"/>
              </a:rPr>
              <a:t>GPR O/C R² on unseen biomass: raw inputs → physics inputs</a:t>
            </a:r>
            <a:endParaRPr lang="en-US" sz="1200" dirty="0"/>
          </a:p>
        </p:txBody>
      </p:sp>
      <p:sp>
        <p:nvSpPr>
          <p:cNvPr id="8" name="Text 5"/>
          <p:cNvSpPr/>
          <p:nvPr/>
        </p:nvSpPr>
        <p:spPr>
          <a:xfrm>
            <a:off x="7132320" y="3291840"/>
            <a:ext cx="4480560" cy="2560320"/>
          </a:xfrm>
          <a:prstGeom prst="rect">
            <a:avLst/>
          </a:prstGeom>
          <a:noFill/>
          <a:ln/>
        </p:spPr>
        <p:txBody>
          <a:bodyPr wrap="square" rtlCol="0" anchor="t"/>
          <a:lstStyle/>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Chan et al. (1985) Arrhenius kinetics: wood → gas / tar / char</a:t>
            </a:r>
            <a:endParaRPr lang="en-US" sz="1400" dirty="0"/>
          </a:p>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Kinetic tar share and pyrolysis number at each temperature</a:t>
            </a:r>
            <a:endParaRPr lang="en-US" sz="1400" dirty="0"/>
          </a:p>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Heating-regime and thermal-severity indices</a:t>
            </a:r>
            <a:endParaRPr lang="en-US" sz="1400" dirty="0"/>
          </a:p>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Molar O/C, H/C and effective H/C of the feedstock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RESULT 3 · PHYSICS CONSISTENCY</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The final models behave like real pyrolysis</a:t>
            </a:r>
            <a:endParaRPr lang="en-US" sz="3000" dirty="0"/>
          </a:p>
        </p:txBody>
      </p:sp>
      <p:sp>
        <p:nvSpPr>
          <p:cNvPr id="4" name="Shape 2"/>
          <p:cNvSpPr/>
          <p:nvPr/>
        </p:nvSpPr>
        <p:spPr>
          <a:xfrm>
            <a:off x="1051560" y="1691640"/>
            <a:ext cx="10058400" cy="3294126"/>
          </a:xfrm>
          <a:prstGeom prst="roundRect">
            <a:avLst>
              <a:gd name="adj" fmla="val 3331"/>
            </a:avLst>
          </a:prstGeom>
          <a:solidFill>
            <a:srgbClr val="FFFFFF"/>
          </a:solidFill>
          <a:ln w="12700">
            <a:solidFill>
              <a:srgbClr val="FFFFFF"/>
            </a:solidFill>
            <a:prstDash val="solid"/>
          </a:ln>
        </p:spPr>
      </p:sp>
      <p:pic>
        <p:nvPicPr>
          <p:cNvPr id="5" name="Image 0" descr="/home/user/BioOil-Automation/pyrolysis_advisor/results/figures/B1_physics.png">    </p:cNvPr>
          <p:cNvPicPr>
            <a:picLocks noChangeAspect="1"/>
          </p:cNvPicPr>
          <p:nvPr/>
        </p:nvPicPr>
        <p:blipFill>
          <a:blip r:embed="rId1"/>
          <a:stretch>
            <a:fillRect/>
          </a:stretch>
        </p:blipFill>
        <p:spPr>
          <a:xfrm>
            <a:off x="1161288" y="1801368"/>
            <a:ext cx="9838944" cy="3074670"/>
          </a:xfrm>
          <a:prstGeom prst="rect">
            <a:avLst/>
          </a:prstGeom>
        </p:spPr>
      </p:pic>
      <p:sp>
        <p:nvSpPr>
          <p:cNvPr id="6" name="Text 3"/>
          <p:cNvSpPr/>
          <p:nvPr/>
        </p:nvSpPr>
        <p:spPr>
          <a:xfrm>
            <a:off x="548640" y="5440680"/>
            <a:ext cx="3566160" cy="457200"/>
          </a:xfrm>
          <a:prstGeom prst="rect">
            <a:avLst/>
          </a:prstGeom>
          <a:noFill/>
          <a:ln/>
        </p:spPr>
        <p:txBody>
          <a:bodyPr wrap="square" lIns="0" tIns="0" rIns="0" bIns="0" rtlCol="0" anchor="ctr"/>
          <a:lstStyle/>
          <a:p>
            <a:pPr indent="0" marL="0">
              <a:buNone/>
            </a:pPr>
            <a:r>
              <a:rPr lang="en-US" sz="2400" b="1" dirty="0">
                <a:solidFill>
                  <a:srgbClr val="C9F36B"/>
                </a:solidFill>
                <a:latin typeface="Arial" pitchFamily="34" charset="0"/>
                <a:ea typeface="Arial" pitchFamily="34" charset="-122"/>
                <a:cs typeface="Arial" pitchFamily="34" charset="-120"/>
              </a:rPr>
              <a:t>525°C</a:t>
            </a:r>
            <a:endParaRPr lang="en-US" sz="2400" dirty="0"/>
          </a:p>
        </p:txBody>
      </p:sp>
      <p:sp>
        <p:nvSpPr>
          <p:cNvPr id="7" name="Text 4"/>
          <p:cNvSpPr/>
          <p:nvPr/>
        </p:nvSpPr>
        <p:spPr>
          <a:xfrm>
            <a:off x="548640" y="5852160"/>
            <a:ext cx="3566160" cy="502920"/>
          </a:xfrm>
          <a:prstGeom prst="rect">
            <a:avLst/>
          </a:prstGeom>
          <a:noFill/>
          <a:ln/>
        </p:spPr>
        <p:txBody>
          <a:bodyPr wrap="square" lIns="0" tIns="0" rIns="0" bIns="0" rtlCol="0" anchor="t"/>
          <a:lstStyle/>
          <a:p>
            <a:pPr indent="0" marL="0">
              <a:buNone/>
            </a:pPr>
            <a:r>
              <a:rPr lang="en-US" sz="1100" dirty="0">
                <a:solidFill>
                  <a:srgbClr val="9A9F9B"/>
                </a:solidFill>
                <a:latin typeface="Arial" pitchFamily="34" charset="0"/>
                <a:ea typeface="Arial" pitchFamily="34" charset="-122"/>
                <a:cs typeface="Arial" pitchFamily="34" charset="-120"/>
              </a:rPr>
              <a:t>Yield peak (41.6 wt%) — inside the literature 450–550°C optimum</a:t>
            </a:r>
            <a:endParaRPr lang="en-US" sz="1100" dirty="0"/>
          </a:p>
        </p:txBody>
      </p:sp>
      <p:sp>
        <p:nvSpPr>
          <p:cNvPr id="8" name="Text 5"/>
          <p:cNvSpPr/>
          <p:nvPr/>
        </p:nvSpPr>
        <p:spPr>
          <a:xfrm>
            <a:off x="4297680" y="5440680"/>
            <a:ext cx="3566160" cy="457200"/>
          </a:xfrm>
          <a:prstGeom prst="rect">
            <a:avLst/>
          </a:prstGeom>
          <a:noFill/>
          <a:ln/>
        </p:spPr>
        <p:txBody>
          <a:bodyPr wrap="square" lIns="0" tIns="0" rIns="0" bIns="0" rtlCol="0" anchor="ctr"/>
          <a:lstStyle/>
          <a:p>
            <a:pPr indent="0" marL="0">
              <a:buNone/>
            </a:pPr>
            <a:r>
              <a:rPr lang="en-US" sz="2400" b="1" dirty="0">
                <a:solidFill>
                  <a:srgbClr val="C9F36B"/>
                </a:solidFill>
                <a:latin typeface="Arial" pitchFamily="34" charset="0"/>
                <a:ea typeface="Arial" pitchFamily="34" charset="-122"/>
                <a:cs typeface="Arial" pitchFamily="34" charset="-120"/>
              </a:rPr>
              <a:t>51% → 69%</a:t>
            </a:r>
            <a:endParaRPr lang="en-US" sz="2400" dirty="0"/>
          </a:p>
        </p:txBody>
      </p:sp>
      <p:sp>
        <p:nvSpPr>
          <p:cNvPr id="9" name="Text 6"/>
          <p:cNvSpPr/>
          <p:nvPr/>
        </p:nvSpPr>
        <p:spPr>
          <a:xfrm>
            <a:off x="4297680" y="5852160"/>
            <a:ext cx="3566160" cy="502920"/>
          </a:xfrm>
          <a:prstGeom prst="rect">
            <a:avLst/>
          </a:prstGeom>
          <a:noFill/>
          <a:ln/>
        </p:spPr>
        <p:txBody>
          <a:bodyPr wrap="square" lIns="0" tIns="0" rIns="0" bIns="0" rtlCol="0" anchor="t"/>
          <a:lstStyle/>
          <a:p>
            <a:pPr indent="0" marL="0">
              <a:buNone/>
            </a:pPr>
            <a:r>
              <a:rPr lang="en-US" sz="1100" dirty="0">
                <a:solidFill>
                  <a:srgbClr val="9A9F9B"/>
                </a:solidFill>
                <a:latin typeface="Arial" pitchFamily="34" charset="0"/>
                <a:ea typeface="Arial" pitchFamily="34" charset="-122"/>
                <a:cs typeface="Arial" pitchFamily="34" charset="-120"/>
              </a:rPr>
              <a:t>Tar selectivity rises 350→700°C, explaining the yield drop from vapour cracking</a:t>
            </a:r>
            <a:endParaRPr lang="en-US" sz="1100" dirty="0"/>
          </a:p>
        </p:txBody>
      </p:sp>
      <p:sp>
        <p:nvSpPr>
          <p:cNvPr id="10" name="Text 7"/>
          <p:cNvSpPr/>
          <p:nvPr/>
        </p:nvSpPr>
        <p:spPr>
          <a:xfrm>
            <a:off x="8046720" y="5440680"/>
            <a:ext cx="3566160" cy="457200"/>
          </a:xfrm>
          <a:prstGeom prst="rect">
            <a:avLst/>
          </a:prstGeom>
          <a:noFill/>
          <a:ln/>
        </p:spPr>
        <p:txBody>
          <a:bodyPr wrap="square" lIns="0" tIns="0" rIns="0" bIns="0" rtlCol="0" anchor="ctr"/>
          <a:lstStyle/>
          <a:p>
            <a:pPr indent="0" marL="0">
              <a:buNone/>
            </a:pPr>
            <a:r>
              <a:rPr lang="en-US" sz="2400" b="1" dirty="0">
                <a:solidFill>
                  <a:srgbClr val="C9F36B"/>
                </a:solidFill>
                <a:latin typeface="Arial" pitchFamily="34" charset="0"/>
                <a:ea typeface="Arial" pitchFamily="34" charset="-122"/>
                <a:cs typeface="Arial" pitchFamily="34" charset="-120"/>
              </a:rPr>
              <a:t>0.28 → 0.21</a:t>
            </a:r>
            <a:endParaRPr lang="en-US" sz="2400" dirty="0"/>
          </a:p>
        </p:txBody>
      </p:sp>
      <p:sp>
        <p:nvSpPr>
          <p:cNvPr id="11" name="Text 8"/>
          <p:cNvSpPr/>
          <p:nvPr/>
        </p:nvSpPr>
        <p:spPr>
          <a:xfrm>
            <a:off x="8046720" y="5852160"/>
            <a:ext cx="3566160" cy="502920"/>
          </a:xfrm>
          <a:prstGeom prst="rect">
            <a:avLst/>
          </a:prstGeom>
          <a:noFill/>
          <a:ln/>
        </p:spPr>
        <p:txBody>
          <a:bodyPr wrap="square" lIns="0" tIns="0" rIns="0" bIns="0" rtlCol="0" anchor="t"/>
          <a:lstStyle/>
          <a:p>
            <a:pPr indent="0" marL="0">
              <a:buNone/>
            </a:pPr>
            <a:r>
              <a:rPr lang="en-US" sz="1100" dirty="0">
                <a:solidFill>
                  <a:srgbClr val="9A9F9B"/>
                </a:solidFill>
                <a:latin typeface="Arial" pitchFamily="34" charset="0"/>
                <a:ea typeface="Arial" pitchFamily="34" charset="-122"/>
                <a:cs typeface="Arial" pitchFamily="34" charset="-120"/>
              </a:rPr>
              <a:t>O/C falls with temperature — stronger deoxygenation, never violated</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RESULT 4 · UNCERTAINTY AND CALIBRATION</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One or two real experiments sharply cut the error</a:t>
            </a:r>
            <a:endParaRPr lang="en-US" sz="3000" dirty="0"/>
          </a:p>
        </p:txBody>
      </p:sp>
      <p:sp>
        <p:nvSpPr>
          <p:cNvPr id="4" name="Shape 2"/>
          <p:cNvSpPr/>
          <p:nvPr/>
        </p:nvSpPr>
        <p:spPr>
          <a:xfrm>
            <a:off x="548640" y="1828800"/>
            <a:ext cx="6217920" cy="3411826"/>
          </a:xfrm>
          <a:prstGeom prst="roundRect">
            <a:avLst>
              <a:gd name="adj" fmla="val 3216"/>
            </a:avLst>
          </a:prstGeom>
          <a:solidFill>
            <a:srgbClr val="FFFFFF"/>
          </a:solidFill>
          <a:ln w="12700">
            <a:solidFill>
              <a:srgbClr val="FFFFFF"/>
            </a:solidFill>
            <a:prstDash val="solid"/>
          </a:ln>
        </p:spPr>
      </p:sp>
      <p:pic>
        <p:nvPicPr>
          <p:cNvPr id="5" name="Image 0" descr="/home/user/BioOil-Automation/pyrolysis_advisor/results/figures/B2_calibration.png">    </p:cNvPr>
          <p:cNvPicPr>
            <a:picLocks noChangeAspect="1"/>
          </p:cNvPicPr>
          <p:nvPr/>
        </p:nvPicPr>
        <p:blipFill>
          <a:blip r:embed="rId1"/>
          <a:stretch>
            <a:fillRect/>
          </a:stretch>
        </p:blipFill>
        <p:spPr>
          <a:xfrm>
            <a:off x="658368" y="1938528"/>
            <a:ext cx="5998464" cy="3192370"/>
          </a:xfrm>
          <a:prstGeom prst="rect">
            <a:avLst/>
          </a:prstGeom>
        </p:spPr>
      </p:pic>
      <p:sp>
        <p:nvSpPr>
          <p:cNvPr id="6" name="Text 3"/>
          <p:cNvSpPr/>
          <p:nvPr/>
        </p:nvSpPr>
        <p:spPr>
          <a:xfrm>
            <a:off x="7315200" y="1828800"/>
            <a:ext cx="4297680" cy="685800"/>
          </a:xfrm>
          <a:prstGeom prst="rect">
            <a:avLst/>
          </a:prstGeom>
          <a:noFill/>
          <a:ln/>
        </p:spPr>
        <p:txBody>
          <a:bodyPr wrap="square" lIns="0" tIns="0" rIns="0" bIns="0" rtlCol="0" anchor="b"/>
          <a:lstStyle/>
          <a:p>
            <a:pPr indent="0" marL="0">
              <a:buNone/>
            </a:pPr>
            <a:r>
              <a:rPr lang="en-US" sz="3600" b="1" dirty="0">
                <a:solidFill>
                  <a:srgbClr val="C9F36B"/>
                </a:solidFill>
                <a:latin typeface="Arial" pitchFamily="34" charset="0"/>
                <a:ea typeface="Arial" pitchFamily="34" charset="-122"/>
                <a:cs typeface="Arial" pitchFamily="34" charset="-120"/>
              </a:rPr>
              <a:t>~8 → 5.3 → 4.2</a:t>
            </a:r>
            <a:endParaRPr lang="en-US" sz="3600" dirty="0"/>
          </a:p>
        </p:txBody>
      </p:sp>
      <p:sp>
        <p:nvSpPr>
          <p:cNvPr id="7" name="Text 4"/>
          <p:cNvSpPr/>
          <p:nvPr/>
        </p:nvSpPr>
        <p:spPr>
          <a:xfrm>
            <a:off x="7315200" y="2542032"/>
            <a:ext cx="4297680" cy="548640"/>
          </a:xfrm>
          <a:prstGeom prst="rect">
            <a:avLst/>
          </a:prstGeom>
          <a:noFill/>
          <a:ln/>
        </p:spPr>
        <p:txBody>
          <a:bodyPr wrap="square" lIns="0" tIns="0" rIns="0" bIns="0" rtlCol="0" anchor="t"/>
          <a:lstStyle/>
          <a:p>
            <a:pPr indent="0" marL="0">
              <a:buNone/>
            </a:pPr>
            <a:r>
              <a:rPr lang="en-US" sz="1200" dirty="0">
                <a:solidFill>
                  <a:srgbClr val="9A9F9B"/>
                </a:solidFill>
                <a:latin typeface="Arial" pitchFamily="34" charset="0"/>
                <a:ea typeface="Arial" pitchFamily="34" charset="-122"/>
                <a:cs typeface="Arial" pitchFamily="34" charset="-120"/>
              </a:rPr>
              <a:t>Average yield error (wt%) with 0, 1, 2 calibration experiments</a:t>
            </a:r>
            <a:endParaRPr lang="en-US" sz="1200" dirty="0"/>
          </a:p>
        </p:txBody>
      </p:sp>
      <p:sp>
        <p:nvSpPr>
          <p:cNvPr id="8" name="Text 5"/>
          <p:cNvSpPr/>
          <p:nvPr/>
        </p:nvSpPr>
        <p:spPr>
          <a:xfrm>
            <a:off x="7315200" y="3383280"/>
            <a:ext cx="4297680" cy="685800"/>
          </a:xfrm>
          <a:prstGeom prst="rect">
            <a:avLst/>
          </a:prstGeom>
          <a:noFill/>
          <a:ln/>
        </p:spPr>
        <p:txBody>
          <a:bodyPr wrap="square" lIns="0" tIns="0" rIns="0" bIns="0" rtlCol="0" anchor="b"/>
          <a:lstStyle/>
          <a:p>
            <a:pPr indent="0" marL="0">
              <a:buNone/>
            </a:pPr>
            <a:r>
              <a:rPr lang="en-US" sz="3600" b="1" dirty="0">
                <a:solidFill>
                  <a:srgbClr val="F1F2ED"/>
                </a:solidFill>
                <a:latin typeface="Arial" pitchFamily="34" charset="0"/>
                <a:ea typeface="Arial" pitchFamily="34" charset="-122"/>
                <a:cs typeface="Arial" pitchFamily="34" charset="-120"/>
              </a:rPr>
              <a:t>±12.6 wt%</a:t>
            </a:r>
            <a:endParaRPr lang="en-US" sz="3600" dirty="0"/>
          </a:p>
        </p:txBody>
      </p:sp>
      <p:sp>
        <p:nvSpPr>
          <p:cNvPr id="9" name="Text 6"/>
          <p:cNvSpPr/>
          <p:nvPr/>
        </p:nvSpPr>
        <p:spPr>
          <a:xfrm>
            <a:off x="7315200" y="4096512"/>
            <a:ext cx="4297680" cy="548640"/>
          </a:xfrm>
          <a:prstGeom prst="rect">
            <a:avLst/>
          </a:prstGeom>
          <a:noFill/>
          <a:ln/>
        </p:spPr>
        <p:txBody>
          <a:bodyPr wrap="square" lIns="0" tIns="0" rIns="0" bIns="0" rtlCol="0" anchor="t"/>
          <a:lstStyle/>
          <a:p>
            <a:pPr indent="0" marL="0">
              <a:buNone/>
            </a:pPr>
            <a:r>
              <a:rPr lang="en-US" sz="1200" dirty="0">
                <a:solidFill>
                  <a:srgbClr val="9A9F9B"/>
                </a:solidFill>
                <a:latin typeface="Arial" pitchFamily="34" charset="0"/>
                <a:ea typeface="Arial" pitchFamily="34" charset="-122"/>
                <a:cs typeface="Arial" pitchFamily="34" charset="-120"/>
              </a:rPr>
              <a:t>Honest 80% interval for a brand-new biomass with no experiments</a:t>
            </a:r>
            <a:endParaRPr lang="en-US" sz="1200" dirty="0"/>
          </a:p>
        </p:txBody>
      </p:sp>
      <p:sp>
        <p:nvSpPr>
          <p:cNvPr id="10" name="Text 7"/>
          <p:cNvSpPr/>
          <p:nvPr/>
        </p:nvSpPr>
        <p:spPr>
          <a:xfrm>
            <a:off x="7315200" y="4846320"/>
            <a:ext cx="4297680" cy="1097280"/>
          </a:xfrm>
          <a:prstGeom prst="rect">
            <a:avLst/>
          </a:prstGeom>
          <a:noFill/>
          <a:ln/>
        </p:spPr>
        <p:txBody>
          <a:bodyPr wrap="square" rtlCol="0" anchor="t"/>
          <a:lstStyle/>
          <a:p>
            <a:pPr indent="0" marL="0">
              <a:buNone/>
            </a:pPr>
            <a:r>
              <a:rPr lang="en-US" sz="1300" dirty="0">
                <a:solidFill>
                  <a:srgbClr val="9A9F9B"/>
                </a:solidFill>
                <a:latin typeface="Arial" pitchFamily="34" charset="0"/>
                <a:ea typeface="Arial" pitchFamily="34" charset="-122"/>
                <a:cs typeface="Arial" pitchFamily="34" charset="-120"/>
              </a:rPr>
              <a:t>Calibrated model beats simply reusing the measured value (5.7, 4.6 wt%) because it adds the learned response to conditions.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RESULT 5 · CASE STUDIES</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Correct optimum temperature for 2 of 3 unseen biomasses</a:t>
            </a:r>
            <a:endParaRPr lang="en-US" sz="3000" dirty="0"/>
          </a:p>
        </p:txBody>
      </p:sp>
      <p:sp>
        <p:nvSpPr>
          <p:cNvPr id="4" name="Shape 2"/>
          <p:cNvSpPr/>
          <p:nvPr/>
        </p:nvSpPr>
        <p:spPr>
          <a:xfrm>
            <a:off x="1508760" y="1691640"/>
            <a:ext cx="9144000" cy="3008376"/>
          </a:xfrm>
          <a:prstGeom prst="roundRect">
            <a:avLst>
              <a:gd name="adj" fmla="val 3647"/>
            </a:avLst>
          </a:prstGeom>
          <a:solidFill>
            <a:srgbClr val="FFFFFF"/>
          </a:solidFill>
          <a:ln w="12700">
            <a:solidFill>
              <a:srgbClr val="FFFFFF"/>
            </a:solidFill>
            <a:prstDash val="solid"/>
          </a:ln>
        </p:spPr>
      </p:sp>
      <p:pic>
        <p:nvPicPr>
          <p:cNvPr id="5" name="Image 0" descr="/home/user/BioOil-Automation/pyrolysis_advisor/results/figures/B3_cases.png">    </p:cNvPr>
          <p:cNvPicPr>
            <a:picLocks noChangeAspect="1"/>
          </p:cNvPicPr>
          <p:nvPr/>
        </p:nvPicPr>
        <p:blipFill>
          <a:blip r:embed="rId1"/>
          <a:stretch>
            <a:fillRect/>
          </a:stretch>
        </p:blipFill>
        <p:spPr>
          <a:xfrm>
            <a:off x="1618488" y="1801368"/>
            <a:ext cx="8924544" cy="2788920"/>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846320"/>
          <a:ext cx="11064240" cy="914400"/>
        </p:xfrm>
        <a:graphic>
          <a:graphicData uri="http://schemas.openxmlformats.org/drawingml/2006/table">
            <a:tbl>
              <a:tblPr/>
              <a:tblGrid>
                <a:gridCol w="3017520"/>
                <a:gridCol w="2011680"/>
                <a:gridCol w="2011680"/>
                <a:gridCol w="2011680"/>
                <a:gridCol w="2011680"/>
              </a:tblGrid>
              <a:tr h="310896">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Biomass</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Real best T</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Model best T</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Error, 0 exp.</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Error, 1 exp.</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r>
              <a:tr h="310896">
                <a:tc>
                  <a:txBody>
                    <a:bodyPr/>
                    <a:lstStyle/>
                    <a:p>
                      <a:pPr indent="0" marL="0">
                        <a:buNone/>
                      </a:pPr>
                      <a:r>
                        <a:rPr lang="en-US" sz="1200" dirty="0">
                          <a:solidFill>
                            <a:srgbClr val="F1F2ED"/>
                          </a:solidFill>
                          <a:latin typeface="Arial" pitchFamily="34" charset="0"/>
                          <a:ea typeface="Arial" pitchFamily="34" charset="-122"/>
                          <a:cs typeface="Arial" pitchFamily="34" charset="-120"/>
                        </a:rPr>
                        <a:t>11 (C 49%, O 34%)</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450°C</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450°C ✓</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6.6 wt%</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13.0 wt%</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310896">
                <a:tc>
                  <a:txBody>
                    <a:bodyPr/>
                    <a:lstStyle/>
                    <a:p>
                      <a:pPr indent="0" marL="0">
                        <a:buNone/>
                      </a:pPr>
                      <a:r>
                        <a:rPr lang="en-US" sz="1200" dirty="0">
                          <a:solidFill>
                            <a:srgbClr val="F1F2ED"/>
                          </a:solidFill>
                          <a:latin typeface="Arial" pitchFamily="34" charset="0"/>
                          <a:ea typeface="Arial" pitchFamily="34" charset="-122"/>
                          <a:cs typeface="Arial" pitchFamily="34" charset="-120"/>
                        </a:rPr>
                        <a:t>108 (C 50%, O 45%)</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550°C</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550°C ✓</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5.6 wt%</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1.7 wt%</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310896">
                <a:tc>
                  <a:txBody>
                    <a:bodyPr/>
                    <a:lstStyle/>
                    <a:p>
                      <a:pPr indent="0" marL="0">
                        <a:buNone/>
                      </a:pPr>
                      <a:r>
                        <a:rPr lang="en-US" sz="1200" dirty="0">
                          <a:solidFill>
                            <a:srgbClr val="F1F2ED"/>
                          </a:solidFill>
                          <a:latin typeface="Arial" pitchFamily="34" charset="0"/>
                          <a:ea typeface="Arial" pitchFamily="34" charset="-122"/>
                          <a:cs typeface="Arial" pitchFamily="34" charset="-120"/>
                        </a:rPr>
                        <a:t>99 (C 45%, O 47%)</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500°C</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600°C</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6.0 wt%</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200" dirty="0">
                          <a:solidFill>
                            <a:srgbClr val="F1F2ED"/>
                          </a:solidFill>
                          <a:latin typeface="Arial" pitchFamily="34" charset="0"/>
                          <a:ea typeface="Arial" pitchFamily="34" charset="-122"/>
                          <a:cs typeface="Arial" pitchFamily="34" charset="-120"/>
                        </a:rPr>
                        <a:t>1.9 wt%</a:t>
                      </a:r>
                      <a:endParaRPr lang="en-US" sz="12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RESULT 6 · THE PYROLYSIS ADVISOR</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Recommendations that show the trade-off — and know their limits</a:t>
            </a:r>
            <a:endParaRPr lang="en-US" sz="3000" dirty="0"/>
          </a:p>
        </p:txBody>
      </p:sp>
      <p:sp>
        <p:nvSpPr>
          <p:cNvPr id="4" name="Shape 2"/>
          <p:cNvSpPr/>
          <p:nvPr/>
        </p:nvSpPr>
        <p:spPr>
          <a:xfrm>
            <a:off x="548640" y="1783080"/>
            <a:ext cx="4572000" cy="3445953"/>
          </a:xfrm>
          <a:prstGeom prst="roundRect">
            <a:avLst>
              <a:gd name="adj" fmla="val 3184"/>
            </a:avLst>
          </a:prstGeom>
          <a:solidFill>
            <a:srgbClr val="FFFFFF"/>
          </a:solidFill>
          <a:ln w="12700">
            <a:solidFill>
              <a:srgbClr val="FFFFFF"/>
            </a:solidFill>
            <a:prstDash val="solid"/>
          </a:ln>
        </p:spPr>
      </p:sp>
      <p:pic>
        <p:nvPicPr>
          <p:cNvPr id="5" name="Image 0" descr="/home/user/BioOil-Automation/pyrolysis_advisor/results/figures/B4_advisor_pine.png">    </p:cNvPr>
          <p:cNvPicPr>
            <a:picLocks noChangeAspect="1"/>
          </p:cNvPicPr>
          <p:nvPr/>
        </p:nvPicPr>
        <p:blipFill>
          <a:blip r:embed="rId1"/>
          <a:stretch>
            <a:fillRect/>
          </a:stretch>
        </p:blipFill>
        <p:spPr>
          <a:xfrm>
            <a:off x="658368" y="1892808"/>
            <a:ext cx="4352544" cy="3226497"/>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394960" y="1783080"/>
          <a:ext cx="6217920" cy="914400"/>
        </p:xfrm>
        <a:graphic>
          <a:graphicData uri="http://schemas.openxmlformats.org/drawingml/2006/table">
            <a:tbl>
              <a:tblPr/>
              <a:tblGrid>
                <a:gridCol w="1554480"/>
                <a:gridCol w="868680"/>
                <a:gridCol w="2148840"/>
                <a:gridCol w="1645920"/>
              </a:tblGrid>
              <a:tr h="566928">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Feedstock</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Status</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Recommended</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Max-yield alternative</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r>
              <a:tr h="566928">
                <a:tc>
                  <a:txBody>
                    <a:bodyPr/>
                    <a:lstStyle/>
                    <a:p>
                      <a:pPr indent="0" marL="0">
                        <a:buNone/>
                      </a:pPr>
                      <a:r>
                        <a:rPr lang="en-US" sz="1100" b="1" dirty="0">
                          <a:solidFill>
                            <a:srgbClr val="F1F2ED"/>
                          </a:solidFill>
                          <a:latin typeface="Arial" pitchFamily="34" charset="0"/>
                          <a:ea typeface="Arial" pitchFamily="34" charset="-122"/>
                          <a:cs typeface="Arial" pitchFamily="34" charset="-120"/>
                        </a:rPr>
                        <a:t>Pine-like wood</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C9F36B"/>
                          </a:solidFill>
                          <a:latin typeface="Arial" pitchFamily="34" charset="0"/>
                          <a:ea typeface="Arial" pitchFamily="34" charset="-122"/>
                          <a:cs typeface="Arial" pitchFamily="34" charset="-120"/>
                        </a:rPr>
                        <a:t>In range</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1F2ED"/>
                          </a:solidFill>
                          <a:latin typeface="Arial" pitchFamily="34" charset="0"/>
                          <a:ea typeface="Arial" pitchFamily="34" charset="-122"/>
                          <a:cs typeface="Arial" pitchFamily="34" charset="-120"/>
                        </a:rPr>
                        <a:t>480°C, 300°C/min → 41.8 wt%, O/C 0.068</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1F2ED"/>
                          </a:solidFill>
                          <a:latin typeface="Arial" pitchFamily="34" charset="0"/>
                          <a:ea typeface="Arial" pitchFamily="34" charset="-122"/>
                          <a:cs typeface="Arial" pitchFamily="34" charset="-120"/>
                        </a:rPr>
                        <a:t>570°C → 43.5 wt%, O/C 0.097</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566928">
                <a:tc>
                  <a:txBody>
                    <a:bodyPr/>
                    <a:lstStyle/>
                    <a:p>
                      <a:pPr indent="0" marL="0">
                        <a:buNone/>
                      </a:pPr>
                      <a:r>
                        <a:rPr lang="en-US" sz="1100" b="1" dirty="0">
                          <a:solidFill>
                            <a:srgbClr val="F1F2ED"/>
                          </a:solidFill>
                          <a:latin typeface="Arial" pitchFamily="34" charset="0"/>
                          <a:ea typeface="Arial" pitchFamily="34" charset="-122"/>
                          <a:cs typeface="Arial" pitchFamily="34" charset="-120"/>
                        </a:rPr>
                        <a:t>Rice husk-like</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C9F36B"/>
                          </a:solidFill>
                          <a:latin typeface="Arial" pitchFamily="34" charset="0"/>
                          <a:ea typeface="Arial" pitchFamily="34" charset="-122"/>
                          <a:cs typeface="Arial" pitchFamily="34" charset="-120"/>
                        </a:rPr>
                        <a:t>In range</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1F2ED"/>
                          </a:solidFill>
                          <a:latin typeface="Arial" pitchFamily="34" charset="0"/>
                          <a:ea typeface="Arial" pitchFamily="34" charset="-122"/>
                          <a:cs typeface="Arial" pitchFamily="34" charset="-120"/>
                        </a:rPr>
                        <a:t>510°C, 10°C/min → 41.6 wt%, O/C 0.062</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1F2ED"/>
                          </a:solidFill>
                          <a:latin typeface="Arial" pitchFamily="34" charset="0"/>
                          <a:ea typeface="Arial" pitchFamily="34" charset="-122"/>
                          <a:cs typeface="Arial" pitchFamily="34" charset="-120"/>
                        </a:rPr>
                        <a:t>570°C → 44.7 wt%, O/C 0.113</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566928">
                <a:tc>
                  <a:txBody>
                    <a:bodyPr/>
                    <a:lstStyle/>
                    <a:p>
                      <a:pPr indent="0" marL="0">
                        <a:buNone/>
                      </a:pPr>
                      <a:r>
                        <a:rPr lang="en-US" sz="1100" b="1" dirty="0">
                          <a:solidFill>
                            <a:srgbClr val="F1F2ED"/>
                          </a:solidFill>
                          <a:latin typeface="Arial" pitchFamily="34" charset="0"/>
                          <a:ea typeface="Arial" pitchFamily="34" charset="-122"/>
                          <a:cs typeface="Arial" pitchFamily="34" charset="-120"/>
                        </a:rPr>
                        <a:t>Microalgae-like (N 8.5%)</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F8C8C"/>
                          </a:solidFill>
                          <a:latin typeface="Arial" pitchFamily="34" charset="0"/>
                          <a:ea typeface="Arial" pitchFamily="34" charset="-122"/>
                          <a:cs typeface="Arial" pitchFamily="34" charset="-120"/>
                        </a:rPr>
                        <a:t>Flagged</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1F2ED"/>
                          </a:solidFill>
                          <a:latin typeface="Arial" pitchFamily="34" charset="0"/>
                          <a:ea typeface="Arial" pitchFamily="34" charset="-122"/>
                          <a:cs typeface="Arial" pitchFamily="34" charset="-120"/>
                        </a:rPr>
                        <a:t>Withheld — distance 0.52 &gt; 0.41</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1F2ED"/>
                          </a:solidFill>
                          <a:latin typeface="Arial" pitchFamily="34" charset="0"/>
                          <a:ea typeface="Arial" pitchFamily="34" charset="-122"/>
                          <a:cs typeface="Arial" pitchFamily="34" charset="-120"/>
                        </a:rPr>
                        <a:t>Needs 1–2 experiments</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566928">
                <a:tc>
                  <a:txBody>
                    <a:bodyPr/>
                    <a:lstStyle/>
                    <a:p>
                      <a:pPr indent="0" marL="0">
                        <a:buNone/>
                      </a:pPr>
                      <a:r>
                        <a:rPr lang="en-US" sz="1100" b="1" dirty="0">
                          <a:solidFill>
                            <a:srgbClr val="F1F2ED"/>
                          </a:solidFill>
                          <a:latin typeface="Arial" pitchFamily="34" charset="0"/>
                          <a:ea typeface="Arial" pitchFamily="34" charset="-122"/>
                          <a:cs typeface="Arial" pitchFamily="34" charset="-120"/>
                        </a:rPr>
                        <a:t>Coal-like (C 80%)</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F8C8C"/>
                          </a:solidFill>
                          <a:latin typeface="Arial" pitchFamily="34" charset="0"/>
                          <a:ea typeface="Arial" pitchFamily="34" charset="-122"/>
                          <a:cs typeface="Arial" pitchFamily="34" charset="-120"/>
                        </a:rPr>
                        <a:t>Flagged</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1F2ED"/>
                          </a:solidFill>
                          <a:latin typeface="Arial" pitchFamily="34" charset="0"/>
                          <a:ea typeface="Arial" pitchFamily="34" charset="-122"/>
                          <a:cs typeface="Arial" pitchFamily="34" charset="-120"/>
                        </a:rPr>
                        <a:t>Withheld — distance 1.20 &gt; 0.41</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100" dirty="0">
                          <a:solidFill>
                            <a:srgbClr val="F1F2ED"/>
                          </a:solidFill>
                          <a:latin typeface="Arial" pitchFamily="34" charset="0"/>
                          <a:ea typeface="Arial" pitchFamily="34" charset="-122"/>
                          <a:cs typeface="Arial" pitchFamily="34" charset="-120"/>
                        </a:rPr>
                        <a:t>Not biomass</a:t>
                      </a:r>
                      <a:endParaRPr lang="en-US" sz="11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bl>
          </a:graphicData>
        </a:graphic>
      </p:graphicFrame>
      <p:sp>
        <p:nvSpPr>
          <p:cNvPr id="7" name="Text 3"/>
          <p:cNvSpPr/>
          <p:nvPr/>
        </p:nvSpPr>
        <p:spPr>
          <a:xfrm>
            <a:off x="548640" y="5486400"/>
            <a:ext cx="10972800" cy="457200"/>
          </a:xfrm>
          <a:prstGeom prst="rect">
            <a:avLst/>
          </a:prstGeom>
          <a:noFill/>
          <a:ln/>
        </p:spPr>
        <p:txBody>
          <a:bodyPr wrap="square" rtlCol="0" anchor="ctr"/>
          <a:lstStyle/>
          <a:p>
            <a:pPr indent="0" marL="0">
              <a:buNone/>
            </a:pPr>
            <a:r>
              <a:rPr lang="en-US" sz="1800" b="1" dirty="0">
                <a:solidFill>
                  <a:srgbClr val="C9F36B"/>
                </a:solidFill>
                <a:latin typeface="Arial" pitchFamily="34" charset="0"/>
                <a:ea typeface="Arial" pitchFamily="34" charset="-122"/>
                <a:cs typeface="Arial" pitchFamily="34" charset="-120"/>
              </a:rPr>
              <a:t>For pine, the last 1.7 wt% of yield costs about 40% more oxygen in the oil.</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WORKING MODEL · LIVE DEMO</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The Advisor as a web app</a:t>
            </a:r>
            <a:endParaRPr lang="en-US" sz="3000" dirty="0"/>
          </a:p>
        </p:txBody>
      </p:sp>
      <p:pic>
        <p:nvPicPr>
          <p:cNvPr id="4" name="Image 0" descr="/tmp/claude-0/-home-user-BioOil-Automation/5397d81f-6477-55ef-8890-ec0ebaf31f4d/scratchpad/deck/shots/hero.png">    </p:cNvPr>
          <p:cNvPicPr>
            <a:picLocks noChangeAspect="1"/>
          </p:cNvPicPr>
          <p:nvPr/>
        </p:nvPicPr>
        <p:blipFill>
          <a:blip r:embed="rId1"/>
          <a:stretch>
            <a:fillRect/>
          </a:stretch>
        </p:blipFill>
        <p:spPr>
          <a:xfrm>
            <a:off x="548640" y="1737360"/>
            <a:ext cx="7498080" cy="4686300"/>
          </a:xfrm>
          <a:prstGeom prst="rect">
            <a:avLst/>
          </a:prstGeom>
        </p:spPr>
      </p:pic>
      <p:sp>
        <p:nvSpPr>
          <p:cNvPr id="5" name="Shape 2"/>
          <p:cNvSpPr/>
          <p:nvPr/>
        </p:nvSpPr>
        <p:spPr>
          <a:xfrm>
            <a:off x="548640" y="1737360"/>
            <a:ext cx="7498080" cy="4686300"/>
          </a:xfrm>
          <a:prstGeom prst="roundRect">
            <a:avLst>
              <a:gd name="adj" fmla="val 1951"/>
            </a:avLst>
          </a:prstGeom>
          <a:ln w="12700">
            <a:solidFill>
              <a:srgbClr val="2A3031"/>
            </a:solidFill>
            <a:prstDash val="solid"/>
          </a:ln>
        </p:spPr>
      </p:sp>
      <p:sp>
        <p:nvSpPr>
          <p:cNvPr id="6" name="Text 3"/>
          <p:cNvSpPr/>
          <p:nvPr/>
        </p:nvSpPr>
        <p:spPr>
          <a:xfrm>
            <a:off x="8412480" y="1828800"/>
            <a:ext cx="3200400" cy="4114800"/>
          </a:xfrm>
          <a:prstGeom prst="rect">
            <a:avLst/>
          </a:prstGeom>
          <a:noFill/>
          <a:ln/>
        </p:spPr>
        <p:txBody>
          <a:bodyPr wrap="square" rtlCol="0" anchor="t"/>
          <a:lstStyle/>
          <a:p>
            <a:pPr marL="342900" indent="-342900">
              <a:spcAft>
                <a:spcPts val="800"/>
              </a:spcAft>
              <a:buSzPct val="100000"/>
              <a:buChar char="■"/>
            </a:pPr>
            <a:r>
              <a:rPr lang="en-US" sz="1500" dirty="0">
                <a:solidFill>
                  <a:srgbClr val="F1F2ED"/>
                </a:solidFill>
                <a:latin typeface="Arial" pitchFamily="34" charset="0"/>
                <a:ea typeface="Arial" pitchFamily="34" charset="-122"/>
                <a:cs typeface="Arial" pitchFamily="34" charset="-120"/>
              </a:rPr>
              <a:t>React + TypeScript web app</a:t>
            </a:r>
            <a:endParaRPr lang="en-US" sz="1500" dirty="0"/>
          </a:p>
          <a:p>
            <a:pPr marL="342900" indent="-342900">
              <a:spcAft>
                <a:spcPts val="800"/>
              </a:spcAft>
              <a:buSzPct val="100000"/>
              <a:buChar char="■"/>
            </a:pPr>
            <a:r>
              <a:rPr lang="en-US" sz="1500" dirty="0">
                <a:solidFill>
                  <a:srgbClr val="F1F2ED"/>
                </a:solidFill>
                <a:latin typeface="Arial" pitchFamily="34" charset="0"/>
                <a:ea typeface="Arial" pitchFamily="34" charset="-122"/>
                <a:cs typeface="Arial" pitchFamily="34" charset="-120"/>
              </a:rPr>
              <a:t>Pick a feedstock, review the recommended conditions, then accept or reject</a:t>
            </a:r>
            <a:endParaRPr lang="en-US" sz="1500" dirty="0"/>
          </a:p>
          <a:p>
            <a:pPr marL="342900" indent="-342900">
              <a:spcAft>
                <a:spcPts val="800"/>
              </a:spcAft>
              <a:buSzPct val="100000"/>
              <a:buChar char="■"/>
            </a:pPr>
            <a:r>
              <a:rPr lang="en-US" sz="1500" dirty="0">
                <a:solidFill>
                  <a:srgbClr val="F1F2ED"/>
                </a:solidFill>
                <a:latin typeface="Arial" pitchFamily="34" charset="0"/>
                <a:ea typeface="Arial" pitchFamily="34" charset="-122"/>
                <a:cs typeface="Arial" pitchFamily="34" charset="-120"/>
              </a:rPr>
              <a:t>Every screen states it uses sample results from our validation</a:t>
            </a:r>
            <a:endParaRPr lang="en-US" sz="1500" dirty="0"/>
          </a:p>
        </p:txBody>
      </p:sp>
      <p:sp>
        <p:nvSpPr>
          <p:cNvPr id="7" name="Text 4"/>
          <p:cNvSpPr/>
          <p:nvPr/>
        </p:nvSpPr>
        <p:spPr>
          <a:xfrm>
            <a:off x="8412480" y="5394960"/>
            <a:ext cx="3200400" cy="457200"/>
          </a:xfrm>
          <a:prstGeom prst="rect">
            <a:avLst/>
          </a:prstGeom>
          <a:noFill/>
          <a:ln/>
        </p:spPr>
        <p:txBody>
          <a:bodyPr wrap="square" rtlCol="0" anchor="ctr"/>
          <a:lstStyle/>
          <a:p>
            <a:pPr indent="0" marL="0">
              <a:buNone/>
            </a:pPr>
            <a:r>
              <a:rPr lang="en-US" sz="1000" dirty="0">
                <a:solidFill>
                  <a:srgbClr val="6B716E"/>
                </a:solidFill>
                <a:latin typeface="Consolas" pitchFamily="34" charset="0"/>
                <a:ea typeface="Consolas" pitchFamily="34" charset="-122"/>
                <a:cs typeface="Consolas" pitchFamily="34" charset="-120"/>
              </a:rPr>
              <a:t>Run locally: advisor-frontend → npm run dev</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WORKING MODEL · DEMO FLOW</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Choose → review → decide</a:t>
            </a:r>
            <a:endParaRPr lang="en-US" sz="3000" dirty="0"/>
          </a:p>
        </p:txBody>
      </p:sp>
      <p:sp>
        <p:nvSpPr>
          <p:cNvPr id="4" name="Text 2"/>
          <p:cNvSpPr/>
          <p:nvPr/>
        </p:nvSpPr>
        <p:spPr>
          <a:xfrm>
            <a:off x="548640" y="1691640"/>
            <a:ext cx="3474720" cy="320040"/>
          </a:xfrm>
          <a:prstGeom prst="rect">
            <a:avLst/>
          </a:prstGeom>
          <a:noFill/>
          <a:ln/>
        </p:spPr>
        <p:txBody>
          <a:bodyPr wrap="square" rtlCol="0" anchor="ctr"/>
          <a:lstStyle/>
          <a:p>
            <a:pPr indent="0" marL="0">
              <a:buNone/>
            </a:pPr>
            <a:r>
              <a:rPr lang="en-US" sz="1100" b="1" dirty="0">
                <a:solidFill>
                  <a:srgbClr val="C9F36B"/>
                </a:solidFill>
                <a:latin typeface="Consolas" pitchFamily="34" charset="0"/>
                <a:ea typeface="Consolas" pitchFamily="34" charset="-122"/>
                <a:cs typeface="Consolas" pitchFamily="34" charset="-120"/>
              </a:rPr>
              <a:t>1  Choose a sample feedstock</a:t>
            </a:r>
            <a:endParaRPr lang="en-US" sz="1100" dirty="0"/>
          </a:p>
        </p:txBody>
      </p:sp>
      <p:pic>
        <p:nvPicPr>
          <p:cNvPr id="5" name="Image 0" descr="/tmp/claude-0/-home-user-BioOil-Automation/5397d81f-6477-55ef-8890-ec0ebaf31f4d/scratchpad/deck/shots/select.png">    </p:cNvPr>
          <p:cNvPicPr>
            <a:picLocks noChangeAspect="1"/>
          </p:cNvPicPr>
          <p:nvPr/>
        </p:nvPicPr>
        <p:blipFill>
          <a:blip r:embed="rId1"/>
          <a:stretch>
            <a:fillRect/>
          </a:stretch>
        </p:blipFill>
        <p:spPr>
          <a:xfrm>
            <a:off x="548640" y="2057400"/>
            <a:ext cx="3474720" cy="1737360"/>
          </a:xfrm>
          <a:prstGeom prst="rect">
            <a:avLst/>
          </a:prstGeom>
        </p:spPr>
      </p:pic>
      <p:sp>
        <p:nvSpPr>
          <p:cNvPr id="6" name="Shape 3"/>
          <p:cNvSpPr/>
          <p:nvPr/>
        </p:nvSpPr>
        <p:spPr>
          <a:xfrm>
            <a:off x="548640" y="2057400"/>
            <a:ext cx="3474720" cy="1737360"/>
          </a:xfrm>
          <a:prstGeom prst="roundRect">
            <a:avLst>
              <a:gd name="adj" fmla="val 5263"/>
            </a:avLst>
          </a:prstGeom>
          <a:ln w="12700">
            <a:solidFill>
              <a:srgbClr val="2A3031"/>
            </a:solidFill>
            <a:prstDash val="solid"/>
          </a:ln>
        </p:spPr>
      </p:sp>
      <p:sp>
        <p:nvSpPr>
          <p:cNvPr id="7" name="Text 4"/>
          <p:cNvSpPr/>
          <p:nvPr/>
        </p:nvSpPr>
        <p:spPr>
          <a:xfrm>
            <a:off x="548640" y="3931920"/>
            <a:ext cx="3474720" cy="1097280"/>
          </a:xfrm>
          <a:prstGeom prst="rect">
            <a:avLst/>
          </a:prstGeom>
          <a:noFill/>
          <a:ln/>
        </p:spPr>
        <p:txBody>
          <a:bodyPr wrap="square" rtlCol="0" anchor="t"/>
          <a:lstStyle/>
          <a:p>
            <a:pPr indent="0" marL="0">
              <a:buNone/>
            </a:pPr>
            <a:r>
              <a:rPr lang="en-US" sz="1300" dirty="0">
                <a:solidFill>
                  <a:srgbClr val="9A9F9B"/>
                </a:solidFill>
                <a:latin typeface="Arial" pitchFamily="34" charset="0"/>
                <a:ea typeface="Arial" pitchFamily="34" charset="-122"/>
                <a:cs typeface="Arial" pitchFamily="34" charset="-120"/>
              </a:rPr>
              <a:t>Two feedstocks are in range; two are flagged before any number is shown.</a:t>
            </a:r>
            <a:endParaRPr lang="en-US" sz="1300" dirty="0"/>
          </a:p>
        </p:txBody>
      </p:sp>
      <p:sp>
        <p:nvSpPr>
          <p:cNvPr id="8" name="Text 5"/>
          <p:cNvSpPr/>
          <p:nvPr/>
        </p:nvSpPr>
        <p:spPr>
          <a:xfrm>
            <a:off x="4343400" y="1691640"/>
            <a:ext cx="3588913" cy="320040"/>
          </a:xfrm>
          <a:prstGeom prst="rect">
            <a:avLst/>
          </a:prstGeom>
          <a:noFill/>
          <a:ln/>
        </p:spPr>
        <p:txBody>
          <a:bodyPr wrap="square" rtlCol="0" anchor="ctr"/>
          <a:lstStyle/>
          <a:p>
            <a:pPr indent="0" marL="0">
              <a:buNone/>
            </a:pPr>
            <a:r>
              <a:rPr lang="en-US" sz="1100" b="1" dirty="0">
                <a:solidFill>
                  <a:srgbClr val="C9F36B"/>
                </a:solidFill>
                <a:latin typeface="Consolas" pitchFamily="34" charset="0"/>
                <a:ea typeface="Consolas" pitchFamily="34" charset="-122"/>
                <a:cs typeface="Consolas" pitchFamily="34" charset="-120"/>
              </a:rPr>
              <a:t>2  Review recommendation and range</a:t>
            </a:r>
            <a:endParaRPr lang="en-US" sz="1100" dirty="0"/>
          </a:p>
        </p:txBody>
      </p:sp>
      <p:pic>
        <p:nvPicPr>
          <p:cNvPr id="9" name="Image 1" descr="/tmp/claude-0/-home-user-BioOil-Automation/5397d81f-6477-55ef-8890-ec0ebaf31f4d/scratchpad/deck/shots/review.png">    </p:cNvPr>
          <p:cNvPicPr>
            <a:picLocks noChangeAspect="1"/>
          </p:cNvPicPr>
          <p:nvPr/>
        </p:nvPicPr>
        <p:blipFill>
          <a:blip r:embed="rId2"/>
          <a:stretch>
            <a:fillRect/>
          </a:stretch>
        </p:blipFill>
        <p:spPr>
          <a:xfrm>
            <a:off x="4343400" y="2057400"/>
            <a:ext cx="3588913" cy="4023360"/>
          </a:xfrm>
          <a:prstGeom prst="rect">
            <a:avLst/>
          </a:prstGeom>
        </p:spPr>
      </p:pic>
      <p:sp>
        <p:nvSpPr>
          <p:cNvPr id="10" name="Shape 6"/>
          <p:cNvSpPr/>
          <p:nvPr/>
        </p:nvSpPr>
        <p:spPr>
          <a:xfrm>
            <a:off x="4343400" y="2057400"/>
            <a:ext cx="3588913" cy="4023360"/>
          </a:xfrm>
          <a:prstGeom prst="roundRect">
            <a:avLst>
              <a:gd name="adj" fmla="val 2548"/>
            </a:avLst>
          </a:prstGeom>
          <a:ln w="12700">
            <a:solidFill>
              <a:srgbClr val="2A3031"/>
            </a:solidFill>
            <a:prstDash val="solid"/>
          </a:ln>
        </p:spPr>
      </p:sp>
      <p:sp>
        <p:nvSpPr>
          <p:cNvPr id="11" name="Text 7"/>
          <p:cNvSpPr/>
          <p:nvPr/>
        </p:nvSpPr>
        <p:spPr>
          <a:xfrm>
            <a:off x="8160913" y="1691640"/>
            <a:ext cx="3588913" cy="320040"/>
          </a:xfrm>
          <a:prstGeom prst="rect">
            <a:avLst/>
          </a:prstGeom>
          <a:noFill/>
          <a:ln/>
        </p:spPr>
        <p:txBody>
          <a:bodyPr wrap="square" rtlCol="0" anchor="ctr"/>
          <a:lstStyle/>
          <a:p>
            <a:pPr indent="0" marL="0">
              <a:buNone/>
            </a:pPr>
            <a:r>
              <a:rPr lang="en-US" sz="1100" b="1" dirty="0">
                <a:solidFill>
                  <a:srgbClr val="C9F36B"/>
                </a:solidFill>
                <a:latin typeface="Consolas" pitchFamily="34" charset="0"/>
                <a:ea typeface="Consolas" pitchFamily="34" charset="-122"/>
                <a:cs typeface="Consolas" pitchFamily="34" charset="-120"/>
              </a:rPr>
              <a:t>3  Accept — result shown honestly</a:t>
            </a:r>
            <a:endParaRPr lang="en-US" sz="1100" dirty="0"/>
          </a:p>
        </p:txBody>
      </p:sp>
      <p:pic>
        <p:nvPicPr>
          <p:cNvPr id="12" name="Image 2" descr="/tmp/claude-0/-home-user-BioOil-Automation/5397d81f-6477-55ef-8890-ec0ebaf31f4d/scratchpad/deck/shots/approved.png">    </p:cNvPr>
          <p:cNvPicPr>
            <a:picLocks noChangeAspect="1"/>
          </p:cNvPicPr>
          <p:nvPr/>
        </p:nvPicPr>
        <p:blipFill>
          <a:blip r:embed="rId3"/>
          <a:stretch>
            <a:fillRect/>
          </a:stretch>
        </p:blipFill>
        <p:spPr>
          <a:xfrm>
            <a:off x="8160913" y="2057400"/>
            <a:ext cx="3588913" cy="4023360"/>
          </a:xfrm>
          <a:prstGeom prst="rect">
            <a:avLst/>
          </a:prstGeom>
        </p:spPr>
      </p:pic>
      <p:sp>
        <p:nvSpPr>
          <p:cNvPr id="13" name="Shape 8"/>
          <p:cNvSpPr/>
          <p:nvPr/>
        </p:nvSpPr>
        <p:spPr>
          <a:xfrm>
            <a:off x="8160913" y="2057400"/>
            <a:ext cx="3588913" cy="4023360"/>
          </a:xfrm>
          <a:prstGeom prst="roundRect">
            <a:avLst>
              <a:gd name="adj" fmla="val 2548"/>
            </a:avLst>
          </a:prstGeom>
          <a:ln w="12700">
            <a:solidFill>
              <a:srgbClr val="2A3031"/>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WORKING MODEL · SAFETY CHECK</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It refuses to guess on unfamiliar feedstock</a:t>
            </a:r>
            <a:endParaRPr lang="en-US" sz="3000" dirty="0"/>
          </a:p>
        </p:txBody>
      </p:sp>
      <p:pic>
        <p:nvPicPr>
          <p:cNvPr id="4" name="Image 0" descr="/tmp/claude-0/-home-user-BioOil-Automation/5397d81f-6477-55ef-8890-ec0ebaf31f4d/scratchpad/deck/shots/flagged.png">    </p:cNvPr>
          <p:cNvPicPr>
            <a:picLocks noChangeAspect="1"/>
          </p:cNvPicPr>
          <p:nvPr/>
        </p:nvPicPr>
        <p:blipFill>
          <a:blip r:embed="rId1"/>
          <a:stretch>
            <a:fillRect/>
          </a:stretch>
        </p:blipFill>
        <p:spPr>
          <a:xfrm>
            <a:off x="548640" y="1737360"/>
            <a:ext cx="3996744" cy="4480560"/>
          </a:xfrm>
          <a:prstGeom prst="rect">
            <a:avLst/>
          </a:prstGeom>
        </p:spPr>
      </p:pic>
      <p:sp>
        <p:nvSpPr>
          <p:cNvPr id="5" name="Shape 2"/>
          <p:cNvSpPr/>
          <p:nvPr/>
        </p:nvSpPr>
        <p:spPr>
          <a:xfrm>
            <a:off x="548640" y="1737360"/>
            <a:ext cx="3996744" cy="4480560"/>
          </a:xfrm>
          <a:prstGeom prst="roundRect">
            <a:avLst>
              <a:gd name="adj" fmla="val 2288"/>
            </a:avLst>
          </a:prstGeom>
          <a:ln w="12700">
            <a:solidFill>
              <a:srgbClr val="2A3031"/>
            </a:solidFill>
            <a:prstDash val="solid"/>
          </a:ln>
        </p:spPr>
      </p:sp>
      <p:sp>
        <p:nvSpPr>
          <p:cNvPr id="6" name="Text 3"/>
          <p:cNvSpPr/>
          <p:nvPr/>
        </p:nvSpPr>
        <p:spPr>
          <a:xfrm>
            <a:off x="5094024" y="1828800"/>
            <a:ext cx="6518856" cy="685800"/>
          </a:xfrm>
          <a:prstGeom prst="rect">
            <a:avLst/>
          </a:prstGeom>
          <a:noFill/>
          <a:ln/>
        </p:spPr>
        <p:txBody>
          <a:bodyPr wrap="square" lIns="0" tIns="0" rIns="0" bIns="0" rtlCol="0" anchor="b"/>
          <a:lstStyle/>
          <a:p>
            <a:pPr indent="0" marL="0">
              <a:buNone/>
            </a:pPr>
            <a:r>
              <a:rPr lang="en-US" sz="3600" b="1" dirty="0">
                <a:solidFill>
                  <a:srgbClr val="FF8C8C"/>
                </a:solidFill>
                <a:latin typeface="Arial" pitchFamily="34" charset="0"/>
                <a:ea typeface="Arial" pitchFamily="34" charset="-122"/>
                <a:cs typeface="Arial" pitchFamily="34" charset="-120"/>
              </a:rPr>
              <a:t>0.52 &gt; 0.41</a:t>
            </a:r>
            <a:endParaRPr lang="en-US" sz="3600" dirty="0"/>
          </a:p>
        </p:txBody>
      </p:sp>
      <p:sp>
        <p:nvSpPr>
          <p:cNvPr id="7" name="Text 4"/>
          <p:cNvSpPr/>
          <p:nvPr/>
        </p:nvSpPr>
        <p:spPr>
          <a:xfrm>
            <a:off x="5094024" y="2542032"/>
            <a:ext cx="6518856" cy="548640"/>
          </a:xfrm>
          <a:prstGeom prst="rect">
            <a:avLst/>
          </a:prstGeom>
          <a:noFill/>
          <a:ln/>
        </p:spPr>
        <p:txBody>
          <a:bodyPr wrap="square" lIns="0" tIns="0" rIns="0" bIns="0" rtlCol="0" anchor="t"/>
          <a:lstStyle/>
          <a:p>
            <a:pPr indent="0" marL="0">
              <a:buNone/>
            </a:pPr>
            <a:r>
              <a:rPr lang="en-US" sz="1200" dirty="0">
                <a:solidFill>
                  <a:srgbClr val="9A9F9B"/>
                </a:solidFill>
                <a:latin typeface="Arial" pitchFamily="34" charset="0"/>
                <a:ea typeface="Arial" pitchFamily="34" charset="-122"/>
                <a:cs typeface="Arial" pitchFamily="34" charset="-120"/>
              </a:rPr>
              <a:t>Microalgae-like feedstock: composition distance exceeds the applicability limit</a:t>
            </a:r>
            <a:endParaRPr lang="en-US" sz="1200" dirty="0"/>
          </a:p>
        </p:txBody>
      </p:sp>
      <p:sp>
        <p:nvSpPr>
          <p:cNvPr id="8" name="Text 5"/>
          <p:cNvSpPr/>
          <p:nvPr/>
        </p:nvSpPr>
        <p:spPr>
          <a:xfrm>
            <a:off x="5094024" y="3474720"/>
            <a:ext cx="6518856" cy="2560320"/>
          </a:xfrm>
          <a:prstGeom prst="rect">
            <a:avLst/>
          </a:prstGeom>
          <a:noFill/>
          <a:ln/>
        </p:spPr>
        <p:txBody>
          <a:bodyPr wrap="square" rtlCol="0" anchor="t"/>
          <a:lstStyle/>
          <a:p>
            <a:pPr marL="342900" indent="-342900">
              <a:spcAft>
                <a:spcPts val="800"/>
              </a:spcAft>
              <a:buSzPct val="100000"/>
              <a:buChar char="■"/>
            </a:pPr>
            <a:r>
              <a:rPr lang="en-US" sz="1500" dirty="0">
                <a:solidFill>
                  <a:srgbClr val="F1F2ED"/>
                </a:solidFill>
                <a:latin typeface="Arial" pitchFamily="34" charset="0"/>
                <a:ea typeface="Arial" pitchFamily="34" charset="-122"/>
                <a:cs typeface="Arial" pitchFamily="34" charset="-120"/>
              </a:rPr>
              <a:t>No recommendation is shown, only the reason</a:t>
            </a:r>
            <a:endParaRPr lang="en-US" sz="1500" dirty="0"/>
          </a:p>
          <a:p>
            <a:pPr marL="342900" indent="-342900">
              <a:spcAft>
                <a:spcPts val="800"/>
              </a:spcAft>
              <a:buSzPct val="100000"/>
              <a:buChar char="■"/>
            </a:pPr>
            <a:r>
              <a:rPr lang="en-US" sz="1500" dirty="0">
                <a:solidFill>
                  <a:srgbClr val="F1F2ED"/>
                </a:solidFill>
                <a:latin typeface="Arial" pitchFamily="34" charset="0"/>
                <a:ea typeface="Arial" pitchFamily="34" charset="-122"/>
                <a:cs typeface="Arial" pitchFamily="34" charset="-120"/>
              </a:rPr>
              <a:t>User is told to run 1–2 calibration experiments first</a:t>
            </a:r>
            <a:endParaRPr lang="en-US" sz="1500" dirty="0"/>
          </a:p>
          <a:p>
            <a:pPr marL="342900" indent="-342900">
              <a:spcAft>
                <a:spcPts val="800"/>
              </a:spcAft>
              <a:buSzPct val="100000"/>
              <a:buChar char="■"/>
            </a:pPr>
            <a:r>
              <a:rPr lang="en-US" sz="1500" dirty="0">
                <a:solidFill>
                  <a:srgbClr val="F1F2ED"/>
                </a:solidFill>
                <a:latin typeface="Arial" pitchFamily="34" charset="0"/>
                <a:ea typeface="Arial" pitchFamily="34" charset="-122"/>
                <a:cs typeface="Arial" pitchFamily="34" charset="-120"/>
              </a:rPr>
              <a:t>Coal-like input (distance 1.20) is refused the same way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SUMMARY</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Final honest scorecard</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206240"/>
                <a:gridCol w="2103120"/>
                <a:gridCol w="4754880"/>
              </a:tblGrid>
              <a:tr h="512064">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Metric (tested on unseen biomass)</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Value</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c>
                  <a:txBody>
                    <a:bodyPr/>
                    <a:lstStyle/>
                    <a:p>
                      <a:pPr indent="0" marL="0">
                        <a:buNone/>
                      </a:pPr>
                      <a:r>
                        <a:rPr lang="en-US" sz="1000" b="1" dirty="0">
                          <a:solidFill>
                            <a:srgbClr val="9A9F9B"/>
                          </a:solidFill>
                          <a:latin typeface="Consolas" pitchFamily="34" charset="0"/>
                          <a:ea typeface="Consolas" pitchFamily="34" charset="-122"/>
                          <a:cs typeface="Consolas" pitchFamily="34" charset="-120"/>
                        </a:rPr>
                        <a:t>What it means</a:t>
                      </a:r>
                      <a:endParaRPr lang="en-US" sz="1000" dirty="0">
                        <a:latin typeface="Consolas" charset="0"/>
                        <a:ea typeface="Consolas" charset="0"/>
                        <a:cs typeface="Consolas"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C2122"/>
                    </a:solidFill>
                  </a:tcPr>
                </a:tc>
              </a:tr>
              <a:tr h="512064">
                <a:tc>
                  <a:txBody>
                    <a:bodyPr/>
                    <a:lstStyle/>
                    <a:p>
                      <a:pPr indent="0" marL="0">
                        <a:buNone/>
                      </a:pPr>
                      <a:r>
                        <a:rPr lang="en-US" sz="1300" dirty="0">
                          <a:solidFill>
                            <a:srgbClr val="F1F2ED"/>
                          </a:solidFill>
                          <a:latin typeface="Arial" pitchFamily="34" charset="0"/>
                          <a:ea typeface="Arial" pitchFamily="34" charset="-122"/>
                          <a:cs typeface="Arial" pitchFamily="34" charset="-120"/>
                        </a:rPr>
                        <a:t>O/C R² (log scale), final blend</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500" b="1" dirty="0">
                          <a:solidFill>
                            <a:srgbClr val="C9F36B"/>
                          </a:solidFill>
                          <a:latin typeface="Arial" pitchFamily="34" charset="0"/>
                          <a:ea typeface="Arial" pitchFamily="34" charset="-122"/>
                          <a:cs typeface="Arial" pitchFamily="34" charset="-120"/>
                        </a:rPr>
                        <a:t>0.27</a:t>
                      </a:r>
                      <a:endParaRPr lang="en-US" sz="15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300" dirty="0">
                          <a:solidFill>
                            <a:srgbClr val="F1F2ED"/>
                          </a:solidFill>
                          <a:latin typeface="Arial" pitchFamily="34" charset="0"/>
                          <a:ea typeface="Arial" pitchFamily="34" charset="-122"/>
                          <a:cs typeface="Arial" pitchFamily="34" charset="-120"/>
                        </a:rPr>
                        <a:t>Real but modest skill; ~31% typical error</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512064">
                <a:tc>
                  <a:txBody>
                    <a:bodyPr/>
                    <a:lstStyle/>
                    <a:p>
                      <a:pPr indent="0" marL="0">
                        <a:buNone/>
                      </a:pPr>
                      <a:r>
                        <a:rPr lang="en-US" sz="1300" dirty="0">
                          <a:solidFill>
                            <a:srgbClr val="F1F2ED"/>
                          </a:solidFill>
                          <a:latin typeface="Arial" pitchFamily="34" charset="0"/>
                          <a:ea typeface="Arial" pitchFamily="34" charset="-122"/>
                          <a:cs typeface="Arial" pitchFamily="34" charset="-120"/>
                        </a:rPr>
                        <a:t>Yield R², final model</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500" b="1" dirty="0">
                          <a:solidFill>
                            <a:srgbClr val="C9F36B"/>
                          </a:solidFill>
                          <a:latin typeface="Arial" pitchFamily="34" charset="0"/>
                          <a:ea typeface="Arial" pitchFamily="34" charset="-122"/>
                          <a:cs typeface="Arial" pitchFamily="34" charset="-120"/>
                        </a:rPr>
                        <a:t>0.07</a:t>
                      </a:r>
                      <a:endParaRPr lang="en-US" sz="15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300" dirty="0">
                          <a:solidFill>
                            <a:srgbClr val="F1F2ED"/>
                          </a:solidFill>
                          <a:latin typeface="Arial" pitchFamily="34" charset="0"/>
                          <a:ea typeface="Arial" pitchFamily="34" charset="-122"/>
                          <a:cs typeface="Arial" pitchFamily="34" charset="-120"/>
                        </a:rPr>
                        <a:t>Yield level hard to transfer between labs</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512064">
                <a:tc>
                  <a:txBody>
                    <a:bodyPr/>
                    <a:lstStyle/>
                    <a:p>
                      <a:pPr indent="0" marL="0">
                        <a:buNone/>
                      </a:pPr>
                      <a:r>
                        <a:rPr lang="en-US" sz="1300" dirty="0">
                          <a:solidFill>
                            <a:srgbClr val="F1F2ED"/>
                          </a:solidFill>
                          <a:latin typeface="Arial" pitchFamily="34" charset="0"/>
                          <a:ea typeface="Arial" pitchFamily="34" charset="-122"/>
                          <a:cs typeface="Arial" pitchFamily="34" charset="-120"/>
                        </a:rPr>
                        <a:t>Yield shape R²</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500" b="1" dirty="0">
                          <a:solidFill>
                            <a:srgbClr val="C9F36B"/>
                          </a:solidFill>
                          <a:latin typeface="Arial" pitchFamily="34" charset="0"/>
                          <a:ea typeface="Arial" pitchFamily="34" charset="-122"/>
                          <a:cs typeface="Arial" pitchFamily="34" charset="-120"/>
                        </a:rPr>
                        <a:t>0.12</a:t>
                      </a:r>
                      <a:endParaRPr lang="en-US" sz="15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300" dirty="0">
                          <a:solidFill>
                            <a:srgbClr val="F1F2ED"/>
                          </a:solidFill>
                          <a:latin typeface="Arial" pitchFamily="34" charset="0"/>
                          <a:ea typeface="Arial" pitchFamily="34" charset="-122"/>
                          <a:cs typeface="Arial" pitchFamily="34" charset="-120"/>
                        </a:rPr>
                        <a:t>Captures how yield responds to T and heating rate</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512064">
                <a:tc>
                  <a:txBody>
                    <a:bodyPr/>
                    <a:lstStyle/>
                    <a:p>
                      <a:pPr indent="0" marL="0">
                        <a:buNone/>
                      </a:pPr>
                      <a:r>
                        <a:rPr lang="en-US" sz="1300" dirty="0">
                          <a:solidFill>
                            <a:srgbClr val="F1F2ED"/>
                          </a:solidFill>
                          <a:latin typeface="Arial" pitchFamily="34" charset="0"/>
                          <a:ea typeface="Arial" pitchFamily="34" charset="-122"/>
                          <a:cs typeface="Arial" pitchFamily="34" charset="-120"/>
                        </a:rPr>
                        <a:t>Yield 80% interval, new biomass</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500" b="1" dirty="0">
                          <a:solidFill>
                            <a:srgbClr val="C9F36B"/>
                          </a:solidFill>
                          <a:latin typeface="Arial" pitchFamily="34" charset="0"/>
                          <a:ea typeface="Arial" pitchFamily="34" charset="-122"/>
                          <a:cs typeface="Arial" pitchFamily="34" charset="-120"/>
                        </a:rPr>
                        <a:t>±12.6 wt%</a:t>
                      </a:r>
                      <a:endParaRPr lang="en-US" sz="15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300" dirty="0">
                          <a:solidFill>
                            <a:srgbClr val="F1F2ED"/>
                          </a:solidFill>
                          <a:latin typeface="Arial" pitchFamily="34" charset="0"/>
                          <a:ea typeface="Arial" pitchFamily="34" charset="-122"/>
                          <a:cs typeface="Arial" pitchFamily="34" charset="-120"/>
                        </a:rPr>
                        <a:t>Uncertainty is reported, not hidden</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512064">
                <a:tc>
                  <a:txBody>
                    <a:bodyPr/>
                    <a:lstStyle/>
                    <a:p>
                      <a:pPr indent="0" marL="0">
                        <a:buNone/>
                      </a:pPr>
                      <a:r>
                        <a:rPr lang="en-US" sz="1300" dirty="0">
                          <a:solidFill>
                            <a:srgbClr val="F1F2ED"/>
                          </a:solidFill>
                          <a:latin typeface="Arial" pitchFamily="34" charset="0"/>
                          <a:ea typeface="Arial" pitchFamily="34" charset="-122"/>
                          <a:cs typeface="Arial" pitchFamily="34" charset="-120"/>
                        </a:rPr>
                        <a:t>Yield error after 1 / 2 experiments</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500" b="1" dirty="0">
                          <a:solidFill>
                            <a:srgbClr val="C9F36B"/>
                          </a:solidFill>
                          <a:latin typeface="Arial" pitchFamily="34" charset="0"/>
                          <a:ea typeface="Arial" pitchFamily="34" charset="-122"/>
                          <a:cs typeface="Arial" pitchFamily="34" charset="-120"/>
                        </a:rPr>
                        <a:t>5.3 / 4.2 wt%</a:t>
                      </a:r>
                      <a:endParaRPr lang="en-US" sz="15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300" dirty="0">
                          <a:solidFill>
                            <a:srgbClr val="F1F2ED"/>
                          </a:solidFill>
                          <a:latin typeface="Arial" pitchFamily="34" charset="0"/>
                          <a:ea typeface="Arial" pitchFamily="34" charset="-122"/>
                          <a:cs typeface="Arial" pitchFamily="34" charset="-120"/>
                        </a:rPr>
                        <a:t>Calibration makes it practically useful</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512064">
                <a:tc>
                  <a:txBody>
                    <a:bodyPr/>
                    <a:lstStyle/>
                    <a:p>
                      <a:pPr indent="0" marL="0">
                        <a:buNone/>
                      </a:pPr>
                      <a:r>
                        <a:rPr lang="en-US" sz="1300" dirty="0">
                          <a:solidFill>
                            <a:srgbClr val="F1F2ED"/>
                          </a:solidFill>
                          <a:latin typeface="Arial" pitchFamily="34" charset="0"/>
                          <a:ea typeface="Arial" pitchFamily="34" charset="-122"/>
                          <a:cs typeface="Arial" pitchFamily="34" charset="-120"/>
                        </a:rPr>
                        <a:t>Correct optimum T, case studies</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500" b="1" dirty="0">
                          <a:solidFill>
                            <a:srgbClr val="C9F36B"/>
                          </a:solidFill>
                          <a:latin typeface="Arial" pitchFamily="34" charset="0"/>
                          <a:ea typeface="Arial" pitchFamily="34" charset="-122"/>
                          <a:cs typeface="Arial" pitchFamily="34" charset="-120"/>
                        </a:rPr>
                        <a:t>2 of 3</a:t>
                      </a:r>
                      <a:endParaRPr lang="en-US" sz="15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300" dirty="0">
                          <a:solidFill>
                            <a:srgbClr val="F1F2ED"/>
                          </a:solidFill>
                          <a:latin typeface="Arial" pitchFamily="34" charset="0"/>
                          <a:ea typeface="Arial" pitchFamily="34" charset="-122"/>
                          <a:cs typeface="Arial" pitchFamily="34" charset="-120"/>
                        </a:rPr>
                        <a:t>With zero experiments</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r h="512064">
                <a:tc>
                  <a:txBody>
                    <a:bodyPr/>
                    <a:lstStyle/>
                    <a:p>
                      <a:pPr indent="0" marL="0">
                        <a:buNone/>
                      </a:pPr>
                      <a:r>
                        <a:rPr lang="en-US" sz="1300" dirty="0">
                          <a:solidFill>
                            <a:srgbClr val="F1F2ED"/>
                          </a:solidFill>
                          <a:latin typeface="Arial" pitchFamily="34" charset="0"/>
                          <a:ea typeface="Arial" pitchFamily="34" charset="-122"/>
                          <a:cs typeface="Arial" pitchFamily="34" charset="-120"/>
                        </a:rPr>
                        <a:t>Out-of-range feedstocks refused</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500" b="1" dirty="0">
                          <a:solidFill>
                            <a:srgbClr val="C9F36B"/>
                          </a:solidFill>
                          <a:latin typeface="Arial" pitchFamily="34" charset="0"/>
                          <a:ea typeface="Arial" pitchFamily="34" charset="-122"/>
                          <a:cs typeface="Arial" pitchFamily="34" charset="-120"/>
                        </a:rPr>
                        <a:t>2 of 2</a:t>
                      </a:r>
                      <a:endParaRPr lang="en-US" sz="15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c>
                  <a:txBody>
                    <a:bodyPr/>
                    <a:lstStyle/>
                    <a:p>
                      <a:pPr indent="0" marL="0">
                        <a:buNone/>
                      </a:pPr>
                      <a:r>
                        <a:rPr lang="en-US" sz="1300" dirty="0">
                          <a:solidFill>
                            <a:srgbClr val="F1F2ED"/>
                          </a:solidFill>
                          <a:latin typeface="Arial" pitchFamily="34" charset="0"/>
                          <a:ea typeface="Arial" pitchFamily="34" charset="-122"/>
                          <a:cs typeface="Arial" pitchFamily="34" charset="-120"/>
                        </a:rPr>
                        <a:t>Microalgae and coal flagged</a:t>
                      </a:r>
                      <a:endParaRPr lang="en-US" sz="1300" dirty="0">
                        <a:latin typeface="Arial" charset="0"/>
                        <a:ea typeface="Arial" charset="0"/>
                        <a:cs typeface="Arial" charset="0"/>
                      </a:endParaRPr>
                    </a:p>
                  </a:txBody>
                  <a:tcPr marL="91440" marR="91440" marT="45720" marB="45720" anchor="ctr">
                    <a:lnL w="9525" cap="flat" cmpd="sng" algn="ctr">
                      <a:solidFill>
                        <a:srgbClr val="2A3031"/>
                      </a:solidFill>
                      <a:prstDash val="solid"/>
                      <a:round/>
                      <a:headEnd type="none" w="med" len="med"/>
                      <a:tailEnd type="none" w="med" len="med"/>
                    </a:lnL>
                    <a:lnR w="9525" cap="flat" cmpd="sng" algn="ctr">
                      <a:solidFill>
                        <a:srgbClr val="2A3031"/>
                      </a:solidFill>
                      <a:prstDash val="solid"/>
                      <a:round/>
                      <a:headEnd type="none" w="med" len="med"/>
                      <a:tailEnd type="none" w="med" len="med"/>
                    </a:lnR>
                    <a:lnT w="9525" cap="flat" cmpd="sng" algn="ctr">
                      <a:solidFill>
                        <a:srgbClr val="2A3031"/>
                      </a:solidFill>
                      <a:prstDash val="solid"/>
                      <a:round/>
                      <a:headEnd type="none" w="med" len="med"/>
                      <a:tailEnd type="none" w="med" len="med"/>
                    </a:lnT>
                    <a:lnB w="9525" cap="flat" cmpd="sng" algn="ctr">
                      <a:solidFill>
                        <a:srgbClr val="2A3031"/>
                      </a:solidFill>
                      <a:prstDash val="solid"/>
                      <a:round/>
                      <a:headEnd type="none" w="med" len="med"/>
                      <a:tailEnd type="none" w="med" len="med"/>
                    </a:lnB>
                    <a:solidFill>
                      <a:srgbClr val="15191A"/>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1100" b="1" spc="300" kern="0" dirty="0">
                <a:solidFill>
                  <a:srgbClr val="C9F36B"/>
                </a:solidFill>
                <a:latin typeface="Consolas" pitchFamily="34" charset="0"/>
                <a:ea typeface="Consolas" pitchFamily="34" charset="-122"/>
                <a:cs typeface="Consolas" pitchFamily="34" charset="-120"/>
              </a:rPr>
              <a:t>LIMITATIONS AND NEXT STEPS</a:t>
            </a:r>
            <a:endParaRPr lang="en-US" sz="1100" dirty="0"/>
          </a:p>
        </p:txBody>
      </p:sp>
      <p:sp>
        <p:nvSpPr>
          <p:cNvPr id="3" name="Text 1"/>
          <p:cNvSpPr/>
          <p:nvPr/>
        </p:nvSpPr>
        <p:spPr>
          <a:xfrm>
            <a:off x="548640" y="777240"/>
            <a:ext cx="11064240" cy="822960"/>
          </a:xfrm>
          <a:prstGeom prst="rect">
            <a:avLst/>
          </a:prstGeom>
          <a:noFill/>
          <a:ln/>
        </p:spPr>
        <p:txBody>
          <a:bodyPr wrap="square" rtlCol="0" anchor="t"/>
          <a:lstStyle/>
          <a:p>
            <a:pPr indent="0" marL="0">
              <a:buNone/>
            </a:pPr>
            <a:r>
              <a:rPr lang="en-US" sz="3000" b="1" dirty="0">
                <a:solidFill>
                  <a:srgbClr val="F1F2ED"/>
                </a:solidFill>
                <a:latin typeface="Arial" pitchFamily="34" charset="0"/>
                <a:ea typeface="Arial" pitchFamily="34" charset="-122"/>
                <a:cs typeface="Arial" pitchFamily="34" charset="-120"/>
              </a:rPr>
              <a:t>What we would do next</a:t>
            </a:r>
            <a:endParaRPr lang="en-US" sz="3000" dirty="0"/>
          </a:p>
        </p:txBody>
      </p:sp>
      <p:sp>
        <p:nvSpPr>
          <p:cNvPr id="4" name="Shape 2"/>
          <p:cNvSpPr/>
          <p:nvPr/>
        </p:nvSpPr>
        <p:spPr>
          <a:xfrm>
            <a:off x="548640" y="1783080"/>
            <a:ext cx="5394960" cy="4206240"/>
          </a:xfrm>
          <a:prstGeom prst="roundRect">
            <a:avLst>
              <a:gd name="adj" fmla="val 2609"/>
            </a:avLst>
          </a:prstGeom>
          <a:solidFill>
            <a:srgbClr val="15191A"/>
          </a:solidFill>
          <a:ln w="12700">
            <a:solidFill>
              <a:srgbClr val="2A3031"/>
            </a:solidFill>
            <a:prstDash val="solid"/>
          </a:ln>
        </p:spPr>
      </p:sp>
      <p:sp>
        <p:nvSpPr>
          <p:cNvPr id="5" name="Text 3"/>
          <p:cNvSpPr/>
          <p:nvPr/>
        </p:nvSpPr>
        <p:spPr>
          <a:xfrm>
            <a:off x="822960" y="1965960"/>
            <a:ext cx="4572000" cy="320040"/>
          </a:xfrm>
          <a:prstGeom prst="rect">
            <a:avLst/>
          </a:prstGeom>
          <a:noFill/>
          <a:ln/>
        </p:spPr>
        <p:txBody>
          <a:bodyPr wrap="square" rtlCol="0" anchor="ctr"/>
          <a:lstStyle/>
          <a:p>
            <a:pPr indent="0" marL="0">
              <a:buNone/>
            </a:pPr>
            <a:r>
              <a:rPr lang="en-US" sz="1100" b="1" spc="200" kern="0" dirty="0">
                <a:solidFill>
                  <a:srgbClr val="FF8C8C"/>
                </a:solidFill>
                <a:latin typeface="Consolas" pitchFamily="34" charset="0"/>
                <a:ea typeface="Consolas" pitchFamily="34" charset="-122"/>
                <a:cs typeface="Consolas" pitchFamily="34" charset="-120"/>
              </a:rPr>
              <a:t>LIMITATIONS</a:t>
            </a:r>
            <a:endParaRPr lang="en-US" sz="1100" dirty="0"/>
          </a:p>
        </p:txBody>
      </p:sp>
      <p:sp>
        <p:nvSpPr>
          <p:cNvPr id="6" name="Text 4"/>
          <p:cNvSpPr/>
          <p:nvPr/>
        </p:nvSpPr>
        <p:spPr>
          <a:xfrm>
            <a:off x="822960" y="2377440"/>
            <a:ext cx="4937760" cy="3474720"/>
          </a:xfrm>
          <a:prstGeom prst="rect">
            <a:avLst/>
          </a:prstGeom>
          <a:noFill/>
          <a:ln/>
        </p:spPr>
        <p:txBody>
          <a:bodyPr wrap="square" rtlCol="0" anchor="t"/>
          <a:lstStyle/>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Literature data mixes labs; residence time rarely reported</a:t>
            </a:r>
            <a:endParaRPr lang="en-US" sz="1400" dirty="0"/>
          </a:p>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Yield and O/C come from two separate datasets</a:t>
            </a:r>
            <a:endParaRPr lang="en-US" sz="1400" dirty="0"/>
          </a:p>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Wide uncertainty for a brand-new biomass</a:t>
            </a:r>
            <a:endParaRPr lang="en-US" sz="1400" dirty="0"/>
          </a:p>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Web demo runs on pre-computed sample results</a:t>
            </a:r>
            <a:endParaRPr lang="en-US" sz="1400" dirty="0"/>
          </a:p>
        </p:txBody>
      </p:sp>
      <p:sp>
        <p:nvSpPr>
          <p:cNvPr id="7" name="Shape 5"/>
          <p:cNvSpPr/>
          <p:nvPr/>
        </p:nvSpPr>
        <p:spPr>
          <a:xfrm>
            <a:off x="6217920" y="1783080"/>
            <a:ext cx="5394960" cy="4206240"/>
          </a:xfrm>
          <a:prstGeom prst="roundRect">
            <a:avLst>
              <a:gd name="adj" fmla="val 2609"/>
            </a:avLst>
          </a:prstGeom>
          <a:solidFill>
            <a:srgbClr val="15191A"/>
          </a:solidFill>
          <a:ln w="12700">
            <a:solidFill>
              <a:srgbClr val="2A3031"/>
            </a:solidFill>
            <a:prstDash val="solid"/>
          </a:ln>
        </p:spPr>
      </p:sp>
      <p:sp>
        <p:nvSpPr>
          <p:cNvPr id="8" name="Text 6"/>
          <p:cNvSpPr/>
          <p:nvPr/>
        </p:nvSpPr>
        <p:spPr>
          <a:xfrm>
            <a:off x="6492240" y="1965960"/>
            <a:ext cx="4572000" cy="320040"/>
          </a:xfrm>
          <a:prstGeom prst="rect">
            <a:avLst/>
          </a:prstGeom>
          <a:noFill/>
          <a:ln/>
        </p:spPr>
        <p:txBody>
          <a:bodyPr wrap="square" rtlCol="0" anchor="ctr"/>
          <a:lstStyle/>
          <a:p>
            <a:pPr indent="0" marL="0">
              <a:buNone/>
            </a:pPr>
            <a:r>
              <a:rPr lang="en-US" sz="1100" b="1" spc="200" kern="0" dirty="0">
                <a:solidFill>
                  <a:srgbClr val="C9F36B"/>
                </a:solidFill>
                <a:latin typeface="Consolas" pitchFamily="34" charset="0"/>
                <a:ea typeface="Consolas" pitchFamily="34" charset="-122"/>
                <a:cs typeface="Consolas" pitchFamily="34" charset="-120"/>
              </a:rPr>
              <a:t>NEXT STEPS</a:t>
            </a:r>
            <a:endParaRPr lang="en-US" sz="1100" dirty="0"/>
          </a:p>
        </p:txBody>
      </p:sp>
      <p:sp>
        <p:nvSpPr>
          <p:cNvPr id="9" name="Text 7"/>
          <p:cNvSpPr/>
          <p:nvPr/>
        </p:nvSpPr>
        <p:spPr>
          <a:xfrm>
            <a:off x="6492240" y="2377440"/>
            <a:ext cx="4937760" cy="3474720"/>
          </a:xfrm>
          <a:prstGeom prst="rect">
            <a:avLst/>
          </a:prstGeom>
          <a:noFill/>
          <a:ln/>
        </p:spPr>
        <p:txBody>
          <a:bodyPr wrap="square" rtlCol="0" anchor="t"/>
          <a:lstStyle/>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Leave-one-study-out testing to isolate lab effects</a:t>
            </a:r>
            <a:endParaRPr lang="en-US" sz="1400" dirty="0"/>
          </a:p>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Model organic (water-free) yield on 413 rows</a:t>
            </a:r>
            <a:endParaRPr lang="en-US" sz="1400" dirty="0"/>
          </a:p>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Collect consistent single-reactor data and retrain</a:t>
            </a:r>
            <a:endParaRPr lang="en-US" sz="1400" dirty="0"/>
          </a:p>
          <a:p>
            <a:pPr marL="342900" indent="-342900">
              <a:spcAft>
                <a:spcPts val="800"/>
              </a:spcAft>
              <a:buSzPct val="100000"/>
              <a:buChar char="■"/>
            </a:pPr>
            <a:r>
              <a:rPr lang="en-US" sz="1400" dirty="0">
                <a:solidFill>
                  <a:srgbClr val="F1F2ED"/>
                </a:solidFill>
                <a:latin typeface="Arial" pitchFamily="34" charset="0"/>
                <a:ea typeface="Arial" pitchFamily="34" charset="-122"/>
                <a:cs typeface="Arial" pitchFamily="34" charset="-120"/>
              </a:rPr>
              <a:t>Connect the web app to the trained models via API</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2103120"/>
            <a:ext cx="10972800" cy="1097280"/>
          </a:xfrm>
          <a:prstGeom prst="rect">
            <a:avLst/>
          </a:prstGeom>
          <a:noFill/>
          <a:ln/>
        </p:spPr>
        <p:txBody>
          <a:bodyPr wrap="square" rtlCol="0" anchor="ctr"/>
          <a:lstStyle/>
          <a:p>
            <a:pPr indent="0" marL="0">
              <a:buNone/>
            </a:pPr>
            <a:r>
              <a:rPr lang="en-US" sz="5400" b="1" dirty="0">
                <a:solidFill>
                  <a:srgbClr val="F1F2ED"/>
                </a:solidFill>
                <a:latin typeface="Arial" pitchFamily="34" charset="0"/>
                <a:ea typeface="Arial" pitchFamily="34" charset="-122"/>
                <a:cs typeface="Arial" pitchFamily="34" charset="-120"/>
              </a:rPr>
              <a:t>Thank you</a:t>
            </a:r>
            <a:endParaRPr lang="en-US" sz="5400" dirty="0"/>
          </a:p>
        </p:txBody>
      </p:sp>
      <p:sp>
        <p:nvSpPr>
          <p:cNvPr id="3" name="Text 1"/>
          <p:cNvSpPr/>
          <p:nvPr/>
        </p:nvSpPr>
        <p:spPr>
          <a:xfrm>
            <a:off x="548640" y="3200400"/>
            <a:ext cx="10972800" cy="548640"/>
          </a:xfrm>
          <a:prstGeom prst="rect">
            <a:avLst/>
          </a:prstGeom>
          <a:noFill/>
          <a:ln/>
        </p:spPr>
        <p:txBody>
          <a:bodyPr wrap="square" rtlCol="0" anchor="ctr"/>
          <a:lstStyle/>
          <a:p>
            <a:pPr indent="0" marL="0">
              <a:buNone/>
            </a:pPr>
            <a:r>
              <a:rPr lang="en-US" sz="2200" dirty="0">
                <a:solidFill>
                  <a:srgbClr val="C9F36B"/>
                </a:solidFill>
                <a:latin typeface="Arial" pitchFamily="34" charset="0"/>
                <a:ea typeface="Arial" pitchFamily="34" charset="-122"/>
                <a:cs typeface="Arial" pitchFamily="34" charset="-120"/>
              </a:rPr>
              <a:t>Questions and live demo</a:t>
            </a:r>
            <a:endParaRPr lang="en-US" sz="2200" dirty="0"/>
          </a:p>
        </p:txBody>
      </p:sp>
      <p:sp>
        <p:nvSpPr>
          <p:cNvPr id="4" name="Text 2"/>
          <p:cNvSpPr/>
          <p:nvPr/>
        </p:nvSpPr>
        <p:spPr>
          <a:xfrm>
            <a:off x="548640" y="4114800"/>
            <a:ext cx="10972800" cy="365760"/>
          </a:xfrm>
          <a:prstGeom prst="rect">
            <a:avLst/>
          </a:prstGeom>
          <a:noFill/>
          <a:ln/>
        </p:spPr>
        <p:txBody>
          <a:bodyPr wrap="square" rtlCol="0" anchor="ctr"/>
          <a:lstStyle/>
          <a:p>
            <a:pPr indent="0" marL="0">
              <a:buNone/>
            </a:pPr>
            <a:r>
              <a:rPr lang="en-US" sz="1300" dirty="0">
                <a:solidFill>
                  <a:srgbClr val="9A9F9B"/>
                </a:solidFill>
                <a:latin typeface="Consolas" pitchFamily="34" charset="0"/>
                <a:ea typeface="Consolas" pitchFamily="34" charset="-122"/>
                <a:cs typeface="Consolas" pitchFamily="34" charset="-120"/>
              </a:rPr>
              <a:t>github.com/umasuthanpalaniappan/BioOil-Automation</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16E"/>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Pyrolysis Advisor — Results</dc:title>
  <dc:subject>PptxGenJS Presentation</dc:subject>
  <dc:creator>PptxGenJS</dc:creator>
  <cp:lastModifiedBy>PptxGenJS</cp:lastModifiedBy>
  <cp:revision>1</cp:revision>
  <dcterms:created xsi:type="dcterms:W3CDTF">2026-10-17T19:35:03Z</dcterms:created>
  <dcterms:modified xsi:type="dcterms:W3CDTF">2026-10-17T19:35:03Z</dcterms:modified>
</cp:coreProperties>
</file>