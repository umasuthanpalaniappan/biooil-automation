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One line: we built a tool that tells you which pyrolysis temperature and heating rate give more bio-oil with less oxygen.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Bio-oil from pyrolysis carries a lot of oxygen, which makes it acidic and unstable and means it must be cleaned up later. Running the reactor at the right conditions can give more oil that already has less oxygen. That is the question we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we used two public datasets compiled from published experiments. Step 2: we added physics — reaction-rate equations for how wood breaks down into gas, oil and char — as inputs to machine-learning models. Step 3: the Advisor searches many temperature and heating-rate settings and recommends the best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seven machine-learning models on the standard test used in the literature: train on 80 percent of the data, test on the other 20 percent. Our best model reaches R² 0.90 for the oxygen-to-carbon ratio, level with the published 0.895. R² of 1 would be perfect. On average over ten different random splits, the final Advisor models score about 0.61.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final models used inside the Advisor. Points close to the dashed line are good predictions. Oil yield is typically within about 4 wt%, and oxygen within about 18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model should agree with known chemistry. Ours does: predicted oil yield peaks around 525 °C, inside the textbook best range; above about 600 °C yield drops because hot vapours crack into gas; and oxygen content always decreases as temperature 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Advisor tests 156 combinations of temperature and heating rate. For pine it recommends 480 °C at 300 °C per minute: 41.8 wt% oil with low oxygen. Pushing for maximum yield gives only 1.7 wt% more oil but about 40 percent more oxygen, so the recommended setting is the better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web app. Show it live if you can: in the advisor-frontend folder run npm install and npm run dev, then open localhost:5173 and click Run the Advisor. It uses the trained models' pre-computed results for sample biomasses.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second, tougher test we hid whole biomasses from the model. Accuracy is lower in that case, so the Advisor lets you add one or two real experiments: average yield error drops from about 8 to 5.3 and then 4.2 wt%. It also warns you when a feedstock is very different from anything it was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results. Next steps if asked: collect consistent data from a single reactor, and connect the web app directly to the live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B6CD4"/>
          </a:solidFill>
          <a:ln/>
        </p:spPr>
      </p:sp>
      <p:sp>
        <p:nvSpPr>
          <p:cNvPr id="3" name="Text 1"/>
          <p:cNvSpPr/>
          <p:nvPr/>
        </p:nvSpPr>
        <p:spPr>
          <a:xfrm>
            <a:off x="548640" y="6400800"/>
            <a:ext cx="5486400" cy="274320"/>
          </a:xfrm>
          <a:prstGeom prst="rect">
            <a:avLst/>
          </a:prstGeom>
          <a:noFill/>
          <a:ln/>
        </p:spPr>
        <p:txBody>
          <a:bodyPr wrap="square" rtlCol="0" anchor="ctr"/>
          <a:lstStyle/>
          <a:p>
            <a:pPr indent="0" marL="0">
              <a:buNone/>
            </a:pPr>
            <a:r>
              <a:rPr lang="en-US" sz="1000" dirty="0">
                <a:solidFill>
                  <a:srgbClr val="6B7686"/>
                </a:solidFill>
                <a:latin typeface="Arial" pitchFamily="34" charset="0"/>
                <a:ea typeface="Arial" pitchFamily="34" charset="-122"/>
                <a:cs typeface="Arial" pitchFamily="34" charset="-120"/>
              </a:rPr>
              <a:t>Pyrolysis Advisor  ·  Team 2</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user-BioOil-Automation/5397d81f-6477-55ef-8890-ec0ebaf31f4d/scratchpad/final_report/assets/logo.png">    </p:cNvPr>
          <p:cNvPicPr>
            <a:picLocks noChangeAspect="1"/>
          </p:cNvPicPr>
          <p:nvPr/>
        </p:nvPicPr>
        <p:blipFill>
          <a:blip r:embed="rId1"/>
          <a:stretch>
            <a:fillRect/>
          </a:stretch>
        </p:blipFill>
        <p:spPr>
          <a:xfrm>
            <a:off x="548640" y="502920"/>
            <a:ext cx="566928" cy="688413"/>
          </a:xfrm>
          <a:prstGeom prst="rect">
            <a:avLst/>
          </a:prstGeom>
        </p:spPr>
      </p:pic>
      <p:sp>
        <p:nvSpPr>
          <p:cNvPr id="3" name="Text 0"/>
          <p:cNvSpPr/>
          <p:nvPr/>
        </p:nvSpPr>
        <p:spPr>
          <a:xfrm>
            <a:off x="1325880" y="685800"/>
            <a:ext cx="9144000" cy="365760"/>
          </a:xfrm>
          <a:prstGeom prst="rect">
            <a:avLst/>
          </a:prstGeom>
          <a:noFill/>
          <a:ln/>
        </p:spPr>
        <p:txBody>
          <a:bodyPr wrap="square" rtlCol="0" anchor="ctr"/>
          <a:lstStyle/>
          <a:p>
            <a:pPr indent="0" marL="0">
              <a:buNone/>
            </a:pPr>
            <a:r>
              <a:rPr lang="en-US" sz="1400" dirty="0">
                <a:solidFill>
                  <a:srgbClr val="6B7686"/>
                </a:solidFill>
                <a:latin typeface="Arial" pitchFamily="34" charset="0"/>
                <a:ea typeface="Arial" pitchFamily="34" charset="-122"/>
                <a:cs typeface="Arial" pitchFamily="34" charset="-120"/>
              </a:rPr>
              <a:t>Amrita Vishwa Vidyapeetham  ·  School of Artificial Intelligence</a:t>
            </a:r>
            <a:endParaRPr lang="en-US" sz="1400" dirty="0"/>
          </a:p>
        </p:txBody>
      </p:sp>
      <p:sp>
        <p:nvSpPr>
          <p:cNvPr id="4" name="Text 1"/>
          <p:cNvSpPr/>
          <p:nvPr/>
        </p:nvSpPr>
        <p:spPr>
          <a:xfrm>
            <a:off x="548640" y="1828800"/>
            <a:ext cx="10972800" cy="914400"/>
          </a:xfrm>
          <a:prstGeom prst="rect">
            <a:avLst/>
          </a:prstGeom>
          <a:noFill/>
          <a:ln/>
        </p:spPr>
        <p:txBody>
          <a:bodyPr wrap="square" rtlCol="0" anchor="ctr"/>
          <a:lstStyle/>
          <a:p>
            <a:pPr indent="0" marL="0">
              <a:buNone/>
            </a:pPr>
            <a:r>
              <a:rPr lang="en-US" sz="4800" b="1" dirty="0">
                <a:solidFill>
                  <a:srgbClr val="1A2230"/>
                </a:solidFill>
                <a:latin typeface="Arial" pitchFamily="34" charset="0"/>
                <a:ea typeface="Arial" pitchFamily="34" charset="-122"/>
                <a:cs typeface="Arial" pitchFamily="34" charset="-120"/>
              </a:rPr>
              <a:t>Pyrolysis Advisor</a:t>
            </a:r>
            <a:endParaRPr lang="en-US" sz="4800" dirty="0"/>
          </a:p>
        </p:txBody>
      </p:sp>
      <p:sp>
        <p:nvSpPr>
          <p:cNvPr id="5" name="Text 2"/>
          <p:cNvSpPr/>
          <p:nvPr/>
        </p:nvSpPr>
        <p:spPr>
          <a:xfrm>
            <a:off x="548640" y="2743200"/>
            <a:ext cx="10972800" cy="548640"/>
          </a:xfrm>
          <a:prstGeom prst="rect">
            <a:avLst/>
          </a:prstGeom>
          <a:noFill/>
          <a:ln/>
        </p:spPr>
        <p:txBody>
          <a:bodyPr wrap="square" rtlCol="0" anchor="ctr"/>
          <a:lstStyle/>
          <a:p>
            <a:pPr indent="0" marL="0">
              <a:buNone/>
            </a:pPr>
            <a:r>
              <a:rPr lang="en-US" sz="2200" dirty="0">
                <a:solidFill>
                  <a:srgbClr val="2B6CD4"/>
                </a:solidFill>
                <a:latin typeface="Arial" pitchFamily="34" charset="0"/>
                <a:ea typeface="Arial" pitchFamily="34" charset="-122"/>
                <a:cs typeface="Arial" pitchFamily="34" charset="-120"/>
              </a:rPr>
              <a:t>Using physics + machine learning to get more bio-oil with less oxygen</a:t>
            </a:r>
            <a:endParaRPr lang="en-US" sz="2200" dirty="0"/>
          </a:p>
        </p:txBody>
      </p:sp>
      <p:sp>
        <p:nvSpPr>
          <p:cNvPr id="6" name="Text 3"/>
          <p:cNvSpPr/>
          <p:nvPr/>
        </p:nvSpPr>
        <p:spPr>
          <a:xfrm>
            <a:off x="548640" y="4206240"/>
            <a:ext cx="10972800" cy="457200"/>
          </a:xfrm>
          <a:prstGeom prst="rect">
            <a:avLst/>
          </a:prstGeom>
          <a:noFill/>
          <a:ln/>
        </p:spPr>
        <p:txBody>
          <a:bodyPr wrap="square" rtlCol="0" anchor="ctr"/>
          <a:lstStyle/>
          <a:p>
            <a:pPr indent="0" marL="0">
              <a:buNone/>
            </a:pPr>
            <a:r>
              <a:rPr lang="en-US" sz="1600" b="1" dirty="0">
                <a:solidFill>
                  <a:srgbClr val="1A2230"/>
                </a:solidFill>
                <a:latin typeface="Arial" pitchFamily="34" charset="0"/>
                <a:ea typeface="Arial" pitchFamily="34" charset="-122"/>
                <a:cs typeface="Arial" pitchFamily="34" charset="-120"/>
              </a:rPr>
              <a:t>Team 2:  </a:t>
            </a:r>
            <a:pPr indent="0" marL="0">
              <a:buNone/>
            </a:pPr>
            <a:r>
              <a:rPr lang="en-US" sz="1600" dirty="0">
                <a:solidFill>
                  <a:srgbClr val="3D4757"/>
                </a:solidFill>
                <a:latin typeface="Arial" pitchFamily="34" charset="0"/>
                <a:ea typeface="Arial" pitchFamily="34" charset="-122"/>
                <a:cs typeface="Arial" pitchFamily="34" charset="-120"/>
              </a:rPr>
              <a:t>Mohalraj Shivanethran · Pranesh Subramanian · Srinath Balakrishnan · Umasuthan Palaniappan</a:t>
            </a:r>
            <a:endParaRPr lang="en-US" sz="1600" dirty="0"/>
          </a:p>
        </p:txBody>
      </p:sp>
      <p:sp>
        <p:nvSpPr>
          <p:cNvPr id="7" name="Text 4"/>
          <p:cNvSpPr/>
          <p:nvPr/>
        </p:nvSpPr>
        <p:spPr>
          <a:xfrm>
            <a:off x="548640" y="4709160"/>
            <a:ext cx="10972800" cy="457200"/>
          </a:xfrm>
          <a:prstGeom prst="rect">
            <a:avLst/>
          </a:prstGeom>
          <a:noFill/>
          <a:ln/>
        </p:spPr>
        <p:txBody>
          <a:bodyPr wrap="square" rtlCol="0" anchor="ctr"/>
          <a:lstStyle/>
          <a:p>
            <a:pPr indent="0" marL="0">
              <a:buNone/>
            </a:pPr>
            <a:r>
              <a:rPr lang="en-US" sz="1600" b="1" dirty="0">
                <a:solidFill>
                  <a:srgbClr val="1A2230"/>
                </a:solidFill>
                <a:latin typeface="Arial" pitchFamily="34" charset="0"/>
                <a:ea typeface="Arial" pitchFamily="34" charset="-122"/>
                <a:cs typeface="Arial" pitchFamily="34" charset="-120"/>
              </a:rPr>
              <a:t>Mentor:  </a:t>
            </a:r>
            <a:pPr indent="0" marL="0">
              <a:buNone/>
            </a:pPr>
            <a:r>
              <a:rPr lang="en-US" sz="1600" dirty="0">
                <a:solidFill>
                  <a:srgbClr val="3D4757"/>
                </a:solidFill>
                <a:latin typeface="Arial" pitchFamily="34" charset="0"/>
                <a:ea typeface="Arial" pitchFamily="34" charset="-122"/>
                <a:cs typeface="Arial" pitchFamily="34" charset="-120"/>
              </a:rPr>
              <a:t>Dr. Akhil Mohan, Assistant Professor, School of Artificial Intelligence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rtlCol="0" anchor="ctr"/>
          <a:lstStyle/>
          <a:p>
            <a:pPr indent="0" marL="0">
              <a:buNone/>
            </a:pPr>
            <a:r>
              <a:rPr lang="en-US" sz="1300" b="1" spc="200" kern="0" dirty="0">
                <a:solidFill>
                  <a:srgbClr val="2B6CD4"/>
                </a:solidFill>
                <a:latin typeface="Arial" pitchFamily="34" charset="0"/>
                <a:ea typeface="Arial" pitchFamily="34" charset="-122"/>
                <a:cs typeface="Arial" pitchFamily="34" charset="-120"/>
              </a:rPr>
              <a:t>THE PROBLEM</a:t>
            </a:r>
            <a:endParaRPr lang="en-US" sz="1300" dirty="0"/>
          </a:p>
        </p:txBody>
      </p:sp>
      <p:sp>
        <p:nvSpPr>
          <p:cNvPr id="3" name="Text 1"/>
          <p:cNvSpPr/>
          <p:nvPr/>
        </p:nvSpPr>
        <p:spPr>
          <a:xfrm>
            <a:off x="548640" y="731520"/>
            <a:ext cx="11064240" cy="777240"/>
          </a:xfrm>
          <a:prstGeom prst="rect">
            <a:avLst/>
          </a:prstGeom>
          <a:noFill/>
          <a:ln/>
        </p:spPr>
        <p:txBody>
          <a:bodyPr wrap="square" rtlCol="0" anchor="t"/>
          <a:lstStyle/>
          <a:p>
            <a:pPr indent="0" marL="0">
              <a:buNone/>
            </a:pPr>
            <a:r>
              <a:rPr lang="en-US" sz="3200" b="1" dirty="0">
                <a:solidFill>
                  <a:srgbClr val="1A2230"/>
                </a:solidFill>
                <a:latin typeface="Arial" pitchFamily="34" charset="0"/>
                <a:ea typeface="Arial" pitchFamily="34" charset="-122"/>
                <a:cs typeface="Arial" pitchFamily="34" charset="-120"/>
              </a:rPr>
              <a:t>Bio-oil contains too much oxygen</a:t>
            </a:r>
            <a:endParaRPr lang="en-US" sz="3200" dirty="0"/>
          </a:p>
        </p:txBody>
      </p:sp>
      <p:sp>
        <p:nvSpPr>
          <p:cNvPr id="4" name="Text 2"/>
          <p:cNvSpPr/>
          <p:nvPr/>
        </p:nvSpPr>
        <p:spPr>
          <a:xfrm>
            <a:off x="548640" y="1463040"/>
            <a:ext cx="11064240" cy="457200"/>
          </a:xfrm>
          <a:prstGeom prst="rect">
            <a:avLst/>
          </a:prstGeom>
          <a:noFill/>
          <a:ln/>
        </p:spPr>
        <p:txBody>
          <a:bodyPr wrap="square" rtlCol="0" anchor="t"/>
          <a:lstStyle/>
          <a:p>
            <a:pPr indent="0" marL="0">
              <a:buNone/>
            </a:pPr>
            <a:r>
              <a:rPr lang="en-US" sz="1700" dirty="0">
                <a:solidFill>
                  <a:srgbClr val="3D4757"/>
                </a:solidFill>
                <a:latin typeface="Arial" pitchFamily="34" charset="0"/>
                <a:ea typeface="Arial" pitchFamily="34" charset="-122"/>
                <a:cs typeface="Arial" pitchFamily="34" charset="-120"/>
              </a:rPr>
              <a:t>Pyrolysis turns biomass into oil, but that oil is 31–52% oxygen — acidic, unstable and hard to use.</a:t>
            </a:r>
            <a:endParaRPr lang="en-US" sz="1700" dirty="0"/>
          </a:p>
        </p:txBody>
      </p:sp>
      <p:sp>
        <p:nvSpPr>
          <p:cNvPr id="5" name="Shape 3"/>
          <p:cNvSpPr/>
          <p:nvPr/>
        </p:nvSpPr>
        <p:spPr>
          <a:xfrm>
            <a:off x="822960" y="2514600"/>
            <a:ext cx="3017520" cy="1554480"/>
          </a:xfrm>
          <a:prstGeom prst="roundRect">
            <a:avLst>
              <a:gd name="adj" fmla="val 8824"/>
            </a:avLst>
          </a:prstGeom>
          <a:solidFill>
            <a:srgbClr val="F3F6F9"/>
          </a:solidFill>
          <a:ln w="12700">
            <a:solidFill>
              <a:srgbClr val="DCE2E8"/>
            </a:solidFill>
            <a:prstDash val="solid"/>
          </a:ln>
        </p:spPr>
      </p:sp>
      <p:sp>
        <p:nvSpPr>
          <p:cNvPr id="6" name="Text 4"/>
          <p:cNvSpPr/>
          <p:nvPr/>
        </p:nvSpPr>
        <p:spPr>
          <a:xfrm>
            <a:off x="822960" y="2697480"/>
            <a:ext cx="3017520" cy="548640"/>
          </a:xfrm>
          <a:prstGeom prst="rect">
            <a:avLst/>
          </a:prstGeom>
          <a:noFill/>
          <a:ln/>
        </p:spPr>
        <p:txBody>
          <a:bodyPr wrap="square" rtlCol="0" anchor="ctr"/>
          <a:lstStyle/>
          <a:p>
            <a:pPr algn="ctr" indent="0" marL="0">
              <a:buNone/>
            </a:pPr>
            <a:r>
              <a:rPr lang="en-US" sz="2400" b="1" dirty="0">
                <a:solidFill>
                  <a:srgbClr val="1A2230"/>
                </a:solidFill>
                <a:latin typeface="Arial" pitchFamily="34" charset="0"/>
                <a:ea typeface="Arial" pitchFamily="34" charset="-122"/>
                <a:cs typeface="Arial" pitchFamily="34" charset="-120"/>
              </a:rPr>
              <a:t>Biomass</a:t>
            </a:r>
            <a:endParaRPr lang="en-US" sz="2400" dirty="0"/>
          </a:p>
        </p:txBody>
      </p:sp>
      <p:sp>
        <p:nvSpPr>
          <p:cNvPr id="7" name="Text 5"/>
          <p:cNvSpPr/>
          <p:nvPr/>
        </p:nvSpPr>
        <p:spPr>
          <a:xfrm>
            <a:off x="822960" y="3246120"/>
            <a:ext cx="3017520" cy="731520"/>
          </a:xfrm>
          <a:prstGeom prst="rect">
            <a:avLst/>
          </a:prstGeom>
          <a:noFill/>
          <a:ln/>
        </p:spPr>
        <p:txBody>
          <a:bodyPr wrap="square" rtlCol="0" anchor="t"/>
          <a:lstStyle/>
          <a:p>
            <a:pPr algn="ctr" indent="0" marL="0">
              <a:buNone/>
            </a:pPr>
            <a:r>
              <a:rPr lang="en-US" sz="1500" dirty="0">
                <a:solidFill>
                  <a:srgbClr val="3D4757"/>
                </a:solidFill>
                <a:latin typeface="Arial" pitchFamily="34" charset="0"/>
                <a:ea typeface="Arial" pitchFamily="34" charset="-122"/>
                <a:cs typeface="Arial" pitchFamily="34" charset="-120"/>
              </a:rPr>
              <a:t>wood, husk, residue</a:t>
            </a:r>
            <a:endParaRPr lang="en-US" sz="1500" dirty="0"/>
          </a:p>
        </p:txBody>
      </p:sp>
      <p:sp>
        <p:nvSpPr>
          <p:cNvPr id="8" name="Text 6"/>
          <p:cNvSpPr/>
          <p:nvPr/>
        </p:nvSpPr>
        <p:spPr>
          <a:xfrm>
            <a:off x="3840480" y="2926080"/>
            <a:ext cx="731520" cy="640080"/>
          </a:xfrm>
          <a:prstGeom prst="rect">
            <a:avLst/>
          </a:prstGeom>
          <a:noFill/>
          <a:ln/>
        </p:spPr>
        <p:txBody>
          <a:bodyPr wrap="square" rtlCol="0" anchor="ctr"/>
          <a:lstStyle/>
          <a:p>
            <a:pPr algn="ctr" indent="0" marL="0">
              <a:buNone/>
            </a:pPr>
            <a:r>
              <a:rPr lang="en-US" sz="3600" dirty="0">
                <a:solidFill>
                  <a:srgbClr val="2B6CD4"/>
                </a:solidFill>
                <a:latin typeface="Arial" pitchFamily="34" charset="0"/>
                <a:ea typeface="Arial" pitchFamily="34" charset="-122"/>
                <a:cs typeface="Arial" pitchFamily="34" charset="-120"/>
              </a:rPr>
              <a:t>→</a:t>
            </a:r>
            <a:endParaRPr lang="en-US" sz="3600" dirty="0"/>
          </a:p>
        </p:txBody>
      </p:sp>
      <p:sp>
        <p:nvSpPr>
          <p:cNvPr id="9" name="Shape 7"/>
          <p:cNvSpPr/>
          <p:nvPr/>
        </p:nvSpPr>
        <p:spPr>
          <a:xfrm>
            <a:off x="4572000" y="2514600"/>
            <a:ext cx="3017520" cy="1554480"/>
          </a:xfrm>
          <a:prstGeom prst="roundRect">
            <a:avLst>
              <a:gd name="adj" fmla="val 8824"/>
            </a:avLst>
          </a:prstGeom>
          <a:solidFill>
            <a:srgbClr val="F3F6F9"/>
          </a:solidFill>
          <a:ln w="12700">
            <a:solidFill>
              <a:srgbClr val="DCE2E8"/>
            </a:solidFill>
            <a:prstDash val="solid"/>
          </a:ln>
        </p:spPr>
      </p:sp>
      <p:sp>
        <p:nvSpPr>
          <p:cNvPr id="10" name="Text 8"/>
          <p:cNvSpPr/>
          <p:nvPr/>
        </p:nvSpPr>
        <p:spPr>
          <a:xfrm>
            <a:off x="4572000" y="2697480"/>
            <a:ext cx="3017520" cy="548640"/>
          </a:xfrm>
          <a:prstGeom prst="rect">
            <a:avLst/>
          </a:prstGeom>
          <a:noFill/>
          <a:ln/>
        </p:spPr>
        <p:txBody>
          <a:bodyPr wrap="square" rtlCol="0" anchor="ctr"/>
          <a:lstStyle/>
          <a:p>
            <a:pPr algn="ctr" indent="0" marL="0">
              <a:buNone/>
            </a:pPr>
            <a:r>
              <a:rPr lang="en-US" sz="2400" b="1" dirty="0">
                <a:solidFill>
                  <a:srgbClr val="1A2230"/>
                </a:solidFill>
                <a:latin typeface="Arial" pitchFamily="34" charset="0"/>
                <a:ea typeface="Arial" pitchFamily="34" charset="-122"/>
                <a:cs typeface="Arial" pitchFamily="34" charset="-120"/>
              </a:rPr>
              <a:t>Pyrolysis</a:t>
            </a:r>
            <a:endParaRPr lang="en-US" sz="2400" dirty="0"/>
          </a:p>
        </p:txBody>
      </p:sp>
      <p:sp>
        <p:nvSpPr>
          <p:cNvPr id="11" name="Text 9"/>
          <p:cNvSpPr/>
          <p:nvPr/>
        </p:nvSpPr>
        <p:spPr>
          <a:xfrm>
            <a:off x="4572000" y="3246120"/>
            <a:ext cx="3017520" cy="731520"/>
          </a:xfrm>
          <a:prstGeom prst="rect">
            <a:avLst/>
          </a:prstGeom>
          <a:noFill/>
          <a:ln/>
        </p:spPr>
        <p:txBody>
          <a:bodyPr wrap="square" rtlCol="0" anchor="t"/>
          <a:lstStyle/>
          <a:p>
            <a:pPr algn="ctr" indent="0" marL="0">
              <a:buNone/>
            </a:pPr>
            <a:r>
              <a:rPr lang="en-US" sz="1500" dirty="0">
                <a:solidFill>
                  <a:srgbClr val="3D4757"/>
                </a:solidFill>
                <a:latin typeface="Arial" pitchFamily="34" charset="0"/>
                <a:ea typeface="Arial" pitchFamily="34" charset="-122"/>
                <a:cs typeface="Arial" pitchFamily="34" charset="-120"/>
              </a:rPr>
              <a:t>heat to 400–600 °C</a:t>
            </a:r>
            <a:endParaRPr lang="en-US" sz="1500" dirty="0"/>
          </a:p>
          <a:p>
            <a:pPr algn="ctr" indent="0" marL="0">
              <a:buNone/>
            </a:pPr>
            <a:r>
              <a:rPr lang="en-US" sz="1500" dirty="0">
                <a:solidFill>
                  <a:srgbClr val="3D4757"/>
                </a:solidFill>
                <a:latin typeface="Arial" pitchFamily="34" charset="0"/>
                <a:ea typeface="Arial" pitchFamily="34" charset="-122"/>
                <a:cs typeface="Arial" pitchFamily="34" charset="-120"/>
              </a:rPr>
              <a:t>without air</a:t>
            </a:r>
            <a:endParaRPr lang="en-US" sz="1500" dirty="0"/>
          </a:p>
        </p:txBody>
      </p:sp>
      <p:sp>
        <p:nvSpPr>
          <p:cNvPr id="12" name="Text 10"/>
          <p:cNvSpPr/>
          <p:nvPr/>
        </p:nvSpPr>
        <p:spPr>
          <a:xfrm>
            <a:off x="7589520" y="2926080"/>
            <a:ext cx="731520" cy="640080"/>
          </a:xfrm>
          <a:prstGeom prst="rect">
            <a:avLst/>
          </a:prstGeom>
          <a:noFill/>
          <a:ln/>
        </p:spPr>
        <p:txBody>
          <a:bodyPr wrap="square" rtlCol="0" anchor="ctr"/>
          <a:lstStyle/>
          <a:p>
            <a:pPr algn="ctr" indent="0" marL="0">
              <a:buNone/>
            </a:pPr>
            <a:r>
              <a:rPr lang="en-US" sz="3600" dirty="0">
                <a:solidFill>
                  <a:srgbClr val="2B6CD4"/>
                </a:solidFill>
                <a:latin typeface="Arial" pitchFamily="34" charset="0"/>
                <a:ea typeface="Arial" pitchFamily="34" charset="-122"/>
                <a:cs typeface="Arial" pitchFamily="34" charset="-120"/>
              </a:rPr>
              <a:t>→</a:t>
            </a:r>
            <a:endParaRPr lang="en-US" sz="3600" dirty="0"/>
          </a:p>
        </p:txBody>
      </p:sp>
      <p:sp>
        <p:nvSpPr>
          <p:cNvPr id="13" name="Shape 11"/>
          <p:cNvSpPr/>
          <p:nvPr/>
        </p:nvSpPr>
        <p:spPr>
          <a:xfrm>
            <a:off x="8321040" y="2514600"/>
            <a:ext cx="3017520" cy="1554480"/>
          </a:xfrm>
          <a:prstGeom prst="roundRect">
            <a:avLst>
              <a:gd name="adj" fmla="val 8824"/>
            </a:avLst>
          </a:prstGeom>
          <a:solidFill>
            <a:srgbClr val="F3F6F9"/>
          </a:solidFill>
          <a:ln w="12700">
            <a:solidFill>
              <a:srgbClr val="DCE2E8"/>
            </a:solidFill>
            <a:prstDash val="solid"/>
          </a:ln>
        </p:spPr>
      </p:sp>
      <p:sp>
        <p:nvSpPr>
          <p:cNvPr id="14" name="Text 12"/>
          <p:cNvSpPr/>
          <p:nvPr/>
        </p:nvSpPr>
        <p:spPr>
          <a:xfrm>
            <a:off x="8321040" y="2697480"/>
            <a:ext cx="3017520" cy="548640"/>
          </a:xfrm>
          <a:prstGeom prst="rect">
            <a:avLst/>
          </a:prstGeom>
          <a:noFill/>
          <a:ln/>
        </p:spPr>
        <p:txBody>
          <a:bodyPr wrap="square" rtlCol="0" anchor="ctr"/>
          <a:lstStyle/>
          <a:p>
            <a:pPr algn="ctr" indent="0" marL="0">
              <a:buNone/>
            </a:pPr>
            <a:r>
              <a:rPr lang="en-US" sz="2400" b="1" dirty="0">
                <a:solidFill>
                  <a:srgbClr val="1A2230"/>
                </a:solidFill>
                <a:latin typeface="Arial" pitchFamily="34" charset="0"/>
                <a:ea typeface="Arial" pitchFamily="34" charset="-122"/>
                <a:cs typeface="Arial" pitchFamily="34" charset="-120"/>
              </a:rPr>
              <a:t>Bio-oil</a:t>
            </a:r>
            <a:endParaRPr lang="en-US" sz="2400" dirty="0"/>
          </a:p>
        </p:txBody>
      </p:sp>
      <p:sp>
        <p:nvSpPr>
          <p:cNvPr id="15" name="Text 13"/>
          <p:cNvSpPr/>
          <p:nvPr/>
        </p:nvSpPr>
        <p:spPr>
          <a:xfrm>
            <a:off x="8321040" y="3246120"/>
            <a:ext cx="3017520" cy="731520"/>
          </a:xfrm>
          <a:prstGeom prst="rect">
            <a:avLst/>
          </a:prstGeom>
          <a:noFill/>
          <a:ln/>
        </p:spPr>
        <p:txBody>
          <a:bodyPr wrap="square" rtlCol="0" anchor="t"/>
          <a:lstStyle/>
          <a:p>
            <a:pPr algn="ctr" indent="0" marL="0">
              <a:buNone/>
            </a:pPr>
            <a:r>
              <a:rPr lang="en-US" sz="1500" dirty="0">
                <a:solidFill>
                  <a:srgbClr val="3D4757"/>
                </a:solidFill>
                <a:latin typeface="Arial" pitchFamily="34" charset="0"/>
                <a:ea typeface="Arial" pitchFamily="34" charset="-122"/>
                <a:cs typeface="Arial" pitchFamily="34" charset="-120"/>
              </a:rPr>
              <a:t>plus char and gas</a:t>
            </a:r>
            <a:endParaRPr lang="en-US" sz="1500" dirty="0"/>
          </a:p>
        </p:txBody>
      </p:sp>
      <p:sp>
        <p:nvSpPr>
          <p:cNvPr id="16" name="Shape 14"/>
          <p:cNvSpPr/>
          <p:nvPr/>
        </p:nvSpPr>
        <p:spPr>
          <a:xfrm>
            <a:off x="822960" y="4617720"/>
            <a:ext cx="10515600" cy="1097280"/>
          </a:xfrm>
          <a:prstGeom prst="roundRect">
            <a:avLst>
              <a:gd name="adj" fmla="val 12500"/>
            </a:avLst>
          </a:prstGeom>
          <a:solidFill>
            <a:srgbClr val="EAF1FC"/>
          </a:solidFill>
          <a:ln w="12700">
            <a:solidFill>
              <a:srgbClr val="EAF1FC"/>
            </a:solidFill>
            <a:prstDash val="solid"/>
          </a:ln>
        </p:spPr>
      </p:sp>
      <p:sp>
        <p:nvSpPr>
          <p:cNvPr id="17" name="Text 15"/>
          <p:cNvSpPr/>
          <p:nvPr/>
        </p:nvSpPr>
        <p:spPr>
          <a:xfrm>
            <a:off x="1097280" y="4709160"/>
            <a:ext cx="10058400" cy="914400"/>
          </a:xfrm>
          <a:prstGeom prst="rect">
            <a:avLst/>
          </a:prstGeom>
          <a:noFill/>
          <a:ln/>
        </p:spPr>
        <p:txBody>
          <a:bodyPr wrap="square" rtlCol="0" anchor="ctr"/>
          <a:lstStyle/>
          <a:p>
            <a:pPr indent="0" marL="0">
              <a:buNone/>
            </a:pPr>
            <a:r>
              <a:rPr lang="en-US" sz="1900" b="1" dirty="0">
                <a:solidFill>
                  <a:srgbClr val="2B6CD4"/>
                </a:solidFill>
                <a:latin typeface="Arial" pitchFamily="34" charset="0"/>
                <a:ea typeface="Arial" pitchFamily="34" charset="-122"/>
                <a:cs typeface="Arial" pitchFamily="34" charset="-120"/>
              </a:rPr>
              <a:t>Our question:  </a:t>
            </a:r>
            <a:pPr indent="0" marL="0">
              <a:buNone/>
            </a:pPr>
            <a:r>
              <a:rPr lang="en-US" sz="1900" dirty="0">
                <a:solidFill>
                  <a:srgbClr val="1A2230"/>
                </a:solidFill>
                <a:latin typeface="Arial" pitchFamily="34" charset="0"/>
                <a:ea typeface="Arial" pitchFamily="34" charset="-122"/>
                <a:cs typeface="Arial" pitchFamily="34" charset="-120"/>
              </a:rPr>
              <a:t>Which temperature and heating rate give the most oil with the least oxygen, for a given biomass?</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rtlCol="0" anchor="ctr"/>
          <a:lstStyle/>
          <a:p>
            <a:pPr indent="0" marL="0">
              <a:buNone/>
            </a:pPr>
            <a:r>
              <a:rPr lang="en-US" sz="1300" b="1" spc="200" kern="0" dirty="0">
                <a:solidFill>
                  <a:srgbClr val="2B6CD4"/>
                </a:solidFill>
                <a:latin typeface="Arial" pitchFamily="34" charset="0"/>
                <a:ea typeface="Arial" pitchFamily="34" charset="-122"/>
                <a:cs typeface="Arial" pitchFamily="34" charset="-120"/>
              </a:rPr>
              <a:t>OUR APPROACH</a:t>
            </a:r>
            <a:endParaRPr lang="en-US" sz="1300" dirty="0"/>
          </a:p>
        </p:txBody>
      </p:sp>
      <p:sp>
        <p:nvSpPr>
          <p:cNvPr id="3" name="Text 1"/>
          <p:cNvSpPr/>
          <p:nvPr/>
        </p:nvSpPr>
        <p:spPr>
          <a:xfrm>
            <a:off x="548640" y="731520"/>
            <a:ext cx="11064240" cy="777240"/>
          </a:xfrm>
          <a:prstGeom prst="rect">
            <a:avLst/>
          </a:prstGeom>
          <a:noFill/>
          <a:ln/>
        </p:spPr>
        <p:txBody>
          <a:bodyPr wrap="square" rtlCol="0" anchor="t"/>
          <a:lstStyle/>
          <a:p>
            <a:pPr indent="0" marL="0">
              <a:buNone/>
            </a:pPr>
            <a:r>
              <a:rPr lang="en-US" sz="3200" b="1" dirty="0">
                <a:solidFill>
                  <a:srgbClr val="1A2230"/>
                </a:solidFill>
                <a:latin typeface="Arial" pitchFamily="34" charset="0"/>
                <a:ea typeface="Arial" pitchFamily="34" charset="-122"/>
                <a:cs typeface="Arial" pitchFamily="34" charset="-120"/>
              </a:rPr>
              <a:t>Three steps: data → models → advice</a:t>
            </a:r>
            <a:endParaRPr lang="en-US" sz="3200" dirty="0"/>
          </a:p>
        </p:txBody>
      </p:sp>
      <p:sp>
        <p:nvSpPr>
          <p:cNvPr id="4" name="Shape 2"/>
          <p:cNvSpPr/>
          <p:nvPr/>
        </p:nvSpPr>
        <p:spPr>
          <a:xfrm>
            <a:off x="548640" y="1828800"/>
            <a:ext cx="3520440" cy="3931920"/>
          </a:xfrm>
          <a:prstGeom prst="roundRect">
            <a:avLst>
              <a:gd name="adj" fmla="val 3896"/>
            </a:avLst>
          </a:prstGeom>
          <a:solidFill>
            <a:srgbClr val="F3F6F9"/>
          </a:solidFill>
          <a:ln w="12700">
            <a:solidFill>
              <a:srgbClr val="DCE2E8"/>
            </a:solidFill>
            <a:prstDash val="solid"/>
          </a:ln>
        </p:spPr>
      </p:sp>
      <p:sp>
        <p:nvSpPr>
          <p:cNvPr id="5" name="Shape 3"/>
          <p:cNvSpPr/>
          <p:nvPr/>
        </p:nvSpPr>
        <p:spPr>
          <a:xfrm>
            <a:off x="868680" y="2103120"/>
            <a:ext cx="731520" cy="731520"/>
          </a:xfrm>
          <a:prstGeom prst="ellipse">
            <a:avLst/>
          </a:prstGeom>
          <a:solidFill>
            <a:srgbClr val="2B6CD4"/>
          </a:solidFill>
          <a:ln w="12700">
            <a:solidFill>
              <a:srgbClr val="2B6CD4"/>
            </a:solidFill>
            <a:prstDash val="solid"/>
          </a:ln>
        </p:spPr>
      </p:sp>
      <p:sp>
        <p:nvSpPr>
          <p:cNvPr id="6" name="Text 4"/>
          <p:cNvSpPr/>
          <p:nvPr/>
        </p:nvSpPr>
        <p:spPr>
          <a:xfrm>
            <a:off x="868680" y="2103120"/>
            <a:ext cx="731520" cy="731520"/>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7" name="Text 5"/>
          <p:cNvSpPr/>
          <p:nvPr/>
        </p:nvSpPr>
        <p:spPr>
          <a:xfrm>
            <a:off x="868680" y="3063240"/>
            <a:ext cx="2926080" cy="548640"/>
          </a:xfrm>
          <a:prstGeom prst="rect">
            <a:avLst/>
          </a:prstGeom>
          <a:noFill/>
          <a:ln/>
        </p:spPr>
        <p:txBody>
          <a:bodyPr wrap="square" rtlCol="0" anchor="ctr"/>
          <a:lstStyle/>
          <a:p>
            <a:pPr indent="0" marL="0">
              <a:buNone/>
            </a:pPr>
            <a:r>
              <a:rPr lang="en-US" sz="2200" b="1" dirty="0">
                <a:solidFill>
                  <a:srgbClr val="1A2230"/>
                </a:solidFill>
                <a:latin typeface="Arial" pitchFamily="34" charset="0"/>
                <a:ea typeface="Arial" pitchFamily="34" charset="-122"/>
                <a:cs typeface="Arial" pitchFamily="34" charset="-120"/>
              </a:rPr>
              <a:t>Data</a:t>
            </a:r>
            <a:endParaRPr lang="en-US" sz="2200" dirty="0"/>
          </a:p>
        </p:txBody>
      </p:sp>
      <p:sp>
        <p:nvSpPr>
          <p:cNvPr id="8" name="Text 6"/>
          <p:cNvSpPr/>
          <p:nvPr/>
        </p:nvSpPr>
        <p:spPr>
          <a:xfrm>
            <a:off x="868680" y="3611880"/>
            <a:ext cx="2926080" cy="457200"/>
          </a:xfrm>
          <a:prstGeom prst="rect">
            <a:avLst/>
          </a:prstGeom>
          <a:noFill/>
          <a:ln/>
        </p:spPr>
        <p:txBody>
          <a:bodyPr wrap="square" rtlCol="0" anchor="ctr"/>
          <a:lstStyle/>
          <a:p>
            <a:pPr indent="0" marL="0">
              <a:buNone/>
            </a:pPr>
            <a:r>
              <a:rPr lang="en-US" sz="1500" b="1" dirty="0">
                <a:solidFill>
                  <a:srgbClr val="2B6CD4"/>
                </a:solidFill>
                <a:latin typeface="Arial" pitchFamily="34" charset="0"/>
                <a:ea typeface="Arial" pitchFamily="34" charset="-122"/>
                <a:cs typeface="Arial" pitchFamily="34" charset="-120"/>
              </a:rPr>
              <a:t>2 published datasets</a:t>
            </a:r>
            <a:endParaRPr lang="en-US" sz="1500" dirty="0"/>
          </a:p>
        </p:txBody>
      </p:sp>
      <p:sp>
        <p:nvSpPr>
          <p:cNvPr id="9" name="Text 7"/>
          <p:cNvSpPr/>
          <p:nvPr/>
        </p:nvSpPr>
        <p:spPr>
          <a:xfrm>
            <a:off x="868680" y="4114800"/>
            <a:ext cx="2926080" cy="1463040"/>
          </a:xfrm>
          <a:prstGeom prst="rect">
            <a:avLst/>
          </a:prstGeom>
          <a:noFill/>
          <a:ln/>
        </p:spPr>
        <p:txBody>
          <a:bodyPr wrap="square" rtlCol="0" anchor="t"/>
          <a:lstStyle/>
          <a:p>
            <a:pPr indent="0" marL="0">
              <a:buNone/>
            </a:pPr>
            <a:r>
              <a:rPr lang="en-US" sz="1500" dirty="0">
                <a:solidFill>
                  <a:srgbClr val="3D4757"/>
                </a:solidFill>
                <a:latin typeface="Arial" pitchFamily="34" charset="0"/>
                <a:ea typeface="Arial" pitchFamily="34" charset="-122"/>
                <a:cs typeface="Arial" pitchFamily="34" charset="-120"/>
              </a:rPr>
              <a:t>~1,270 pyrolysis experiments from the literature (Zhang 2022, Pascarella 2025)</a:t>
            </a:r>
            <a:endParaRPr lang="en-US" sz="1500" dirty="0"/>
          </a:p>
        </p:txBody>
      </p:sp>
      <p:sp>
        <p:nvSpPr>
          <p:cNvPr id="10" name="Shape 8"/>
          <p:cNvSpPr/>
          <p:nvPr/>
        </p:nvSpPr>
        <p:spPr>
          <a:xfrm>
            <a:off x="4343400" y="1828800"/>
            <a:ext cx="3520440" cy="3931920"/>
          </a:xfrm>
          <a:prstGeom prst="roundRect">
            <a:avLst>
              <a:gd name="adj" fmla="val 3896"/>
            </a:avLst>
          </a:prstGeom>
          <a:solidFill>
            <a:srgbClr val="F3F6F9"/>
          </a:solidFill>
          <a:ln w="12700">
            <a:solidFill>
              <a:srgbClr val="DCE2E8"/>
            </a:solidFill>
            <a:prstDash val="solid"/>
          </a:ln>
        </p:spPr>
      </p:sp>
      <p:sp>
        <p:nvSpPr>
          <p:cNvPr id="11" name="Shape 9"/>
          <p:cNvSpPr/>
          <p:nvPr/>
        </p:nvSpPr>
        <p:spPr>
          <a:xfrm>
            <a:off x="4663440" y="2103120"/>
            <a:ext cx="731520" cy="731520"/>
          </a:xfrm>
          <a:prstGeom prst="ellipse">
            <a:avLst/>
          </a:prstGeom>
          <a:solidFill>
            <a:srgbClr val="2B6CD4"/>
          </a:solidFill>
          <a:ln w="12700">
            <a:solidFill>
              <a:srgbClr val="2B6CD4"/>
            </a:solidFill>
            <a:prstDash val="solid"/>
          </a:ln>
        </p:spPr>
      </p:sp>
      <p:sp>
        <p:nvSpPr>
          <p:cNvPr id="12" name="Text 10"/>
          <p:cNvSpPr/>
          <p:nvPr/>
        </p:nvSpPr>
        <p:spPr>
          <a:xfrm>
            <a:off x="4663440" y="2103120"/>
            <a:ext cx="731520" cy="731520"/>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13" name="Text 11"/>
          <p:cNvSpPr/>
          <p:nvPr/>
        </p:nvSpPr>
        <p:spPr>
          <a:xfrm>
            <a:off x="4663440" y="3063240"/>
            <a:ext cx="2926080" cy="548640"/>
          </a:xfrm>
          <a:prstGeom prst="rect">
            <a:avLst/>
          </a:prstGeom>
          <a:noFill/>
          <a:ln/>
        </p:spPr>
        <p:txBody>
          <a:bodyPr wrap="square" rtlCol="0" anchor="ctr"/>
          <a:lstStyle/>
          <a:p>
            <a:pPr indent="0" marL="0">
              <a:buNone/>
            </a:pPr>
            <a:r>
              <a:rPr lang="en-US" sz="2200" b="1" dirty="0">
                <a:solidFill>
                  <a:srgbClr val="1A2230"/>
                </a:solidFill>
                <a:latin typeface="Arial" pitchFamily="34" charset="0"/>
                <a:ea typeface="Arial" pitchFamily="34" charset="-122"/>
                <a:cs typeface="Arial" pitchFamily="34" charset="-120"/>
              </a:rPr>
              <a:t>Physics + ML</a:t>
            </a:r>
            <a:endParaRPr lang="en-US" sz="2200" dirty="0"/>
          </a:p>
        </p:txBody>
      </p:sp>
      <p:sp>
        <p:nvSpPr>
          <p:cNvPr id="14" name="Text 12"/>
          <p:cNvSpPr/>
          <p:nvPr/>
        </p:nvSpPr>
        <p:spPr>
          <a:xfrm>
            <a:off x="4663440" y="3611880"/>
            <a:ext cx="2926080" cy="457200"/>
          </a:xfrm>
          <a:prstGeom prst="rect">
            <a:avLst/>
          </a:prstGeom>
          <a:noFill/>
          <a:ln/>
        </p:spPr>
        <p:txBody>
          <a:bodyPr wrap="square" rtlCol="0" anchor="ctr"/>
          <a:lstStyle/>
          <a:p>
            <a:pPr indent="0" marL="0">
              <a:buNone/>
            </a:pPr>
            <a:r>
              <a:rPr lang="en-US" sz="1500" b="1" dirty="0">
                <a:solidFill>
                  <a:srgbClr val="2B6CD4"/>
                </a:solidFill>
                <a:latin typeface="Arial" pitchFamily="34" charset="0"/>
                <a:ea typeface="Arial" pitchFamily="34" charset="-122"/>
                <a:cs typeface="Arial" pitchFamily="34" charset="-120"/>
              </a:rPr>
              <a:t>Predict oil yield and oxygen (O/C)</a:t>
            </a:r>
            <a:endParaRPr lang="en-US" sz="1500" dirty="0"/>
          </a:p>
        </p:txBody>
      </p:sp>
      <p:sp>
        <p:nvSpPr>
          <p:cNvPr id="15" name="Text 13"/>
          <p:cNvSpPr/>
          <p:nvPr/>
        </p:nvSpPr>
        <p:spPr>
          <a:xfrm>
            <a:off x="4663440" y="4114800"/>
            <a:ext cx="2926080" cy="1463040"/>
          </a:xfrm>
          <a:prstGeom prst="rect">
            <a:avLst/>
          </a:prstGeom>
          <a:noFill/>
          <a:ln/>
        </p:spPr>
        <p:txBody>
          <a:bodyPr wrap="square" rtlCol="0" anchor="t"/>
          <a:lstStyle/>
          <a:p>
            <a:pPr indent="0" marL="0">
              <a:buNone/>
            </a:pPr>
            <a:r>
              <a:rPr lang="en-US" sz="1500" dirty="0">
                <a:solidFill>
                  <a:srgbClr val="3D4757"/>
                </a:solidFill>
                <a:latin typeface="Arial" pitchFamily="34" charset="0"/>
                <a:ea typeface="Arial" pitchFamily="34" charset="-122"/>
                <a:cs typeface="Arial" pitchFamily="34" charset="-120"/>
              </a:rPr>
              <a:t>Reaction-kinetics features feed XGBoost and Gaussian-process models</a:t>
            </a:r>
            <a:endParaRPr lang="en-US" sz="1500" dirty="0"/>
          </a:p>
        </p:txBody>
      </p:sp>
      <p:sp>
        <p:nvSpPr>
          <p:cNvPr id="16" name="Shape 14"/>
          <p:cNvSpPr/>
          <p:nvPr/>
        </p:nvSpPr>
        <p:spPr>
          <a:xfrm>
            <a:off x="8138160" y="1828800"/>
            <a:ext cx="3520440" cy="3931920"/>
          </a:xfrm>
          <a:prstGeom prst="roundRect">
            <a:avLst>
              <a:gd name="adj" fmla="val 3896"/>
            </a:avLst>
          </a:prstGeom>
          <a:solidFill>
            <a:srgbClr val="F3F6F9"/>
          </a:solidFill>
          <a:ln w="12700">
            <a:solidFill>
              <a:srgbClr val="DCE2E8"/>
            </a:solidFill>
            <a:prstDash val="solid"/>
          </a:ln>
        </p:spPr>
      </p:sp>
      <p:sp>
        <p:nvSpPr>
          <p:cNvPr id="17" name="Shape 15"/>
          <p:cNvSpPr/>
          <p:nvPr/>
        </p:nvSpPr>
        <p:spPr>
          <a:xfrm>
            <a:off x="8458200" y="2103120"/>
            <a:ext cx="731520" cy="731520"/>
          </a:xfrm>
          <a:prstGeom prst="ellipse">
            <a:avLst/>
          </a:prstGeom>
          <a:solidFill>
            <a:srgbClr val="2B6CD4"/>
          </a:solidFill>
          <a:ln w="12700">
            <a:solidFill>
              <a:srgbClr val="2B6CD4"/>
            </a:solidFill>
            <a:prstDash val="solid"/>
          </a:ln>
        </p:spPr>
      </p:sp>
      <p:sp>
        <p:nvSpPr>
          <p:cNvPr id="18" name="Text 16"/>
          <p:cNvSpPr/>
          <p:nvPr/>
        </p:nvSpPr>
        <p:spPr>
          <a:xfrm>
            <a:off x="8458200" y="2103120"/>
            <a:ext cx="731520" cy="731520"/>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19" name="Text 17"/>
          <p:cNvSpPr/>
          <p:nvPr/>
        </p:nvSpPr>
        <p:spPr>
          <a:xfrm>
            <a:off x="8458200" y="3063240"/>
            <a:ext cx="2926080" cy="548640"/>
          </a:xfrm>
          <a:prstGeom prst="rect">
            <a:avLst/>
          </a:prstGeom>
          <a:noFill/>
          <a:ln/>
        </p:spPr>
        <p:txBody>
          <a:bodyPr wrap="square" rtlCol="0" anchor="ctr"/>
          <a:lstStyle/>
          <a:p>
            <a:pPr indent="0" marL="0">
              <a:buNone/>
            </a:pPr>
            <a:r>
              <a:rPr lang="en-US" sz="2200" b="1" dirty="0">
                <a:solidFill>
                  <a:srgbClr val="1A2230"/>
                </a:solidFill>
                <a:latin typeface="Arial" pitchFamily="34" charset="0"/>
                <a:ea typeface="Arial" pitchFamily="34" charset="-122"/>
                <a:cs typeface="Arial" pitchFamily="34" charset="-120"/>
              </a:rPr>
              <a:t>Pyrolysis Advisor</a:t>
            </a:r>
            <a:endParaRPr lang="en-US" sz="2200" dirty="0"/>
          </a:p>
        </p:txBody>
      </p:sp>
      <p:sp>
        <p:nvSpPr>
          <p:cNvPr id="20" name="Text 18"/>
          <p:cNvSpPr/>
          <p:nvPr/>
        </p:nvSpPr>
        <p:spPr>
          <a:xfrm>
            <a:off x="8458200" y="3611880"/>
            <a:ext cx="2926080" cy="457200"/>
          </a:xfrm>
          <a:prstGeom prst="rect">
            <a:avLst/>
          </a:prstGeom>
          <a:noFill/>
          <a:ln/>
        </p:spPr>
        <p:txBody>
          <a:bodyPr wrap="square" rtlCol="0" anchor="ctr"/>
          <a:lstStyle/>
          <a:p>
            <a:pPr indent="0" marL="0">
              <a:buNone/>
            </a:pPr>
            <a:r>
              <a:rPr lang="en-US" sz="1500" b="1" dirty="0">
                <a:solidFill>
                  <a:srgbClr val="2B6CD4"/>
                </a:solidFill>
                <a:latin typeface="Arial" pitchFamily="34" charset="0"/>
                <a:ea typeface="Arial" pitchFamily="34" charset="-122"/>
                <a:cs typeface="Arial" pitchFamily="34" charset="-120"/>
              </a:rPr>
              <a:t>Recommends conditions</a:t>
            </a:r>
            <a:endParaRPr lang="en-US" sz="1500" dirty="0"/>
          </a:p>
        </p:txBody>
      </p:sp>
      <p:sp>
        <p:nvSpPr>
          <p:cNvPr id="21" name="Text 19"/>
          <p:cNvSpPr/>
          <p:nvPr/>
        </p:nvSpPr>
        <p:spPr>
          <a:xfrm>
            <a:off x="8458200" y="4114800"/>
            <a:ext cx="2926080" cy="1463040"/>
          </a:xfrm>
          <a:prstGeom prst="rect">
            <a:avLst/>
          </a:prstGeom>
          <a:noFill/>
          <a:ln/>
        </p:spPr>
        <p:txBody>
          <a:bodyPr wrap="square" rtlCol="0" anchor="t"/>
          <a:lstStyle/>
          <a:p>
            <a:pPr indent="0" marL="0">
              <a:buNone/>
            </a:pPr>
            <a:r>
              <a:rPr lang="en-US" sz="1500" dirty="0">
                <a:solidFill>
                  <a:srgbClr val="3D4757"/>
                </a:solidFill>
                <a:latin typeface="Arial" pitchFamily="34" charset="0"/>
                <a:ea typeface="Arial" pitchFamily="34" charset="-122"/>
                <a:cs typeface="Arial" pitchFamily="34" charset="-120"/>
              </a:rPr>
              <a:t>Suggests temperature and heating rate, and shows the yield vs oxygen trade-off</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rtlCol="0" anchor="ctr"/>
          <a:lstStyle/>
          <a:p>
            <a:pPr indent="0" marL="0">
              <a:buNone/>
            </a:pPr>
            <a:r>
              <a:rPr lang="en-US" sz="1300" b="1" spc="200" kern="0" dirty="0">
                <a:solidFill>
                  <a:srgbClr val="2B6CD4"/>
                </a:solidFill>
                <a:latin typeface="Arial" pitchFamily="34" charset="0"/>
                <a:ea typeface="Arial" pitchFamily="34" charset="-122"/>
                <a:cs typeface="Arial" pitchFamily="34" charset="-120"/>
              </a:rPr>
              <a:t>RESULT 1 · ACCURACY</a:t>
            </a:r>
            <a:endParaRPr lang="en-US" sz="1300" dirty="0"/>
          </a:p>
        </p:txBody>
      </p:sp>
      <p:sp>
        <p:nvSpPr>
          <p:cNvPr id="3" name="Text 1"/>
          <p:cNvSpPr/>
          <p:nvPr/>
        </p:nvSpPr>
        <p:spPr>
          <a:xfrm>
            <a:off x="548640" y="731520"/>
            <a:ext cx="11064240" cy="777240"/>
          </a:xfrm>
          <a:prstGeom prst="rect">
            <a:avLst/>
          </a:prstGeom>
          <a:noFill/>
          <a:ln/>
        </p:spPr>
        <p:txBody>
          <a:bodyPr wrap="square" rtlCol="0" anchor="t"/>
          <a:lstStyle/>
          <a:p>
            <a:pPr indent="0" marL="0">
              <a:buNone/>
            </a:pPr>
            <a:r>
              <a:rPr lang="en-US" sz="3200" b="1" dirty="0">
                <a:solidFill>
                  <a:srgbClr val="1A2230"/>
                </a:solidFill>
                <a:latin typeface="Arial" pitchFamily="34" charset="0"/>
                <a:ea typeface="Arial" pitchFamily="34" charset="-122"/>
                <a:cs typeface="Arial" pitchFamily="34" charset="-120"/>
              </a:rPr>
              <a:t>As accurate as the published study</a:t>
            </a:r>
            <a:endParaRPr lang="en-US" sz="3200" dirty="0"/>
          </a:p>
        </p:txBody>
      </p:sp>
      <p:pic>
        <p:nvPicPr>
          <p:cNvPr id="4" name="Image 0" descr="/home/user/BioOil-Automation/pyrolysis_advisor/results/figures/C1_oc_benchmark_light.png">    </p:cNvPr>
          <p:cNvPicPr>
            <a:picLocks noChangeAspect="1"/>
          </p:cNvPicPr>
          <p:nvPr/>
        </p:nvPicPr>
        <p:blipFill>
          <a:blip r:embed="rId1"/>
          <a:stretch>
            <a:fillRect/>
          </a:stretch>
        </p:blipFill>
        <p:spPr>
          <a:xfrm>
            <a:off x="457200" y="1691640"/>
            <a:ext cx="7589520" cy="3984000"/>
          </a:xfrm>
          <a:prstGeom prst="rect">
            <a:avLst/>
          </a:prstGeom>
        </p:spPr>
      </p:pic>
      <p:sp>
        <p:nvSpPr>
          <p:cNvPr id="5" name="Shape 2"/>
          <p:cNvSpPr/>
          <p:nvPr/>
        </p:nvSpPr>
        <p:spPr>
          <a:xfrm>
            <a:off x="8412480" y="1920240"/>
            <a:ext cx="3200400" cy="1417320"/>
          </a:xfrm>
          <a:prstGeom prst="roundRect">
            <a:avLst>
              <a:gd name="adj" fmla="val 7742"/>
            </a:avLst>
          </a:prstGeom>
          <a:solidFill>
            <a:srgbClr val="F3F6F9"/>
          </a:solidFill>
          <a:ln w="12700">
            <a:solidFill>
              <a:srgbClr val="F3F6F9"/>
            </a:solidFill>
            <a:prstDash val="solid"/>
          </a:ln>
        </p:spPr>
      </p:sp>
      <p:sp>
        <p:nvSpPr>
          <p:cNvPr id="6" name="Text 3"/>
          <p:cNvSpPr/>
          <p:nvPr/>
        </p:nvSpPr>
        <p:spPr>
          <a:xfrm>
            <a:off x="8641080" y="2029968"/>
            <a:ext cx="2743200" cy="685800"/>
          </a:xfrm>
          <a:prstGeom prst="rect">
            <a:avLst/>
          </a:prstGeom>
          <a:noFill/>
          <a:ln/>
        </p:spPr>
        <p:txBody>
          <a:bodyPr wrap="square" lIns="0" tIns="0" rIns="0" bIns="0" rtlCol="0" anchor="ctr"/>
          <a:lstStyle/>
          <a:p>
            <a:pPr indent="0" marL="0">
              <a:buNone/>
            </a:pPr>
            <a:r>
              <a:rPr lang="en-US" sz="3400" b="1" dirty="0">
                <a:solidFill>
                  <a:srgbClr val="2B6CD4"/>
                </a:solidFill>
                <a:latin typeface="Arial" pitchFamily="34" charset="0"/>
                <a:ea typeface="Arial" pitchFamily="34" charset="-122"/>
                <a:cs typeface="Arial" pitchFamily="34" charset="-120"/>
              </a:rPr>
              <a:t>R² 0.90</a:t>
            </a:r>
            <a:endParaRPr lang="en-US" sz="3400" dirty="0"/>
          </a:p>
        </p:txBody>
      </p:sp>
      <p:sp>
        <p:nvSpPr>
          <p:cNvPr id="7" name="Text 4"/>
          <p:cNvSpPr/>
          <p:nvPr/>
        </p:nvSpPr>
        <p:spPr>
          <a:xfrm>
            <a:off x="8641080" y="2697480"/>
            <a:ext cx="2743200" cy="548640"/>
          </a:xfrm>
          <a:prstGeom prst="rect">
            <a:avLst/>
          </a:prstGeom>
          <a:noFill/>
          <a:ln/>
        </p:spPr>
        <p:txBody>
          <a:bodyPr wrap="square" lIns="0" tIns="0" rIns="0" bIns="0" rtlCol="0" anchor="t"/>
          <a:lstStyle/>
          <a:p>
            <a:pPr indent="0" marL="0">
              <a:buNone/>
            </a:pPr>
            <a:r>
              <a:rPr lang="en-US" sz="1300" dirty="0">
                <a:solidFill>
                  <a:srgbClr val="3D4757"/>
                </a:solidFill>
                <a:latin typeface="Arial" pitchFamily="34" charset="0"/>
                <a:ea typeface="Arial" pitchFamily="34" charset="-122"/>
                <a:cs typeface="Arial" pitchFamily="34" charset="-120"/>
              </a:rPr>
              <a:t>Our best model (XGBoost) on unseen test data</a:t>
            </a:r>
            <a:endParaRPr lang="en-US" sz="1300" dirty="0"/>
          </a:p>
        </p:txBody>
      </p:sp>
      <p:sp>
        <p:nvSpPr>
          <p:cNvPr id="8" name="Shape 5"/>
          <p:cNvSpPr/>
          <p:nvPr/>
        </p:nvSpPr>
        <p:spPr>
          <a:xfrm>
            <a:off x="8412480" y="3566160"/>
            <a:ext cx="3200400" cy="1417320"/>
          </a:xfrm>
          <a:prstGeom prst="roundRect">
            <a:avLst>
              <a:gd name="adj" fmla="val 7742"/>
            </a:avLst>
          </a:prstGeom>
          <a:solidFill>
            <a:srgbClr val="F3F6F9"/>
          </a:solidFill>
          <a:ln w="12700">
            <a:solidFill>
              <a:srgbClr val="F3F6F9"/>
            </a:solidFill>
            <a:prstDash val="solid"/>
          </a:ln>
        </p:spPr>
      </p:sp>
      <p:sp>
        <p:nvSpPr>
          <p:cNvPr id="9" name="Text 6"/>
          <p:cNvSpPr/>
          <p:nvPr/>
        </p:nvSpPr>
        <p:spPr>
          <a:xfrm>
            <a:off x="8641080" y="3675888"/>
            <a:ext cx="2743200" cy="685800"/>
          </a:xfrm>
          <a:prstGeom prst="rect">
            <a:avLst/>
          </a:prstGeom>
          <a:noFill/>
          <a:ln/>
        </p:spPr>
        <p:txBody>
          <a:bodyPr wrap="square" lIns="0" tIns="0" rIns="0" bIns="0" rtlCol="0" anchor="ctr"/>
          <a:lstStyle/>
          <a:p>
            <a:pPr indent="0" marL="0">
              <a:buNone/>
            </a:pPr>
            <a:r>
              <a:rPr lang="en-US" sz="3400" b="1" dirty="0">
                <a:solidFill>
                  <a:srgbClr val="6B7686"/>
                </a:solidFill>
                <a:latin typeface="Arial" pitchFamily="34" charset="0"/>
                <a:ea typeface="Arial" pitchFamily="34" charset="-122"/>
                <a:cs typeface="Arial" pitchFamily="34" charset="-120"/>
              </a:rPr>
              <a:t>0.895</a:t>
            </a:r>
            <a:endParaRPr lang="en-US" sz="3400" dirty="0"/>
          </a:p>
        </p:txBody>
      </p:sp>
      <p:sp>
        <p:nvSpPr>
          <p:cNvPr id="10" name="Text 7"/>
          <p:cNvSpPr/>
          <p:nvPr/>
        </p:nvSpPr>
        <p:spPr>
          <a:xfrm>
            <a:off x="8641080" y="4343400"/>
            <a:ext cx="2743200" cy="548640"/>
          </a:xfrm>
          <a:prstGeom prst="rect">
            <a:avLst/>
          </a:prstGeom>
          <a:noFill/>
          <a:ln/>
        </p:spPr>
        <p:txBody>
          <a:bodyPr wrap="square" lIns="0" tIns="0" rIns="0" bIns="0" rtlCol="0" anchor="t"/>
          <a:lstStyle/>
          <a:p>
            <a:pPr indent="0" marL="0">
              <a:buNone/>
            </a:pPr>
            <a:r>
              <a:rPr lang="en-US" sz="1300" dirty="0">
                <a:solidFill>
                  <a:srgbClr val="3D4757"/>
                </a:solidFill>
                <a:latin typeface="Arial" pitchFamily="34" charset="0"/>
                <a:ea typeface="Arial" pitchFamily="34" charset="-122"/>
                <a:cs typeface="Arial" pitchFamily="34" charset="-120"/>
              </a:rPr>
              <a:t>Published result (Zhang et al. 2022)</a:t>
            </a:r>
            <a:endParaRPr lang="en-US" sz="1300" dirty="0"/>
          </a:p>
        </p:txBody>
      </p:sp>
      <p:sp>
        <p:nvSpPr>
          <p:cNvPr id="11" name="Text 8"/>
          <p:cNvSpPr/>
          <p:nvPr/>
        </p:nvSpPr>
        <p:spPr>
          <a:xfrm>
            <a:off x="8412480" y="5166360"/>
            <a:ext cx="3200400" cy="457200"/>
          </a:xfrm>
          <a:prstGeom prst="rect">
            <a:avLst/>
          </a:prstGeom>
          <a:noFill/>
          <a:ln/>
        </p:spPr>
        <p:txBody>
          <a:bodyPr wrap="square" rtlCol="0" anchor="ctr"/>
          <a:lstStyle/>
          <a:p>
            <a:pPr indent="0" marL="0">
              <a:buNone/>
            </a:pPr>
            <a:r>
              <a:rPr lang="en-US" sz="1300" i="1" dirty="0">
                <a:solidFill>
                  <a:srgbClr val="6B7686"/>
                </a:solidFill>
                <a:latin typeface="Arial" pitchFamily="34" charset="0"/>
                <a:ea typeface="Arial" pitchFamily="34" charset="-122"/>
                <a:cs typeface="Arial" pitchFamily="34" charset="-120"/>
              </a:rPr>
              <a:t>R² = 1 means perfect prediction.</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rtlCol="0" anchor="ctr"/>
          <a:lstStyle/>
          <a:p>
            <a:pPr indent="0" marL="0">
              <a:buNone/>
            </a:pPr>
            <a:r>
              <a:rPr lang="en-US" sz="1300" b="1" spc="200" kern="0" dirty="0">
                <a:solidFill>
                  <a:srgbClr val="2B6CD4"/>
                </a:solidFill>
                <a:latin typeface="Arial" pitchFamily="34" charset="0"/>
                <a:ea typeface="Arial" pitchFamily="34" charset="-122"/>
                <a:cs typeface="Arial" pitchFamily="34" charset="-120"/>
              </a:rPr>
              <a:t>RESULT 2 · PREDICTIONS VS REALITY</a:t>
            </a:r>
            <a:endParaRPr lang="en-US" sz="1300" dirty="0"/>
          </a:p>
        </p:txBody>
      </p:sp>
      <p:sp>
        <p:nvSpPr>
          <p:cNvPr id="3" name="Text 1"/>
          <p:cNvSpPr/>
          <p:nvPr/>
        </p:nvSpPr>
        <p:spPr>
          <a:xfrm>
            <a:off x="548640" y="731520"/>
            <a:ext cx="11064240" cy="777240"/>
          </a:xfrm>
          <a:prstGeom prst="rect">
            <a:avLst/>
          </a:prstGeom>
          <a:noFill/>
          <a:ln/>
        </p:spPr>
        <p:txBody>
          <a:bodyPr wrap="square" rtlCol="0" anchor="t"/>
          <a:lstStyle/>
          <a:p>
            <a:pPr indent="0" marL="0">
              <a:buNone/>
            </a:pPr>
            <a:r>
              <a:rPr lang="en-US" sz="3200" b="1" dirty="0">
                <a:solidFill>
                  <a:srgbClr val="1A2230"/>
                </a:solidFill>
                <a:latin typeface="Arial" pitchFamily="34" charset="0"/>
                <a:ea typeface="Arial" pitchFamily="34" charset="-122"/>
                <a:cs typeface="Arial" pitchFamily="34" charset="-120"/>
              </a:rPr>
              <a:t>Predictions follow the measured values</a:t>
            </a:r>
            <a:endParaRPr lang="en-US" sz="3200" dirty="0"/>
          </a:p>
        </p:txBody>
      </p:sp>
      <p:sp>
        <p:nvSpPr>
          <p:cNvPr id="4" name="Text 2"/>
          <p:cNvSpPr/>
          <p:nvPr/>
        </p:nvSpPr>
        <p:spPr>
          <a:xfrm>
            <a:off x="548640" y="1463040"/>
            <a:ext cx="11064240" cy="457200"/>
          </a:xfrm>
          <a:prstGeom prst="rect">
            <a:avLst/>
          </a:prstGeom>
          <a:noFill/>
          <a:ln/>
        </p:spPr>
        <p:txBody>
          <a:bodyPr wrap="square" rtlCol="0" anchor="t"/>
          <a:lstStyle/>
          <a:p>
            <a:pPr indent="0" marL="0">
              <a:buNone/>
            </a:pPr>
            <a:r>
              <a:rPr lang="en-US" sz="1700" dirty="0">
                <a:solidFill>
                  <a:srgbClr val="3D4757"/>
                </a:solidFill>
                <a:latin typeface="Arial" pitchFamily="34" charset="0"/>
                <a:ea typeface="Arial" pitchFamily="34" charset="-122"/>
                <a:cs typeface="Arial" pitchFamily="34" charset="-120"/>
              </a:rPr>
              <a:t>Each dot is one experiment. Dots on the dashed line = perfect prediction.</a:t>
            </a:r>
            <a:endParaRPr lang="en-US" sz="1700" dirty="0"/>
          </a:p>
        </p:txBody>
      </p:sp>
      <p:pic>
        <p:nvPicPr>
          <p:cNvPr id="5" name="Image 0" descr="/home/user/BioOil-Automation/pyrolysis_advisor/results/figures/C2_parity_light.png">    </p:cNvPr>
          <p:cNvPicPr>
            <a:picLocks noChangeAspect="1"/>
          </p:cNvPicPr>
          <p:nvPr/>
        </p:nvPicPr>
        <p:blipFill>
          <a:blip r:embed="rId1"/>
          <a:stretch>
            <a:fillRect/>
          </a:stretch>
        </p:blipFill>
        <p:spPr>
          <a:xfrm>
            <a:off x="548640" y="2011680"/>
            <a:ext cx="7863840" cy="3430995"/>
          </a:xfrm>
          <a:prstGeom prst="rect">
            <a:avLst/>
          </a:prstGeom>
        </p:spPr>
      </p:pic>
      <p:sp>
        <p:nvSpPr>
          <p:cNvPr id="6" name="Shape 3"/>
          <p:cNvSpPr/>
          <p:nvPr/>
        </p:nvSpPr>
        <p:spPr>
          <a:xfrm>
            <a:off x="8778240" y="2103120"/>
            <a:ext cx="2834640" cy="1417320"/>
          </a:xfrm>
          <a:prstGeom prst="roundRect">
            <a:avLst>
              <a:gd name="adj" fmla="val 7742"/>
            </a:avLst>
          </a:prstGeom>
          <a:solidFill>
            <a:srgbClr val="F3F6F9"/>
          </a:solidFill>
          <a:ln w="12700">
            <a:solidFill>
              <a:srgbClr val="F3F6F9"/>
            </a:solidFill>
            <a:prstDash val="solid"/>
          </a:ln>
        </p:spPr>
      </p:sp>
      <p:sp>
        <p:nvSpPr>
          <p:cNvPr id="7" name="Text 4"/>
          <p:cNvSpPr/>
          <p:nvPr/>
        </p:nvSpPr>
        <p:spPr>
          <a:xfrm>
            <a:off x="9006840" y="2212848"/>
            <a:ext cx="2377440" cy="685800"/>
          </a:xfrm>
          <a:prstGeom prst="rect">
            <a:avLst/>
          </a:prstGeom>
          <a:noFill/>
          <a:ln/>
        </p:spPr>
        <p:txBody>
          <a:bodyPr wrap="square" lIns="0" tIns="0" rIns="0" bIns="0" rtlCol="0" anchor="ctr"/>
          <a:lstStyle/>
          <a:p>
            <a:pPr indent="0" marL="0">
              <a:buNone/>
            </a:pPr>
            <a:r>
              <a:rPr lang="en-US" sz="3400" b="1" dirty="0">
                <a:solidFill>
                  <a:srgbClr val="2B6CD4"/>
                </a:solidFill>
                <a:latin typeface="Arial" pitchFamily="34" charset="0"/>
                <a:ea typeface="Arial" pitchFamily="34" charset="-122"/>
                <a:cs typeface="Arial" pitchFamily="34" charset="-120"/>
              </a:rPr>
              <a:t>± 4 wt%</a:t>
            </a:r>
            <a:endParaRPr lang="en-US" sz="3400" dirty="0"/>
          </a:p>
        </p:txBody>
      </p:sp>
      <p:sp>
        <p:nvSpPr>
          <p:cNvPr id="8" name="Text 5"/>
          <p:cNvSpPr/>
          <p:nvPr/>
        </p:nvSpPr>
        <p:spPr>
          <a:xfrm>
            <a:off x="9006840" y="2880360"/>
            <a:ext cx="2377440" cy="548640"/>
          </a:xfrm>
          <a:prstGeom prst="rect">
            <a:avLst/>
          </a:prstGeom>
          <a:noFill/>
          <a:ln/>
        </p:spPr>
        <p:txBody>
          <a:bodyPr wrap="square" lIns="0" tIns="0" rIns="0" bIns="0" rtlCol="0" anchor="t"/>
          <a:lstStyle/>
          <a:p>
            <a:pPr indent="0" marL="0">
              <a:buNone/>
            </a:pPr>
            <a:r>
              <a:rPr lang="en-US" sz="1300" dirty="0">
                <a:solidFill>
                  <a:srgbClr val="3D4757"/>
                </a:solidFill>
                <a:latin typeface="Arial" pitchFamily="34" charset="0"/>
                <a:ea typeface="Arial" pitchFamily="34" charset="-122"/>
                <a:cs typeface="Arial" pitchFamily="34" charset="-120"/>
              </a:rPr>
              <a:t>Typical error in predicted oil yield</a:t>
            </a:r>
            <a:endParaRPr lang="en-US" sz="1300" dirty="0"/>
          </a:p>
        </p:txBody>
      </p:sp>
      <p:sp>
        <p:nvSpPr>
          <p:cNvPr id="9" name="Shape 6"/>
          <p:cNvSpPr/>
          <p:nvPr/>
        </p:nvSpPr>
        <p:spPr>
          <a:xfrm>
            <a:off x="8778240" y="3749040"/>
            <a:ext cx="2834640" cy="1417320"/>
          </a:xfrm>
          <a:prstGeom prst="roundRect">
            <a:avLst>
              <a:gd name="adj" fmla="val 7742"/>
            </a:avLst>
          </a:prstGeom>
          <a:solidFill>
            <a:srgbClr val="F3F6F9"/>
          </a:solidFill>
          <a:ln w="12700">
            <a:solidFill>
              <a:srgbClr val="F3F6F9"/>
            </a:solidFill>
            <a:prstDash val="solid"/>
          </a:ln>
        </p:spPr>
      </p:sp>
      <p:sp>
        <p:nvSpPr>
          <p:cNvPr id="10" name="Text 7"/>
          <p:cNvSpPr/>
          <p:nvPr/>
        </p:nvSpPr>
        <p:spPr>
          <a:xfrm>
            <a:off x="9006840" y="3858768"/>
            <a:ext cx="2377440" cy="685800"/>
          </a:xfrm>
          <a:prstGeom prst="rect">
            <a:avLst/>
          </a:prstGeom>
          <a:noFill/>
          <a:ln/>
        </p:spPr>
        <p:txBody>
          <a:bodyPr wrap="square" lIns="0" tIns="0" rIns="0" bIns="0" rtlCol="0" anchor="ctr"/>
          <a:lstStyle/>
          <a:p>
            <a:pPr indent="0" marL="0">
              <a:buNone/>
            </a:pPr>
            <a:r>
              <a:rPr lang="en-US" sz="3400" b="1" dirty="0">
                <a:solidFill>
                  <a:srgbClr val="2B6CD4"/>
                </a:solidFill>
                <a:latin typeface="Arial" pitchFamily="34" charset="0"/>
                <a:ea typeface="Arial" pitchFamily="34" charset="-122"/>
                <a:cs typeface="Arial" pitchFamily="34" charset="-120"/>
              </a:rPr>
              <a:t>18%</a:t>
            </a:r>
            <a:endParaRPr lang="en-US" sz="3400" dirty="0"/>
          </a:p>
        </p:txBody>
      </p:sp>
      <p:sp>
        <p:nvSpPr>
          <p:cNvPr id="11" name="Text 8"/>
          <p:cNvSpPr/>
          <p:nvPr/>
        </p:nvSpPr>
        <p:spPr>
          <a:xfrm>
            <a:off x="9006840" y="4526280"/>
            <a:ext cx="2377440" cy="548640"/>
          </a:xfrm>
          <a:prstGeom prst="rect">
            <a:avLst/>
          </a:prstGeom>
          <a:noFill/>
          <a:ln/>
        </p:spPr>
        <p:txBody>
          <a:bodyPr wrap="square" lIns="0" tIns="0" rIns="0" bIns="0" rtlCol="0" anchor="t"/>
          <a:lstStyle/>
          <a:p>
            <a:pPr indent="0" marL="0">
              <a:buNone/>
            </a:pPr>
            <a:r>
              <a:rPr lang="en-US" sz="1300" dirty="0">
                <a:solidFill>
                  <a:srgbClr val="3D4757"/>
                </a:solidFill>
                <a:latin typeface="Arial" pitchFamily="34" charset="0"/>
                <a:ea typeface="Arial" pitchFamily="34" charset="-122"/>
                <a:cs typeface="Arial" pitchFamily="34" charset="-120"/>
              </a:rPr>
              <a:t>Typical error in predicted oxygen (O/C)</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rtlCol="0" anchor="ctr"/>
          <a:lstStyle/>
          <a:p>
            <a:pPr indent="0" marL="0">
              <a:buNone/>
            </a:pPr>
            <a:r>
              <a:rPr lang="en-US" sz="1300" b="1" spc="200" kern="0" dirty="0">
                <a:solidFill>
                  <a:srgbClr val="2B6CD4"/>
                </a:solidFill>
                <a:latin typeface="Arial" pitchFamily="34" charset="0"/>
                <a:ea typeface="Arial" pitchFamily="34" charset="-122"/>
                <a:cs typeface="Arial" pitchFamily="34" charset="-120"/>
              </a:rPr>
              <a:t>RESULT 3 · PHYSICS CHECK</a:t>
            </a:r>
            <a:endParaRPr lang="en-US" sz="1300" dirty="0"/>
          </a:p>
        </p:txBody>
      </p:sp>
      <p:sp>
        <p:nvSpPr>
          <p:cNvPr id="3" name="Text 1"/>
          <p:cNvSpPr/>
          <p:nvPr/>
        </p:nvSpPr>
        <p:spPr>
          <a:xfrm>
            <a:off x="548640" y="731520"/>
            <a:ext cx="11064240" cy="777240"/>
          </a:xfrm>
          <a:prstGeom prst="rect">
            <a:avLst/>
          </a:prstGeom>
          <a:noFill/>
          <a:ln/>
        </p:spPr>
        <p:txBody>
          <a:bodyPr wrap="square" rtlCol="0" anchor="t"/>
          <a:lstStyle/>
          <a:p>
            <a:pPr indent="0" marL="0">
              <a:buNone/>
            </a:pPr>
            <a:r>
              <a:rPr lang="en-US" sz="3200" b="1" dirty="0">
                <a:solidFill>
                  <a:srgbClr val="1A2230"/>
                </a:solidFill>
                <a:latin typeface="Arial" pitchFamily="34" charset="0"/>
                <a:ea typeface="Arial" pitchFamily="34" charset="-122"/>
                <a:cs typeface="Arial" pitchFamily="34" charset="-120"/>
              </a:rPr>
              <a:t>The model behaves like real pyrolysis chemistry</a:t>
            </a:r>
            <a:endParaRPr lang="en-US" sz="3200" dirty="0"/>
          </a:p>
        </p:txBody>
      </p:sp>
      <p:pic>
        <p:nvPicPr>
          <p:cNvPr id="4" name="Image 0" descr="/home/user/BioOil-Automation/pyrolysis_advisor/results/figures/B1_physics.png">    </p:cNvPr>
          <p:cNvPicPr>
            <a:picLocks noChangeAspect="1"/>
          </p:cNvPicPr>
          <p:nvPr/>
        </p:nvPicPr>
        <p:blipFill>
          <a:blip r:embed="rId1"/>
          <a:stretch>
            <a:fillRect/>
          </a:stretch>
        </p:blipFill>
        <p:spPr>
          <a:xfrm>
            <a:off x="822960" y="1691640"/>
            <a:ext cx="10515600" cy="3286125"/>
          </a:xfrm>
          <a:prstGeom prst="rect">
            <a:avLst/>
          </a:prstGeom>
        </p:spPr>
      </p:pic>
      <p:sp>
        <p:nvSpPr>
          <p:cNvPr id="5" name="Text 2"/>
          <p:cNvSpPr/>
          <p:nvPr/>
        </p:nvSpPr>
        <p:spPr>
          <a:xfrm>
            <a:off x="548640" y="5120640"/>
            <a:ext cx="3611880" cy="411480"/>
          </a:xfrm>
          <a:prstGeom prst="rect">
            <a:avLst/>
          </a:prstGeom>
          <a:noFill/>
          <a:ln/>
        </p:spPr>
        <p:txBody>
          <a:bodyPr wrap="square" lIns="0" tIns="0" rIns="0" bIns="0" rtlCol="0" anchor="ctr"/>
          <a:lstStyle/>
          <a:p>
            <a:pPr indent="0" marL="0">
              <a:buNone/>
            </a:pPr>
            <a:r>
              <a:rPr lang="en-US" sz="1800" b="1" dirty="0">
                <a:solidFill>
                  <a:srgbClr val="2E8B57"/>
                </a:solidFill>
                <a:latin typeface="Arial" pitchFamily="34" charset="0"/>
                <a:ea typeface="Arial" pitchFamily="34" charset="-122"/>
                <a:cs typeface="Arial" pitchFamily="34" charset="-120"/>
              </a:rPr>
              <a:t>Oil peaks at ~525 °C</a:t>
            </a:r>
            <a:endParaRPr lang="en-US" sz="1800" dirty="0"/>
          </a:p>
        </p:txBody>
      </p:sp>
      <p:sp>
        <p:nvSpPr>
          <p:cNvPr id="6" name="Text 3"/>
          <p:cNvSpPr/>
          <p:nvPr/>
        </p:nvSpPr>
        <p:spPr>
          <a:xfrm>
            <a:off x="548640" y="5532120"/>
            <a:ext cx="3611880" cy="548640"/>
          </a:xfrm>
          <a:prstGeom prst="rect">
            <a:avLst/>
          </a:prstGeom>
          <a:noFill/>
          <a:ln/>
        </p:spPr>
        <p:txBody>
          <a:bodyPr wrap="square" lIns="0" tIns="0" rIns="0" bIns="0" rtlCol="0" anchor="t"/>
          <a:lstStyle/>
          <a:p>
            <a:pPr indent="0" marL="0">
              <a:buNone/>
            </a:pPr>
            <a:r>
              <a:rPr lang="en-US" sz="1400" dirty="0">
                <a:solidFill>
                  <a:srgbClr val="3D4757"/>
                </a:solidFill>
                <a:latin typeface="Arial" pitchFamily="34" charset="0"/>
                <a:ea typeface="Arial" pitchFamily="34" charset="-122"/>
                <a:cs typeface="Arial" pitchFamily="34" charset="-120"/>
              </a:rPr>
              <a:t>matches the known best range (450–550 °C)</a:t>
            </a:r>
            <a:endParaRPr lang="en-US" sz="1400" dirty="0"/>
          </a:p>
        </p:txBody>
      </p:sp>
      <p:sp>
        <p:nvSpPr>
          <p:cNvPr id="7" name="Text 4"/>
          <p:cNvSpPr/>
          <p:nvPr/>
        </p:nvSpPr>
        <p:spPr>
          <a:xfrm>
            <a:off x="4343400" y="5120640"/>
            <a:ext cx="3611880" cy="411480"/>
          </a:xfrm>
          <a:prstGeom prst="rect">
            <a:avLst/>
          </a:prstGeom>
          <a:noFill/>
          <a:ln/>
        </p:spPr>
        <p:txBody>
          <a:bodyPr wrap="square" lIns="0" tIns="0" rIns="0" bIns="0" rtlCol="0" anchor="ctr"/>
          <a:lstStyle/>
          <a:p>
            <a:pPr indent="0" marL="0">
              <a:buNone/>
            </a:pPr>
            <a:r>
              <a:rPr lang="en-US" sz="1800" b="1" dirty="0">
                <a:solidFill>
                  <a:srgbClr val="2E8B57"/>
                </a:solidFill>
                <a:latin typeface="Arial" pitchFamily="34" charset="0"/>
                <a:ea typeface="Arial" pitchFamily="34" charset="-122"/>
                <a:cs typeface="Arial" pitchFamily="34" charset="-120"/>
              </a:rPr>
              <a:t>Too hot → less oil</a:t>
            </a:r>
            <a:endParaRPr lang="en-US" sz="1800" dirty="0"/>
          </a:p>
        </p:txBody>
      </p:sp>
      <p:sp>
        <p:nvSpPr>
          <p:cNvPr id="8" name="Text 5"/>
          <p:cNvSpPr/>
          <p:nvPr/>
        </p:nvSpPr>
        <p:spPr>
          <a:xfrm>
            <a:off x="4343400" y="5532120"/>
            <a:ext cx="3611880" cy="548640"/>
          </a:xfrm>
          <a:prstGeom prst="rect">
            <a:avLst/>
          </a:prstGeom>
          <a:noFill/>
          <a:ln/>
        </p:spPr>
        <p:txBody>
          <a:bodyPr wrap="square" lIns="0" tIns="0" rIns="0" bIns="0" rtlCol="0" anchor="t"/>
          <a:lstStyle/>
          <a:p>
            <a:pPr indent="0" marL="0">
              <a:buNone/>
            </a:pPr>
            <a:r>
              <a:rPr lang="en-US" sz="1400" dirty="0">
                <a:solidFill>
                  <a:srgbClr val="3D4757"/>
                </a:solidFill>
                <a:latin typeface="Arial" pitchFamily="34" charset="0"/>
                <a:ea typeface="Arial" pitchFamily="34" charset="-122"/>
                <a:cs typeface="Arial" pitchFamily="34" charset="-120"/>
              </a:rPr>
              <a:t>oil vapours crack into gas above ~600 °C</a:t>
            </a:r>
            <a:endParaRPr lang="en-US" sz="1400" dirty="0"/>
          </a:p>
        </p:txBody>
      </p:sp>
      <p:sp>
        <p:nvSpPr>
          <p:cNvPr id="9" name="Text 6"/>
          <p:cNvSpPr/>
          <p:nvPr/>
        </p:nvSpPr>
        <p:spPr>
          <a:xfrm>
            <a:off x="8138160" y="5120640"/>
            <a:ext cx="3611880" cy="411480"/>
          </a:xfrm>
          <a:prstGeom prst="rect">
            <a:avLst/>
          </a:prstGeom>
          <a:noFill/>
          <a:ln/>
        </p:spPr>
        <p:txBody>
          <a:bodyPr wrap="square" lIns="0" tIns="0" rIns="0" bIns="0" rtlCol="0" anchor="ctr"/>
          <a:lstStyle/>
          <a:p>
            <a:pPr indent="0" marL="0">
              <a:buNone/>
            </a:pPr>
            <a:r>
              <a:rPr lang="en-US" sz="1800" b="1" dirty="0">
                <a:solidFill>
                  <a:srgbClr val="2E8B57"/>
                </a:solidFill>
                <a:latin typeface="Arial" pitchFamily="34" charset="0"/>
                <a:ea typeface="Arial" pitchFamily="34" charset="-122"/>
                <a:cs typeface="Arial" pitchFamily="34" charset="-120"/>
              </a:rPr>
              <a:t>Hotter → less oxygen</a:t>
            </a:r>
            <a:endParaRPr lang="en-US" sz="1800" dirty="0"/>
          </a:p>
        </p:txBody>
      </p:sp>
      <p:sp>
        <p:nvSpPr>
          <p:cNvPr id="10" name="Text 7"/>
          <p:cNvSpPr/>
          <p:nvPr/>
        </p:nvSpPr>
        <p:spPr>
          <a:xfrm>
            <a:off x="8138160" y="5532120"/>
            <a:ext cx="3611880" cy="548640"/>
          </a:xfrm>
          <a:prstGeom prst="rect">
            <a:avLst/>
          </a:prstGeom>
          <a:noFill/>
          <a:ln/>
        </p:spPr>
        <p:txBody>
          <a:bodyPr wrap="square" lIns="0" tIns="0" rIns="0" bIns="0" rtlCol="0" anchor="t"/>
          <a:lstStyle/>
          <a:p>
            <a:pPr indent="0" marL="0">
              <a:buNone/>
            </a:pPr>
            <a:r>
              <a:rPr lang="en-US" sz="1400" dirty="0">
                <a:solidFill>
                  <a:srgbClr val="3D4757"/>
                </a:solidFill>
                <a:latin typeface="Arial" pitchFamily="34" charset="0"/>
                <a:ea typeface="Arial" pitchFamily="34" charset="-122"/>
                <a:cs typeface="Arial" pitchFamily="34" charset="-120"/>
              </a:rPr>
              <a:t>oxygen content always falls with temperature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rtlCol="0" anchor="ctr"/>
          <a:lstStyle/>
          <a:p>
            <a:pPr indent="0" marL="0">
              <a:buNone/>
            </a:pPr>
            <a:r>
              <a:rPr lang="en-US" sz="1300" b="1" spc="200" kern="0" dirty="0">
                <a:solidFill>
                  <a:srgbClr val="2B6CD4"/>
                </a:solidFill>
                <a:latin typeface="Arial" pitchFamily="34" charset="0"/>
                <a:ea typeface="Arial" pitchFamily="34" charset="-122"/>
                <a:cs typeface="Arial" pitchFamily="34" charset="-120"/>
              </a:rPr>
              <a:t>RESULT 4 · THE ADVISOR</a:t>
            </a:r>
            <a:endParaRPr lang="en-US" sz="1300" dirty="0"/>
          </a:p>
        </p:txBody>
      </p:sp>
      <p:sp>
        <p:nvSpPr>
          <p:cNvPr id="3" name="Text 1"/>
          <p:cNvSpPr/>
          <p:nvPr/>
        </p:nvSpPr>
        <p:spPr>
          <a:xfrm>
            <a:off x="548640" y="731520"/>
            <a:ext cx="11064240" cy="777240"/>
          </a:xfrm>
          <a:prstGeom prst="rect">
            <a:avLst/>
          </a:prstGeom>
          <a:noFill/>
          <a:ln/>
        </p:spPr>
        <p:txBody>
          <a:bodyPr wrap="square" rtlCol="0" anchor="t"/>
          <a:lstStyle/>
          <a:p>
            <a:pPr indent="0" marL="0">
              <a:buNone/>
            </a:pPr>
            <a:r>
              <a:rPr lang="en-US" sz="3200" b="1" dirty="0">
                <a:solidFill>
                  <a:srgbClr val="1A2230"/>
                </a:solidFill>
                <a:latin typeface="Arial" pitchFamily="34" charset="0"/>
                <a:ea typeface="Arial" pitchFamily="34" charset="-122"/>
                <a:cs typeface="Arial" pitchFamily="34" charset="-120"/>
              </a:rPr>
              <a:t>It recommends the best reactor settings</a:t>
            </a:r>
            <a:endParaRPr lang="en-US" sz="3200" dirty="0"/>
          </a:p>
        </p:txBody>
      </p:sp>
      <p:sp>
        <p:nvSpPr>
          <p:cNvPr id="4" name="Text 2"/>
          <p:cNvSpPr/>
          <p:nvPr/>
        </p:nvSpPr>
        <p:spPr>
          <a:xfrm>
            <a:off x="548640" y="1463040"/>
            <a:ext cx="11064240" cy="457200"/>
          </a:xfrm>
          <a:prstGeom prst="rect">
            <a:avLst/>
          </a:prstGeom>
          <a:noFill/>
          <a:ln/>
        </p:spPr>
        <p:txBody>
          <a:bodyPr wrap="square" rtlCol="0" anchor="t"/>
          <a:lstStyle/>
          <a:p>
            <a:pPr indent="0" marL="0">
              <a:buNone/>
            </a:pPr>
            <a:r>
              <a:rPr lang="en-US" sz="1700" dirty="0">
                <a:solidFill>
                  <a:srgbClr val="3D4757"/>
                </a:solidFill>
                <a:latin typeface="Arial" pitchFamily="34" charset="0"/>
                <a:ea typeface="Arial" pitchFamily="34" charset="-122"/>
                <a:cs typeface="Arial" pitchFamily="34" charset="-120"/>
              </a:rPr>
              <a:t>Example: pine wood</a:t>
            </a:r>
            <a:endParaRPr lang="en-US" sz="1700" dirty="0"/>
          </a:p>
        </p:txBody>
      </p:sp>
      <p:sp>
        <p:nvSpPr>
          <p:cNvPr id="5" name="Shape 3"/>
          <p:cNvSpPr/>
          <p:nvPr/>
        </p:nvSpPr>
        <p:spPr>
          <a:xfrm>
            <a:off x="548640" y="2148840"/>
            <a:ext cx="5394960" cy="3383280"/>
          </a:xfrm>
          <a:prstGeom prst="roundRect">
            <a:avLst>
              <a:gd name="adj" fmla="val 4054"/>
            </a:avLst>
          </a:prstGeom>
          <a:solidFill>
            <a:srgbClr val="EAF1FC"/>
          </a:solidFill>
          <a:ln w="12700">
            <a:solidFill>
              <a:srgbClr val="EAF1FC"/>
            </a:solidFill>
            <a:prstDash val="solid"/>
          </a:ln>
        </p:spPr>
      </p:sp>
      <p:sp>
        <p:nvSpPr>
          <p:cNvPr id="6" name="Text 4"/>
          <p:cNvSpPr/>
          <p:nvPr/>
        </p:nvSpPr>
        <p:spPr>
          <a:xfrm>
            <a:off x="868680" y="2377440"/>
            <a:ext cx="4572000" cy="365760"/>
          </a:xfrm>
          <a:prstGeom prst="rect">
            <a:avLst/>
          </a:prstGeom>
          <a:noFill/>
          <a:ln/>
        </p:spPr>
        <p:txBody>
          <a:bodyPr wrap="square" rtlCol="0" anchor="ctr"/>
          <a:lstStyle/>
          <a:p>
            <a:pPr indent="0" marL="0">
              <a:buNone/>
            </a:pPr>
            <a:r>
              <a:rPr lang="en-US" sz="1300" b="1" spc="200" kern="0" dirty="0">
                <a:solidFill>
                  <a:srgbClr val="2B6CD4"/>
                </a:solidFill>
                <a:latin typeface="Arial" pitchFamily="34" charset="0"/>
                <a:ea typeface="Arial" pitchFamily="34" charset="-122"/>
                <a:cs typeface="Arial" pitchFamily="34" charset="-120"/>
              </a:rPr>
              <a:t>RECOMMENDED</a:t>
            </a:r>
            <a:endParaRPr lang="en-US" sz="1300" dirty="0"/>
          </a:p>
        </p:txBody>
      </p:sp>
      <p:sp>
        <p:nvSpPr>
          <p:cNvPr id="7" name="Text 5"/>
          <p:cNvSpPr/>
          <p:nvPr/>
        </p:nvSpPr>
        <p:spPr>
          <a:xfrm>
            <a:off x="868680" y="2743200"/>
            <a:ext cx="4937760" cy="731520"/>
          </a:xfrm>
          <a:prstGeom prst="rect">
            <a:avLst/>
          </a:prstGeom>
          <a:noFill/>
          <a:ln/>
        </p:spPr>
        <p:txBody>
          <a:bodyPr wrap="square" rtlCol="0" anchor="ctr"/>
          <a:lstStyle/>
          <a:p>
            <a:pPr indent="0" marL="0">
              <a:buNone/>
            </a:pPr>
            <a:r>
              <a:rPr lang="en-US" sz="3200" b="1" dirty="0">
                <a:solidFill>
                  <a:srgbClr val="1A2230"/>
                </a:solidFill>
                <a:latin typeface="Arial" pitchFamily="34" charset="0"/>
                <a:ea typeface="Arial" pitchFamily="34" charset="-122"/>
                <a:cs typeface="Arial" pitchFamily="34" charset="-120"/>
              </a:rPr>
              <a:t>480 °C  ·  300 °C/min</a:t>
            </a:r>
            <a:endParaRPr lang="en-US" sz="3200" dirty="0"/>
          </a:p>
        </p:txBody>
      </p:sp>
      <p:sp>
        <p:nvSpPr>
          <p:cNvPr id="8" name="Text 6"/>
          <p:cNvSpPr/>
          <p:nvPr/>
        </p:nvSpPr>
        <p:spPr>
          <a:xfrm>
            <a:off x="868680" y="3566160"/>
            <a:ext cx="4937760" cy="914400"/>
          </a:xfrm>
          <a:prstGeom prst="rect">
            <a:avLst/>
          </a:prstGeom>
          <a:noFill/>
          <a:ln/>
        </p:spPr>
        <p:txBody>
          <a:bodyPr wrap="square" rtlCol="0" anchor="t"/>
          <a:lstStyle/>
          <a:p>
            <a:pPr indent="0" marL="0">
              <a:buNone/>
            </a:pPr>
            <a:r>
              <a:rPr lang="en-US" sz="2000" b="1" dirty="0">
                <a:solidFill>
                  <a:srgbClr val="2E8B57"/>
                </a:solidFill>
                <a:latin typeface="Arial" pitchFamily="34" charset="0"/>
                <a:ea typeface="Arial" pitchFamily="34" charset="-122"/>
                <a:cs typeface="Arial" pitchFamily="34" charset="-120"/>
              </a:rPr>
              <a:t>41.8 wt%</a:t>
            </a:r>
            <a:pPr indent="0" marL="0">
              <a:buNone/>
            </a:pPr>
            <a:r>
              <a:rPr lang="en-US" sz="2000" dirty="0">
                <a:solidFill>
                  <a:srgbClr val="3D4757"/>
                </a:solidFill>
                <a:latin typeface="Arial" pitchFamily="34" charset="0"/>
                <a:ea typeface="Arial" pitchFamily="34" charset="-122"/>
                <a:cs typeface="Arial" pitchFamily="34" charset="-120"/>
              </a:rPr>
              <a:t> bio-oil</a:t>
            </a:r>
            <a:endParaRPr lang="en-US" sz="2000" dirty="0"/>
          </a:p>
          <a:p>
            <a:pPr indent="0" marL="0">
              <a:buNone/>
            </a:pPr>
            <a:r>
              <a:rPr lang="en-US" sz="2000" b="1" dirty="0">
                <a:solidFill>
                  <a:srgbClr val="2E8B57"/>
                </a:solidFill>
                <a:latin typeface="Arial" pitchFamily="34" charset="0"/>
                <a:ea typeface="Arial" pitchFamily="34" charset="-122"/>
                <a:cs typeface="Arial" pitchFamily="34" charset="-120"/>
              </a:rPr>
              <a:t>O/C 0.068</a:t>
            </a:r>
            <a:pPr indent="0" marL="0">
              <a:buNone/>
            </a:pPr>
            <a:r>
              <a:rPr lang="en-US" sz="2000" dirty="0">
                <a:solidFill>
                  <a:srgbClr val="3D4757"/>
                </a:solidFill>
                <a:latin typeface="Arial" pitchFamily="34" charset="0"/>
                <a:ea typeface="Arial" pitchFamily="34" charset="-122"/>
                <a:cs typeface="Arial" pitchFamily="34" charset="-120"/>
              </a:rPr>
              <a:t> (low oxygen)</a:t>
            </a:r>
            <a:endParaRPr lang="en-US" sz="2000" dirty="0"/>
          </a:p>
        </p:txBody>
      </p:sp>
      <p:sp>
        <p:nvSpPr>
          <p:cNvPr id="9" name="Text 7"/>
          <p:cNvSpPr/>
          <p:nvPr/>
        </p:nvSpPr>
        <p:spPr>
          <a:xfrm>
            <a:off x="868680" y="4572000"/>
            <a:ext cx="4937760" cy="822960"/>
          </a:xfrm>
          <a:prstGeom prst="rect">
            <a:avLst/>
          </a:prstGeom>
          <a:noFill/>
          <a:ln/>
        </p:spPr>
        <p:txBody>
          <a:bodyPr wrap="square" rtlCol="0" anchor="t"/>
          <a:lstStyle/>
          <a:p>
            <a:pPr indent="0" marL="0">
              <a:buNone/>
            </a:pPr>
            <a:r>
              <a:rPr lang="en-US" sz="1400" dirty="0">
                <a:solidFill>
                  <a:srgbClr val="3D4757"/>
                </a:solidFill>
                <a:latin typeface="Arial" pitchFamily="34" charset="0"/>
                <a:ea typeface="Arial" pitchFamily="34" charset="-122"/>
                <a:cs typeface="Arial" pitchFamily="34" charset="-120"/>
              </a:rPr>
              <a:t>Max-yield option: 570 °C → 43.5 wt% oil, but O/C 0.097 (≈40% more oxygen)</a:t>
            </a:r>
            <a:endParaRPr lang="en-US" sz="1400" dirty="0"/>
          </a:p>
        </p:txBody>
      </p:sp>
      <p:pic>
        <p:nvPicPr>
          <p:cNvPr id="10" name="Image 0" descr="/home/user/BioOil-Automation/pyrolysis_advisor/results/figures/B4_advisor_pine.png">    </p:cNvPr>
          <p:cNvPicPr>
            <a:picLocks noChangeAspect="1"/>
          </p:cNvPicPr>
          <p:nvPr/>
        </p:nvPicPr>
        <p:blipFill>
          <a:blip r:embed="rId1"/>
          <a:stretch>
            <a:fillRect/>
          </a:stretch>
        </p:blipFill>
        <p:spPr>
          <a:xfrm>
            <a:off x="6400800" y="2148840"/>
            <a:ext cx="5212080" cy="3863662"/>
          </a:xfrm>
          <a:prstGeom prst="rect">
            <a:avLst/>
          </a:prstGeom>
        </p:spPr>
      </p:pic>
      <p:sp>
        <p:nvSpPr>
          <p:cNvPr id="11" name="Text 8"/>
          <p:cNvSpPr/>
          <p:nvPr/>
        </p:nvSpPr>
        <p:spPr>
          <a:xfrm>
            <a:off x="6400800" y="5715000"/>
            <a:ext cx="5212080" cy="320040"/>
          </a:xfrm>
          <a:prstGeom prst="rect">
            <a:avLst/>
          </a:prstGeom>
          <a:noFill/>
          <a:ln/>
        </p:spPr>
        <p:txBody>
          <a:bodyPr wrap="square" rtlCol="0" anchor="ctr"/>
          <a:lstStyle/>
          <a:p>
            <a:pPr indent="0" marL="0">
              <a:buNone/>
            </a:pPr>
            <a:r>
              <a:rPr lang="en-US" sz="1200" i="1" dirty="0">
                <a:solidFill>
                  <a:srgbClr val="6B7686"/>
                </a:solidFill>
                <a:latin typeface="Arial" pitchFamily="34" charset="0"/>
                <a:ea typeface="Arial" pitchFamily="34" charset="-122"/>
                <a:cs typeface="Arial" pitchFamily="34" charset="-120"/>
              </a:rPr>
              <a:t>Each dot is one setting the Advisor tested; the line is the best trade-off.</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rtlCol="0" anchor="ctr"/>
          <a:lstStyle/>
          <a:p>
            <a:pPr indent="0" marL="0">
              <a:buNone/>
            </a:pPr>
            <a:r>
              <a:rPr lang="en-US" sz="1300" b="1" spc="200" kern="0" dirty="0">
                <a:solidFill>
                  <a:srgbClr val="2B6CD4"/>
                </a:solidFill>
                <a:latin typeface="Arial" pitchFamily="34" charset="0"/>
                <a:ea typeface="Arial" pitchFamily="34" charset="-122"/>
                <a:cs typeface="Arial" pitchFamily="34" charset="-120"/>
              </a:rPr>
              <a:t>WORKING MODEL</a:t>
            </a:r>
            <a:endParaRPr lang="en-US" sz="1300" dirty="0"/>
          </a:p>
        </p:txBody>
      </p:sp>
      <p:sp>
        <p:nvSpPr>
          <p:cNvPr id="3" name="Text 1"/>
          <p:cNvSpPr/>
          <p:nvPr/>
        </p:nvSpPr>
        <p:spPr>
          <a:xfrm>
            <a:off x="548640" y="731520"/>
            <a:ext cx="11064240" cy="777240"/>
          </a:xfrm>
          <a:prstGeom prst="rect">
            <a:avLst/>
          </a:prstGeom>
          <a:noFill/>
          <a:ln/>
        </p:spPr>
        <p:txBody>
          <a:bodyPr wrap="square" rtlCol="0" anchor="t"/>
          <a:lstStyle/>
          <a:p>
            <a:pPr indent="0" marL="0">
              <a:buNone/>
            </a:pPr>
            <a:r>
              <a:rPr lang="en-US" sz="3200" b="1" dirty="0">
                <a:solidFill>
                  <a:srgbClr val="1A2230"/>
                </a:solidFill>
                <a:latin typeface="Arial" pitchFamily="34" charset="0"/>
                <a:ea typeface="Arial" pitchFamily="34" charset="-122"/>
                <a:cs typeface="Arial" pitchFamily="34" charset="-120"/>
              </a:rPr>
              <a:t>Try it: the Advisor web app</a:t>
            </a:r>
            <a:endParaRPr lang="en-US" sz="3200" dirty="0"/>
          </a:p>
        </p:txBody>
      </p:sp>
      <p:pic>
        <p:nvPicPr>
          <p:cNvPr id="4" name="Image 0" descr="/tmp/claude-0/-home-user-BioOil-Automation/5397d81f-6477-55ef-8890-ec0ebaf31f4d/scratchpad/deck/shots/review.png">    </p:cNvPr>
          <p:cNvPicPr>
            <a:picLocks noChangeAspect="1"/>
          </p:cNvPicPr>
          <p:nvPr/>
        </p:nvPicPr>
        <p:blipFill>
          <a:blip r:embed="rId1"/>
          <a:stretch>
            <a:fillRect/>
          </a:stretch>
        </p:blipFill>
        <p:spPr>
          <a:xfrm>
            <a:off x="548640" y="1691640"/>
            <a:ext cx="3670479" cy="4114800"/>
          </a:xfrm>
          <a:prstGeom prst="rect">
            <a:avLst/>
          </a:prstGeom>
        </p:spPr>
      </p:pic>
      <p:pic>
        <p:nvPicPr>
          <p:cNvPr id="5" name="Image 1" descr="/tmp/claude-0/-home-user-BioOil-Automation/5397d81f-6477-55ef-8890-ec0ebaf31f4d/scratchpad/deck/shots/approved.png">    </p:cNvPr>
          <p:cNvPicPr>
            <a:picLocks noChangeAspect="1"/>
          </p:cNvPicPr>
          <p:nvPr/>
        </p:nvPicPr>
        <p:blipFill>
          <a:blip r:embed="rId2"/>
          <a:stretch>
            <a:fillRect/>
          </a:stretch>
        </p:blipFill>
        <p:spPr>
          <a:xfrm>
            <a:off x="4493439" y="1691640"/>
            <a:ext cx="3670479" cy="4114800"/>
          </a:xfrm>
          <a:prstGeom prst="rect">
            <a:avLst/>
          </a:prstGeom>
        </p:spPr>
      </p:pic>
      <p:sp>
        <p:nvSpPr>
          <p:cNvPr id="6" name="Shape 2"/>
          <p:cNvSpPr/>
          <p:nvPr/>
        </p:nvSpPr>
        <p:spPr>
          <a:xfrm>
            <a:off x="8621118" y="1920240"/>
            <a:ext cx="548640" cy="548640"/>
          </a:xfrm>
          <a:prstGeom prst="ellipse">
            <a:avLst/>
          </a:prstGeom>
          <a:solidFill>
            <a:srgbClr val="2B6CD4"/>
          </a:solidFill>
          <a:ln w="12700">
            <a:solidFill>
              <a:srgbClr val="2B6CD4"/>
            </a:solidFill>
            <a:prstDash val="solid"/>
          </a:ln>
        </p:spPr>
      </p:sp>
      <p:sp>
        <p:nvSpPr>
          <p:cNvPr id="7" name="Text 3"/>
          <p:cNvSpPr/>
          <p:nvPr/>
        </p:nvSpPr>
        <p:spPr>
          <a:xfrm>
            <a:off x="8621118" y="192024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9352638" y="1828800"/>
            <a:ext cx="2260242" cy="777240"/>
          </a:xfrm>
          <a:prstGeom prst="rect">
            <a:avLst/>
          </a:prstGeom>
          <a:noFill/>
          <a:ln/>
        </p:spPr>
        <p:txBody>
          <a:bodyPr wrap="square" rtlCol="0" anchor="ctr"/>
          <a:lstStyle/>
          <a:p>
            <a:pPr indent="0" marL="0">
              <a:buNone/>
            </a:pPr>
            <a:r>
              <a:rPr lang="en-US" sz="1600" dirty="0">
                <a:solidFill>
                  <a:srgbClr val="1A2230"/>
                </a:solidFill>
                <a:latin typeface="Arial" pitchFamily="34" charset="0"/>
                <a:ea typeface="Arial" pitchFamily="34" charset="-122"/>
                <a:cs typeface="Arial" pitchFamily="34" charset="-120"/>
              </a:rPr>
              <a:t>Pick a biomass</a:t>
            </a:r>
            <a:endParaRPr lang="en-US" sz="1600" dirty="0"/>
          </a:p>
        </p:txBody>
      </p:sp>
      <p:sp>
        <p:nvSpPr>
          <p:cNvPr id="9" name="Shape 5"/>
          <p:cNvSpPr/>
          <p:nvPr/>
        </p:nvSpPr>
        <p:spPr>
          <a:xfrm>
            <a:off x="8621118" y="3108960"/>
            <a:ext cx="548640" cy="548640"/>
          </a:xfrm>
          <a:prstGeom prst="ellipse">
            <a:avLst/>
          </a:prstGeom>
          <a:solidFill>
            <a:srgbClr val="2B6CD4"/>
          </a:solidFill>
          <a:ln w="12700">
            <a:solidFill>
              <a:srgbClr val="2B6CD4"/>
            </a:solidFill>
            <a:prstDash val="solid"/>
          </a:ln>
        </p:spPr>
      </p:sp>
      <p:sp>
        <p:nvSpPr>
          <p:cNvPr id="10" name="Text 6"/>
          <p:cNvSpPr/>
          <p:nvPr/>
        </p:nvSpPr>
        <p:spPr>
          <a:xfrm>
            <a:off x="8621118" y="310896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7"/>
          <p:cNvSpPr/>
          <p:nvPr/>
        </p:nvSpPr>
        <p:spPr>
          <a:xfrm>
            <a:off x="9352638" y="3017520"/>
            <a:ext cx="2260242" cy="777240"/>
          </a:xfrm>
          <a:prstGeom prst="rect">
            <a:avLst/>
          </a:prstGeom>
          <a:noFill/>
          <a:ln/>
        </p:spPr>
        <p:txBody>
          <a:bodyPr wrap="square" rtlCol="0" anchor="ctr"/>
          <a:lstStyle/>
          <a:p>
            <a:pPr indent="0" marL="0">
              <a:buNone/>
            </a:pPr>
            <a:r>
              <a:rPr lang="en-US" sz="1600" dirty="0">
                <a:solidFill>
                  <a:srgbClr val="1A2230"/>
                </a:solidFill>
                <a:latin typeface="Arial" pitchFamily="34" charset="0"/>
                <a:ea typeface="Arial" pitchFamily="34" charset="-122"/>
                <a:cs typeface="Arial" pitchFamily="34" charset="-120"/>
              </a:rPr>
              <a:t>See the recommended temperature and heating rate</a:t>
            </a:r>
            <a:endParaRPr lang="en-US" sz="1600" dirty="0"/>
          </a:p>
        </p:txBody>
      </p:sp>
      <p:sp>
        <p:nvSpPr>
          <p:cNvPr id="12" name="Shape 8"/>
          <p:cNvSpPr/>
          <p:nvPr/>
        </p:nvSpPr>
        <p:spPr>
          <a:xfrm>
            <a:off x="8621118" y="4297680"/>
            <a:ext cx="548640" cy="548640"/>
          </a:xfrm>
          <a:prstGeom prst="ellipse">
            <a:avLst/>
          </a:prstGeom>
          <a:solidFill>
            <a:srgbClr val="2B6CD4"/>
          </a:solidFill>
          <a:ln w="12700">
            <a:solidFill>
              <a:srgbClr val="2B6CD4"/>
            </a:solidFill>
            <a:prstDash val="solid"/>
          </a:ln>
        </p:spPr>
      </p:sp>
      <p:sp>
        <p:nvSpPr>
          <p:cNvPr id="13" name="Text 9"/>
          <p:cNvSpPr/>
          <p:nvPr/>
        </p:nvSpPr>
        <p:spPr>
          <a:xfrm>
            <a:off x="8621118" y="429768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4" name="Text 10"/>
          <p:cNvSpPr/>
          <p:nvPr/>
        </p:nvSpPr>
        <p:spPr>
          <a:xfrm>
            <a:off x="9352638" y="4206240"/>
            <a:ext cx="2260242" cy="777240"/>
          </a:xfrm>
          <a:prstGeom prst="rect">
            <a:avLst/>
          </a:prstGeom>
          <a:noFill/>
          <a:ln/>
        </p:spPr>
        <p:txBody>
          <a:bodyPr wrap="square" rtlCol="0" anchor="ctr"/>
          <a:lstStyle/>
          <a:p>
            <a:pPr indent="0" marL="0">
              <a:buNone/>
            </a:pPr>
            <a:r>
              <a:rPr lang="en-US" sz="1600" dirty="0">
                <a:solidFill>
                  <a:srgbClr val="1A2230"/>
                </a:solidFill>
                <a:latin typeface="Arial" pitchFamily="34" charset="0"/>
                <a:ea typeface="Arial" pitchFamily="34" charset="-122"/>
                <a:cs typeface="Arial" pitchFamily="34" charset="-120"/>
              </a:rPr>
              <a:t>Accept or reject — the result is shown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rtlCol="0" anchor="ctr"/>
          <a:lstStyle/>
          <a:p>
            <a:pPr indent="0" marL="0">
              <a:buNone/>
            </a:pPr>
            <a:r>
              <a:rPr lang="en-US" sz="1300" b="1" spc="200" kern="0" dirty="0">
                <a:solidFill>
                  <a:srgbClr val="2B6CD4"/>
                </a:solidFill>
                <a:latin typeface="Arial" pitchFamily="34" charset="0"/>
                <a:ea typeface="Arial" pitchFamily="34" charset="-122"/>
                <a:cs typeface="Arial" pitchFamily="34" charset="-120"/>
              </a:rPr>
              <a:t>RESULT 5 · NEW BIOMASS</a:t>
            </a:r>
            <a:endParaRPr lang="en-US" sz="1300" dirty="0"/>
          </a:p>
        </p:txBody>
      </p:sp>
      <p:sp>
        <p:nvSpPr>
          <p:cNvPr id="3" name="Text 1"/>
          <p:cNvSpPr/>
          <p:nvPr/>
        </p:nvSpPr>
        <p:spPr>
          <a:xfrm>
            <a:off x="548640" y="731520"/>
            <a:ext cx="11064240" cy="777240"/>
          </a:xfrm>
          <a:prstGeom prst="rect">
            <a:avLst/>
          </a:prstGeom>
          <a:noFill/>
          <a:ln/>
        </p:spPr>
        <p:txBody>
          <a:bodyPr wrap="square" rtlCol="0" anchor="t"/>
          <a:lstStyle/>
          <a:p>
            <a:pPr indent="0" marL="0">
              <a:buNone/>
            </a:pPr>
            <a:r>
              <a:rPr lang="en-US" sz="3200" b="1" dirty="0">
                <a:solidFill>
                  <a:srgbClr val="1A2230"/>
                </a:solidFill>
                <a:latin typeface="Arial" pitchFamily="34" charset="0"/>
                <a:ea typeface="Arial" pitchFamily="34" charset="-122"/>
                <a:cs typeface="Arial" pitchFamily="34" charset="-120"/>
              </a:rPr>
              <a:t>New biomass? One or two experiments improve it</a:t>
            </a:r>
            <a:endParaRPr lang="en-US" sz="3200" dirty="0"/>
          </a:p>
        </p:txBody>
      </p:sp>
      <p:sp>
        <p:nvSpPr>
          <p:cNvPr id="4" name="Text 2"/>
          <p:cNvSpPr/>
          <p:nvPr/>
        </p:nvSpPr>
        <p:spPr>
          <a:xfrm>
            <a:off x="548640" y="1463040"/>
            <a:ext cx="11064240" cy="457200"/>
          </a:xfrm>
          <a:prstGeom prst="rect">
            <a:avLst/>
          </a:prstGeom>
          <a:noFill/>
          <a:ln/>
        </p:spPr>
        <p:txBody>
          <a:bodyPr wrap="square" rtlCol="0" anchor="t"/>
          <a:lstStyle/>
          <a:p>
            <a:pPr indent="0" marL="0">
              <a:buNone/>
            </a:pPr>
            <a:r>
              <a:rPr lang="en-US" sz="1700" dirty="0">
                <a:solidFill>
                  <a:srgbClr val="3D4757"/>
                </a:solidFill>
                <a:latin typeface="Arial" pitchFamily="34" charset="0"/>
                <a:ea typeface="Arial" pitchFamily="34" charset="-122"/>
                <a:cs typeface="Arial" pitchFamily="34" charset="-120"/>
              </a:rPr>
              <a:t>Error in predicted oil yield for a biomass the model has never seen</a:t>
            </a:r>
            <a:endParaRPr lang="en-US" sz="1700" dirty="0"/>
          </a:p>
        </p:txBody>
      </p:sp>
      <p:pic>
        <p:nvPicPr>
          <p:cNvPr id="5" name="Image 0" descr="/home/user/BioOil-Automation/pyrolysis_advisor/results/figures/B2_calibration.png">    </p:cNvPr>
          <p:cNvPicPr>
            <a:picLocks noChangeAspect="1"/>
          </p:cNvPicPr>
          <p:nvPr/>
        </p:nvPicPr>
        <p:blipFill>
          <a:blip r:embed="rId1"/>
          <a:stretch>
            <a:fillRect/>
          </a:stretch>
        </p:blipFill>
        <p:spPr>
          <a:xfrm>
            <a:off x="548640" y="2057400"/>
            <a:ext cx="6766560" cy="3601150"/>
          </a:xfrm>
          <a:prstGeom prst="rect">
            <a:avLst/>
          </a:prstGeom>
        </p:spPr>
      </p:pic>
      <p:sp>
        <p:nvSpPr>
          <p:cNvPr id="6" name="Shape 3"/>
          <p:cNvSpPr/>
          <p:nvPr/>
        </p:nvSpPr>
        <p:spPr>
          <a:xfrm>
            <a:off x="7772400" y="2148840"/>
            <a:ext cx="3840480" cy="1417320"/>
          </a:xfrm>
          <a:prstGeom prst="roundRect">
            <a:avLst>
              <a:gd name="adj" fmla="val 7742"/>
            </a:avLst>
          </a:prstGeom>
          <a:solidFill>
            <a:srgbClr val="F3F6F9"/>
          </a:solidFill>
          <a:ln w="12700">
            <a:solidFill>
              <a:srgbClr val="F3F6F9"/>
            </a:solidFill>
            <a:prstDash val="solid"/>
          </a:ln>
        </p:spPr>
      </p:sp>
      <p:sp>
        <p:nvSpPr>
          <p:cNvPr id="7" name="Text 4"/>
          <p:cNvSpPr/>
          <p:nvPr/>
        </p:nvSpPr>
        <p:spPr>
          <a:xfrm>
            <a:off x="8001000" y="2258568"/>
            <a:ext cx="3383280" cy="685800"/>
          </a:xfrm>
          <a:prstGeom prst="rect">
            <a:avLst/>
          </a:prstGeom>
          <a:noFill/>
          <a:ln/>
        </p:spPr>
        <p:txBody>
          <a:bodyPr wrap="square" lIns="0" tIns="0" rIns="0" bIns="0" rtlCol="0" anchor="ctr"/>
          <a:lstStyle/>
          <a:p>
            <a:pPr indent="0" marL="0">
              <a:buNone/>
            </a:pPr>
            <a:r>
              <a:rPr lang="en-US" sz="3400" b="1" dirty="0">
                <a:solidFill>
                  <a:srgbClr val="2B6CD4"/>
                </a:solidFill>
                <a:latin typeface="Arial" pitchFamily="34" charset="0"/>
                <a:ea typeface="Arial" pitchFamily="34" charset="-122"/>
                <a:cs typeface="Arial" pitchFamily="34" charset="-120"/>
              </a:rPr>
              <a:t>8 → 5.3 → 4.2</a:t>
            </a:r>
            <a:endParaRPr lang="en-US" sz="3400" dirty="0"/>
          </a:p>
        </p:txBody>
      </p:sp>
      <p:sp>
        <p:nvSpPr>
          <p:cNvPr id="8" name="Text 5"/>
          <p:cNvSpPr/>
          <p:nvPr/>
        </p:nvSpPr>
        <p:spPr>
          <a:xfrm>
            <a:off x="8001000" y="2926080"/>
            <a:ext cx="3383280" cy="548640"/>
          </a:xfrm>
          <a:prstGeom prst="rect">
            <a:avLst/>
          </a:prstGeom>
          <a:noFill/>
          <a:ln/>
        </p:spPr>
        <p:txBody>
          <a:bodyPr wrap="square" lIns="0" tIns="0" rIns="0" bIns="0" rtlCol="0" anchor="t"/>
          <a:lstStyle/>
          <a:p>
            <a:pPr indent="0" marL="0">
              <a:buNone/>
            </a:pPr>
            <a:r>
              <a:rPr lang="en-US" sz="1300" dirty="0">
                <a:solidFill>
                  <a:srgbClr val="3D4757"/>
                </a:solidFill>
                <a:latin typeface="Arial" pitchFamily="34" charset="0"/>
                <a:ea typeface="Arial" pitchFamily="34" charset="-122"/>
                <a:cs typeface="Arial" pitchFamily="34" charset="-120"/>
              </a:rPr>
              <a:t>Yield error (wt%) with 0, 1 and 2 real experiments</a:t>
            </a:r>
            <a:endParaRPr lang="en-US" sz="1300" dirty="0"/>
          </a:p>
        </p:txBody>
      </p:sp>
      <p:sp>
        <p:nvSpPr>
          <p:cNvPr id="9" name="Text 6"/>
          <p:cNvSpPr/>
          <p:nvPr/>
        </p:nvSpPr>
        <p:spPr>
          <a:xfrm>
            <a:off x="7772400" y="3840480"/>
            <a:ext cx="3840480" cy="1371600"/>
          </a:xfrm>
          <a:prstGeom prst="rect">
            <a:avLst/>
          </a:prstGeom>
          <a:noFill/>
          <a:ln/>
        </p:spPr>
        <p:txBody>
          <a:bodyPr wrap="square" rtlCol="0" anchor="t"/>
          <a:lstStyle/>
          <a:p>
            <a:pPr marL="228600" indent="-228600">
              <a:spcAft>
                <a:spcPts val="1000"/>
              </a:spcAft>
              <a:buSzPct val="100000"/>
              <a:buChar char="•"/>
            </a:pPr>
            <a:r>
              <a:rPr lang="en-US" sz="1500" dirty="0">
                <a:solidFill>
                  <a:srgbClr val="3D4757"/>
                </a:solidFill>
                <a:latin typeface="Arial" pitchFamily="34" charset="0"/>
                <a:ea typeface="Arial" pitchFamily="34" charset="-122"/>
                <a:cs typeface="Arial" pitchFamily="34" charset="-120"/>
              </a:rPr>
              <a:t>Brand-new biomass is the hardest case</a:t>
            </a:r>
            <a:endParaRPr lang="en-US" sz="1500" dirty="0"/>
          </a:p>
          <a:p>
            <a:pPr marL="228600" indent="-228600">
              <a:spcAft>
                <a:spcPts val="1000"/>
              </a:spcAft>
              <a:buSzPct val="100000"/>
              <a:buChar char="•"/>
            </a:pPr>
            <a:r>
              <a:rPr lang="en-US" sz="1500" dirty="0">
                <a:solidFill>
                  <a:srgbClr val="3D4757"/>
                </a:solidFill>
                <a:latin typeface="Arial" pitchFamily="34" charset="0"/>
                <a:ea typeface="Arial" pitchFamily="34" charset="-122"/>
                <a:cs typeface="Arial" pitchFamily="34" charset="-120"/>
              </a:rPr>
              <a:t>The Advisor warns when a biomass is unlike its training data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rtlCol="0" anchor="ctr"/>
          <a:lstStyle/>
          <a:p>
            <a:pPr indent="0" marL="0">
              <a:buNone/>
            </a:pPr>
            <a:r>
              <a:rPr lang="en-US" sz="1300" b="1" spc="200" kern="0" dirty="0">
                <a:solidFill>
                  <a:srgbClr val="2B6CD4"/>
                </a:solidFill>
                <a:latin typeface="Arial" pitchFamily="34" charset="0"/>
                <a:ea typeface="Arial" pitchFamily="34" charset="-122"/>
                <a:cs typeface="Arial" pitchFamily="34" charset="-120"/>
              </a:rPr>
              <a:t>SUMMARY</a:t>
            </a:r>
            <a:endParaRPr lang="en-US" sz="1300" dirty="0"/>
          </a:p>
        </p:txBody>
      </p:sp>
      <p:sp>
        <p:nvSpPr>
          <p:cNvPr id="3" name="Text 1"/>
          <p:cNvSpPr/>
          <p:nvPr/>
        </p:nvSpPr>
        <p:spPr>
          <a:xfrm>
            <a:off x="548640" y="731520"/>
            <a:ext cx="11064240" cy="777240"/>
          </a:xfrm>
          <a:prstGeom prst="rect">
            <a:avLst/>
          </a:prstGeom>
          <a:noFill/>
          <a:ln/>
        </p:spPr>
        <p:txBody>
          <a:bodyPr wrap="square" rtlCol="0" anchor="t"/>
          <a:lstStyle/>
          <a:p>
            <a:pPr indent="0" marL="0">
              <a:buNone/>
            </a:pPr>
            <a:r>
              <a:rPr lang="en-US" sz="3200" b="1" dirty="0">
                <a:solidFill>
                  <a:srgbClr val="1A2230"/>
                </a:solidFill>
                <a:latin typeface="Arial" pitchFamily="34" charset="0"/>
                <a:ea typeface="Arial" pitchFamily="34" charset="-122"/>
                <a:cs typeface="Arial" pitchFamily="34" charset="-120"/>
              </a:rPr>
              <a:t>What we achieved</a:t>
            </a:r>
            <a:endParaRPr lang="en-US" sz="3200" dirty="0"/>
          </a:p>
        </p:txBody>
      </p:sp>
      <p:sp>
        <p:nvSpPr>
          <p:cNvPr id="4" name="Shape 2"/>
          <p:cNvSpPr/>
          <p:nvPr/>
        </p:nvSpPr>
        <p:spPr>
          <a:xfrm>
            <a:off x="548640" y="1691640"/>
            <a:ext cx="11064240" cy="777240"/>
          </a:xfrm>
          <a:prstGeom prst="roundRect">
            <a:avLst>
              <a:gd name="adj" fmla="val 11765"/>
            </a:avLst>
          </a:prstGeom>
          <a:solidFill>
            <a:srgbClr val="F3F6F9"/>
          </a:solidFill>
          <a:ln w="12700">
            <a:solidFill>
              <a:srgbClr val="F3F6F9"/>
            </a:solidFill>
            <a:prstDash val="solid"/>
          </a:ln>
        </p:spPr>
      </p:sp>
      <p:sp>
        <p:nvSpPr>
          <p:cNvPr id="5" name="Text 3"/>
          <p:cNvSpPr/>
          <p:nvPr/>
        </p:nvSpPr>
        <p:spPr>
          <a:xfrm>
            <a:off x="822960" y="1691640"/>
            <a:ext cx="2377440" cy="777240"/>
          </a:xfrm>
          <a:prstGeom prst="rect">
            <a:avLst/>
          </a:prstGeom>
          <a:noFill/>
          <a:ln/>
        </p:spPr>
        <p:txBody>
          <a:bodyPr wrap="square" rtlCol="0" anchor="ctr"/>
          <a:lstStyle/>
          <a:p>
            <a:pPr indent="0" marL="0">
              <a:buNone/>
            </a:pPr>
            <a:r>
              <a:rPr lang="en-US" sz="2400" b="1" dirty="0">
                <a:solidFill>
                  <a:srgbClr val="2B6CD4"/>
                </a:solidFill>
                <a:latin typeface="Arial" pitchFamily="34" charset="0"/>
                <a:ea typeface="Arial" pitchFamily="34" charset="-122"/>
                <a:cs typeface="Arial" pitchFamily="34" charset="-120"/>
              </a:rPr>
              <a:t>R² 0.90</a:t>
            </a:r>
            <a:endParaRPr lang="en-US" sz="2400" dirty="0"/>
          </a:p>
        </p:txBody>
      </p:sp>
      <p:sp>
        <p:nvSpPr>
          <p:cNvPr id="6" name="Text 4"/>
          <p:cNvSpPr/>
          <p:nvPr/>
        </p:nvSpPr>
        <p:spPr>
          <a:xfrm>
            <a:off x="3291840" y="1691640"/>
            <a:ext cx="8138160" cy="777240"/>
          </a:xfrm>
          <a:prstGeom prst="rect">
            <a:avLst/>
          </a:prstGeom>
          <a:noFill/>
          <a:ln/>
        </p:spPr>
        <p:txBody>
          <a:bodyPr wrap="square" rtlCol="0" anchor="ctr"/>
          <a:lstStyle/>
          <a:p>
            <a:pPr indent="0" marL="0">
              <a:buNone/>
            </a:pPr>
            <a:r>
              <a:rPr lang="en-US" sz="1900" dirty="0">
                <a:solidFill>
                  <a:srgbClr val="1A2230"/>
                </a:solidFill>
                <a:latin typeface="Arial" pitchFamily="34" charset="0"/>
                <a:ea typeface="Arial" pitchFamily="34" charset="-122"/>
                <a:cs typeface="Arial" pitchFamily="34" charset="-120"/>
              </a:rPr>
              <a:t>Oxygen prediction as good as the published study</a:t>
            </a:r>
            <a:endParaRPr lang="en-US" sz="1900" dirty="0"/>
          </a:p>
        </p:txBody>
      </p:sp>
      <p:sp>
        <p:nvSpPr>
          <p:cNvPr id="7" name="Shape 5"/>
          <p:cNvSpPr/>
          <p:nvPr/>
        </p:nvSpPr>
        <p:spPr>
          <a:xfrm>
            <a:off x="548640" y="2651760"/>
            <a:ext cx="11064240" cy="777240"/>
          </a:xfrm>
          <a:prstGeom prst="roundRect">
            <a:avLst>
              <a:gd name="adj" fmla="val 11765"/>
            </a:avLst>
          </a:prstGeom>
          <a:solidFill>
            <a:srgbClr val="F3F6F9"/>
          </a:solidFill>
          <a:ln w="12700">
            <a:solidFill>
              <a:srgbClr val="F3F6F9"/>
            </a:solidFill>
            <a:prstDash val="solid"/>
          </a:ln>
        </p:spPr>
      </p:sp>
      <p:sp>
        <p:nvSpPr>
          <p:cNvPr id="8" name="Text 6"/>
          <p:cNvSpPr/>
          <p:nvPr/>
        </p:nvSpPr>
        <p:spPr>
          <a:xfrm>
            <a:off x="822960" y="2651760"/>
            <a:ext cx="2377440" cy="777240"/>
          </a:xfrm>
          <a:prstGeom prst="rect">
            <a:avLst/>
          </a:prstGeom>
          <a:noFill/>
          <a:ln/>
        </p:spPr>
        <p:txBody>
          <a:bodyPr wrap="square" rtlCol="0" anchor="ctr"/>
          <a:lstStyle/>
          <a:p>
            <a:pPr indent="0" marL="0">
              <a:buNone/>
            </a:pPr>
            <a:r>
              <a:rPr lang="en-US" sz="2400" b="1" dirty="0">
                <a:solidFill>
                  <a:srgbClr val="2B6CD4"/>
                </a:solidFill>
                <a:latin typeface="Arial" pitchFamily="34" charset="0"/>
                <a:ea typeface="Arial" pitchFamily="34" charset="-122"/>
                <a:cs typeface="Arial" pitchFamily="34" charset="-120"/>
              </a:rPr>
              <a:t>± 4 wt%</a:t>
            </a:r>
            <a:endParaRPr lang="en-US" sz="2400" dirty="0"/>
          </a:p>
        </p:txBody>
      </p:sp>
      <p:sp>
        <p:nvSpPr>
          <p:cNvPr id="9" name="Text 7"/>
          <p:cNvSpPr/>
          <p:nvPr/>
        </p:nvSpPr>
        <p:spPr>
          <a:xfrm>
            <a:off x="3291840" y="2651760"/>
            <a:ext cx="8138160" cy="777240"/>
          </a:xfrm>
          <a:prstGeom prst="rect">
            <a:avLst/>
          </a:prstGeom>
          <a:noFill/>
          <a:ln/>
        </p:spPr>
        <p:txBody>
          <a:bodyPr wrap="square" rtlCol="0" anchor="ctr"/>
          <a:lstStyle/>
          <a:p>
            <a:pPr indent="0" marL="0">
              <a:buNone/>
            </a:pPr>
            <a:r>
              <a:rPr lang="en-US" sz="1900" dirty="0">
                <a:solidFill>
                  <a:srgbClr val="1A2230"/>
                </a:solidFill>
                <a:latin typeface="Arial" pitchFamily="34" charset="0"/>
                <a:ea typeface="Arial" pitchFamily="34" charset="-122"/>
                <a:cs typeface="Arial" pitchFamily="34" charset="-120"/>
              </a:rPr>
              <a:t>Typical error in predicted oil yield</a:t>
            </a:r>
            <a:endParaRPr lang="en-US" sz="1900" dirty="0"/>
          </a:p>
        </p:txBody>
      </p:sp>
      <p:sp>
        <p:nvSpPr>
          <p:cNvPr id="10" name="Shape 8"/>
          <p:cNvSpPr/>
          <p:nvPr/>
        </p:nvSpPr>
        <p:spPr>
          <a:xfrm>
            <a:off x="548640" y="3611880"/>
            <a:ext cx="11064240" cy="777240"/>
          </a:xfrm>
          <a:prstGeom prst="roundRect">
            <a:avLst>
              <a:gd name="adj" fmla="val 11765"/>
            </a:avLst>
          </a:prstGeom>
          <a:solidFill>
            <a:srgbClr val="F3F6F9"/>
          </a:solidFill>
          <a:ln w="12700">
            <a:solidFill>
              <a:srgbClr val="F3F6F9"/>
            </a:solidFill>
            <a:prstDash val="solid"/>
          </a:ln>
        </p:spPr>
      </p:sp>
      <p:sp>
        <p:nvSpPr>
          <p:cNvPr id="11" name="Text 9"/>
          <p:cNvSpPr/>
          <p:nvPr/>
        </p:nvSpPr>
        <p:spPr>
          <a:xfrm>
            <a:off x="822960" y="3611880"/>
            <a:ext cx="2377440" cy="777240"/>
          </a:xfrm>
          <a:prstGeom prst="rect">
            <a:avLst/>
          </a:prstGeom>
          <a:noFill/>
          <a:ln/>
        </p:spPr>
        <p:txBody>
          <a:bodyPr wrap="square" rtlCol="0" anchor="ctr"/>
          <a:lstStyle/>
          <a:p>
            <a:pPr indent="0" marL="0">
              <a:buNone/>
            </a:pPr>
            <a:r>
              <a:rPr lang="en-US" sz="2400" b="1" dirty="0">
                <a:solidFill>
                  <a:srgbClr val="2B6CD4"/>
                </a:solidFill>
                <a:latin typeface="Arial" pitchFamily="34" charset="0"/>
                <a:ea typeface="Arial" pitchFamily="34" charset="-122"/>
                <a:cs typeface="Arial" pitchFamily="34" charset="-120"/>
              </a:rPr>
              <a:t>✓ Physics</a:t>
            </a:r>
            <a:endParaRPr lang="en-US" sz="2400" dirty="0"/>
          </a:p>
        </p:txBody>
      </p:sp>
      <p:sp>
        <p:nvSpPr>
          <p:cNvPr id="12" name="Text 10"/>
          <p:cNvSpPr/>
          <p:nvPr/>
        </p:nvSpPr>
        <p:spPr>
          <a:xfrm>
            <a:off x="3291840" y="3611880"/>
            <a:ext cx="8138160" cy="777240"/>
          </a:xfrm>
          <a:prstGeom prst="rect">
            <a:avLst/>
          </a:prstGeom>
          <a:noFill/>
          <a:ln/>
        </p:spPr>
        <p:txBody>
          <a:bodyPr wrap="square" rtlCol="0" anchor="ctr"/>
          <a:lstStyle/>
          <a:p>
            <a:pPr indent="0" marL="0">
              <a:buNone/>
            </a:pPr>
            <a:r>
              <a:rPr lang="en-US" sz="1900" dirty="0">
                <a:solidFill>
                  <a:srgbClr val="1A2230"/>
                </a:solidFill>
                <a:latin typeface="Arial" pitchFamily="34" charset="0"/>
                <a:ea typeface="Arial" pitchFamily="34" charset="-122"/>
                <a:cs typeface="Arial" pitchFamily="34" charset="-120"/>
              </a:rPr>
              <a:t>Model agrees with known pyrolysis chemistry</a:t>
            </a:r>
            <a:endParaRPr lang="en-US" sz="1900" dirty="0"/>
          </a:p>
        </p:txBody>
      </p:sp>
      <p:sp>
        <p:nvSpPr>
          <p:cNvPr id="13" name="Shape 11"/>
          <p:cNvSpPr/>
          <p:nvPr/>
        </p:nvSpPr>
        <p:spPr>
          <a:xfrm>
            <a:off x="548640" y="4572000"/>
            <a:ext cx="11064240" cy="777240"/>
          </a:xfrm>
          <a:prstGeom prst="roundRect">
            <a:avLst>
              <a:gd name="adj" fmla="val 11765"/>
            </a:avLst>
          </a:prstGeom>
          <a:solidFill>
            <a:srgbClr val="F3F6F9"/>
          </a:solidFill>
          <a:ln w="12700">
            <a:solidFill>
              <a:srgbClr val="F3F6F9"/>
            </a:solidFill>
            <a:prstDash val="solid"/>
          </a:ln>
        </p:spPr>
      </p:sp>
      <p:sp>
        <p:nvSpPr>
          <p:cNvPr id="14" name="Text 12"/>
          <p:cNvSpPr/>
          <p:nvPr/>
        </p:nvSpPr>
        <p:spPr>
          <a:xfrm>
            <a:off x="822960" y="4572000"/>
            <a:ext cx="2377440" cy="777240"/>
          </a:xfrm>
          <a:prstGeom prst="rect">
            <a:avLst/>
          </a:prstGeom>
          <a:noFill/>
          <a:ln/>
        </p:spPr>
        <p:txBody>
          <a:bodyPr wrap="square" rtlCol="0" anchor="ctr"/>
          <a:lstStyle/>
          <a:p>
            <a:pPr indent="0" marL="0">
              <a:buNone/>
            </a:pPr>
            <a:r>
              <a:rPr lang="en-US" sz="2400" b="1" dirty="0">
                <a:solidFill>
                  <a:srgbClr val="2B6CD4"/>
                </a:solidFill>
                <a:latin typeface="Arial" pitchFamily="34" charset="0"/>
                <a:ea typeface="Arial" pitchFamily="34" charset="-122"/>
                <a:cs typeface="Arial" pitchFamily="34" charset="-120"/>
              </a:rPr>
              <a:t>Web app</a:t>
            </a:r>
            <a:endParaRPr lang="en-US" sz="2400" dirty="0"/>
          </a:p>
        </p:txBody>
      </p:sp>
      <p:sp>
        <p:nvSpPr>
          <p:cNvPr id="15" name="Text 13"/>
          <p:cNvSpPr/>
          <p:nvPr/>
        </p:nvSpPr>
        <p:spPr>
          <a:xfrm>
            <a:off x="3291840" y="4572000"/>
            <a:ext cx="8138160" cy="777240"/>
          </a:xfrm>
          <a:prstGeom prst="rect">
            <a:avLst/>
          </a:prstGeom>
          <a:noFill/>
          <a:ln/>
        </p:spPr>
        <p:txBody>
          <a:bodyPr wrap="square" rtlCol="0" anchor="ctr"/>
          <a:lstStyle/>
          <a:p>
            <a:pPr indent="0" marL="0">
              <a:buNone/>
            </a:pPr>
            <a:r>
              <a:rPr lang="en-US" sz="1900" dirty="0">
                <a:solidFill>
                  <a:srgbClr val="1A2230"/>
                </a:solidFill>
                <a:latin typeface="Arial" pitchFamily="34" charset="0"/>
                <a:ea typeface="Arial" pitchFamily="34" charset="-122"/>
                <a:cs typeface="Arial" pitchFamily="34" charset="-120"/>
              </a:rPr>
              <a:t>Advisor recommends temperature and heating rate</a:t>
            </a:r>
            <a:endParaRPr lang="en-US" sz="1900" dirty="0"/>
          </a:p>
        </p:txBody>
      </p:sp>
      <p:sp>
        <p:nvSpPr>
          <p:cNvPr id="16" name="Text 14"/>
          <p:cNvSpPr/>
          <p:nvPr/>
        </p:nvSpPr>
        <p:spPr>
          <a:xfrm>
            <a:off x="548640" y="5623560"/>
            <a:ext cx="7315200" cy="548640"/>
          </a:xfrm>
          <a:prstGeom prst="rect">
            <a:avLst/>
          </a:prstGeom>
          <a:noFill/>
          <a:ln/>
        </p:spPr>
        <p:txBody>
          <a:bodyPr wrap="square" rtlCol="0" anchor="ctr"/>
          <a:lstStyle/>
          <a:p>
            <a:pPr indent="0" marL="0">
              <a:buNone/>
            </a:pPr>
            <a:r>
              <a:rPr lang="en-US" sz="2400" b="1" dirty="0">
                <a:solidFill>
                  <a:srgbClr val="1A2230"/>
                </a:solidFill>
                <a:latin typeface="Arial" pitchFamily="34" charset="0"/>
                <a:ea typeface="Arial" pitchFamily="34" charset="-122"/>
                <a:cs typeface="Arial" pitchFamily="34" charset="-120"/>
              </a:rPr>
              <a:t>Thank you — questions?</a:t>
            </a:r>
            <a:endParaRPr lang="en-US" sz="2400" dirty="0"/>
          </a:p>
        </p:txBody>
      </p:sp>
      <p:sp>
        <p:nvSpPr>
          <p:cNvPr id="17" name="Text 15"/>
          <p:cNvSpPr/>
          <p:nvPr/>
        </p:nvSpPr>
        <p:spPr>
          <a:xfrm>
            <a:off x="6583680" y="5715000"/>
            <a:ext cx="5029200" cy="411480"/>
          </a:xfrm>
          <a:prstGeom prst="rect">
            <a:avLst/>
          </a:prstGeom>
          <a:noFill/>
          <a:ln/>
        </p:spPr>
        <p:txBody>
          <a:bodyPr wrap="square" rtlCol="0" anchor="ctr"/>
          <a:lstStyle/>
          <a:p>
            <a:pPr algn="r" indent="0" marL="0">
              <a:buNone/>
            </a:pPr>
            <a:r>
              <a:rPr lang="en-US" sz="1200" dirty="0">
                <a:solidFill>
                  <a:srgbClr val="6B7686"/>
                </a:solidFill>
                <a:latin typeface="Arial" pitchFamily="34" charset="0"/>
                <a:ea typeface="Arial" pitchFamily="34" charset="-122"/>
                <a:cs typeface="Arial" pitchFamily="34" charset="-120"/>
              </a:rPr>
              <a:t>github.com/umasuthanpalaniappan/BioOil-Automation</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Pyrolysis Advisor — Results</dc:title>
  <dc:subject>PptxGenJS Presentation</dc:subject>
  <dc:creator>PptxGenJS</dc:creator>
  <cp:lastModifiedBy>PptxGenJS</cp:lastModifiedBy>
  <cp:revision>1</cp:revision>
  <dcterms:created xsi:type="dcterms:W3CDTF">2026-10-20T12:28:43Z</dcterms:created>
  <dcterms:modified xsi:type="dcterms:W3CDTF">2026-10-20T12:28:43Z</dcterms:modified>
</cp:coreProperties>
</file>