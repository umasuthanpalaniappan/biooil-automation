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943600" cy="5943600"/>
          </a:xfrm>
          <a:prstGeom prst="ellipse">
            <a:avLst/>
          </a:prstGeom>
          <a:solidFill>
            <a:srgbClr val="13312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365760"/>
            <a:ext cx="3840480" cy="3840480"/>
          </a:xfrm>
          <a:prstGeom prst="ellipse">
            <a:avLst/>
          </a:prstGeom>
          <a:solidFill>
            <a:srgbClr val="2F9E8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C97B3D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ENGINEERING  ·  AI / ML CAPSTONE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of Bio-Oil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Deoxygenation via Pyrolysis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and optimizing pyrolysis conditions to minimize bio-oil oxygen content (O/C ratio) — an ML pipeline and full-stack decision-support application.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context: 24AIM201 — Mechanics &amp; Fluidized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447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1  ·  2  ·  3  ·  4   (names TBD)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approach, relative to a typical “train a model, report R²”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916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6550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notebook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07568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that only lives in a Jupyter notebook is a dead end. This project ships it as a working FastAPI + React application anyone can actually use — real-time predictions, not a one-off script.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943600" y="150876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44768" y="16916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01968" y="16550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Multi-target, not single-target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44768" y="207568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literature models predict one property. This predicts O/C (primary) plus H/C, calorific value, and oil yield together, giving a fuller picture of product quality from one input set.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429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33924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not just a number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9808" y="381304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and Random Forest models expose a 95% confidence interval alongside every prediction — critical for engineering decisions, and rarely surfaced in similar student projects.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43600" y="324612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3429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3429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01968" y="33924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Chemistry-grounded explainability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44768" y="381304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attributions are translated into plain pyrolysis-chemistry language per prediction, not left as an abstract importance bar chart.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1663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166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07008" y="5129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messy data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49808" y="555040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compiled from multiple studies with heavy missingness. Every cleaning decision (imputation, dropped rows, kept outliers) is documented and justified, not hidden.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943600" y="498348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51663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9E86"/>
          </a:solidFill>
          <a:ln/>
        </p:spPr>
      </p:sp>
      <p:sp>
        <p:nvSpPr>
          <p:cNvPr id="33" name="Text 31"/>
          <p:cNvSpPr/>
          <p:nvPr/>
        </p:nvSpPr>
        <p:spPr>
          <a:xfrm>
            <a:off x="6144768" y="5166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01968" y="5129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optimization, not passive prediction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144768" y="555040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scenario-simulation engine searches condition combinations to actively find the feedstock/temperature/heating-rate combination that minimizes O/C — answering “what should I run?”, not just “what would happen?”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from raw literature data to a deployed application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755648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2F9E8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488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63824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56816" y="265176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13312C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6816" y="265176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56816" y="235915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64992" y="214884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2F9E8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64992" y="21488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4992" y="185623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73168" y="265176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13312C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265176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Tuning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235915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88352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81344" y="214884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2F9E8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81344" y="21488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81344" y="185623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96528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89520" y="265176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13312C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265176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235915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04704" y="2674620"/>
            <a:ext cx="201168" cy="0"/>
          </a:xfrm>
          <a:prstGeom prst="line">
            <a:avLst/>
          </a:prstGeom>
          <a:noFill/>
          <a:ln w="25400">
            <a:solidFill>
              <a:srgbClr val="C97B3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97696" y="214884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2F9E86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997696" y="21488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97696" y="185623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05872" y="265176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13312C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405872" y="265176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405872" y="235915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held-out test set is used only once per model, at the very end — every earlier decision (feature choice, hyperparameters) is made using 5-fold cross-validation on the training data alone, so reported accuracy numbers aren't optimistic.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F9E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  </a:t>
            </a:r>
            <a:pPr indent="0" marL="0">
              <a:buNone/>
            </a:pPr>
            <a:r>
              <a:rPr lang="en-US" sz="12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Lasso · Random Forest · XGBoost · LightGBM · Gaussian Process Regression · Neural Network (MLP)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 of Group Members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grouped by pipeline stage — final names to be filled in by the team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15184" cy="4160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4752" y="1874520"/>
            <a:ext cx="822960" cy="822960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8" name="Text 6"/>
          <p:cNvSpPr/>
          <p:nvPr/>
        </p:nvSpPr>
        <p:spPr>
          <a:xfrm>
            <a:off x="1444752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18211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and cleaned the literature dataset; ran exploratory analysis on distributions, missingness, and correlations; documented the imputation and outlier-handling strategy.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364992" y="1554480"/>
            <a:ext cx="2615184" cy="4160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1104" y="1874520"/>
            <a:ext cx="822960" cy="82296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104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02152" y="2834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2152" y="318211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preprocessing pipeline and feature engineering; trained and tuned all 7 models with 5-fold cross-validation; ran SHAP interpretability analysis and wrote the benchmark report.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615184" cy="4160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77456" y="1874520"/>
            <a:ext cx="822960" cy="822960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20" name="Text 18"/>
          <p:cNvSpPr/>
          <p:nvPr/>
        </p:nvSpPr>
        <p:spPr>
          <a:xfrm>
            <a:off x="7077456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18504" y="2834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18504" y="318211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the FastAPI service: prediction, batch, explainability, drift-check, and PDF-export endpoints; wired the trained models into a production-style model registry.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997696" y="1554480"/>
            <a:ext cx="2615184" cy="41605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93808" y="1874520"/>
            <a:ext cx="822960" cy="82296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26" name="Text 24"/>
          <p:cNvSpPr/>
          <p:nvPr/>
        </p:nvSpPr>
        <p:spPr>
          <a:xfrm>
            <a:off x="989380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34856" y="28346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34856" y="318211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98864" y="3611880"/>
            <a:ext cx="22128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React/TypeScript application (5 feature modules); integrated it with the backend API; configured Docker deployment and wrote setup documentation.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Impact &amp; Expected Outcome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outside the classroom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" cy="1188720"/>
          </a:xfrm>
          <a:prstGeom prst="roundRect">
            <a:avLst/>
          </a:prstGeom>
          <a:solidFill>
            <a:srgbClr val="2F9E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Bio-oil straight from a pyrolysis reactor is high-oxygen, acidic, and unstable — it needs expensive downstream upgrading before it's a usable fuel.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73152" cy="1188720"/>
          </a:xfrm>
          <a:prstGeom prst="roundRect">
            <a:avLst/>
          </a:prstGeom>
          <a:solidFill>
            <a:srgbClr val="2F9E8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angle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cleaning oxygen out after the fact, predict and tune reactor conditions to produce inherently lower-oxygen bio-oil from the start.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73152" cy="1188720"/>
          </a:xfrm>
          <a:prstGeom prst="roundRect">
            <a:avLst/>
          </a:prstGeom>
          <a:solidFill>
            <a:srgbClr val="2F9E8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Biofuel researchers and reactor operators screening feedstock/condition combinations — replacing slow, costly trial-and-error runs with an instant, data-backed estimate.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3312C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70992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595360" y="1709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O/C variation explained by the best model (test R²)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081528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3312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19125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95360" y="3191256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bio-oil properties per input (O/C + 3 secondary)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562856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3312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672584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595360" y="4672584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get a prediction, vs. hours/days for a physical 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Experiment: Hardware / Software / Simulation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computational project — no physical reactor was built or run for this stage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C97B3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57400"/>
            <a:ext cx="3566160" cy="320040"/>
          </a:xfrm>
          <a:prstGeom prst="rect">
            <a:avLst/>
          </a:prstGeom>
          <a:solidFill>
            <a:srgbClr val="C97B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used directly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pyrolysis reactor was operated for this project. All training data comes from previously published pyrolysis experiments compiled in the literature.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002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2F9E86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057400"/>
            <a:ext cx="3566160" cy="320040"/>
          </a:xfrm>
          <a:prstGeom prst="rect">
            <a:avLst/>
          </a:prstGeom>
          <a:solidFill>
            <a:srgbClr val="2F9E8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deliverable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971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scikit-learn, XGBoost, LightGBM, SHAP) for the ML pipeline; FastAPI for the backend; React + TypeScript for the frontend; Docker for deployment.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60020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3312C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057400"/>
            <a:ext cx="3566160" cy="320040"/>
          </a:xfrm>
          <a:prstGeom prst="rect">
            <a:avLst/>
          </a:prstGeom>
          <a:solidFill>
            <a:srgbClr val="13312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600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2971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Scenario Simulation module virtually tests many feedstock/condition combinations against the trained model, standing in for physical trial-and-error experimentation.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to Fluid Mechanics / Mechanical Systems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Pyrolysis reactors are fluidized-bed thermochemical systems — the ML inputs are mechanical/fluid-mechanics variables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F9E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73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60020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intra-particle heat and mass transfer — a core heat-transfer/fluid-mechanics concept determining how fast heat penetrates a biomass particle inside the reactor.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C97B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9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reactor fluid dynamics — how quickly the fluidized bed transfers heat to particles, which depends on bed fluidization velocity and gas-solid contact.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06424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85032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F9E8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85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6118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Pyrolysis Temperature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361188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thermodynamic boundary condition of the reactor, set by the fluidized-bed's heat supply and residence-time characteristics.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9525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90872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C97B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908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residence 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461772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gas velocity through the reactor — a direct fluidized-bed fluid mechanics parameter — and affects secondary cracking reactions that change bio-oil composition.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this ML model sits directly on top of the fluidized-bed reactor physics studied in Mechanics &amp; Fluidized Systems — it learns the statistical fingerprint of those fluid-mechanical and heat-transfer effects from real reactor data, rather than solving the underlying transport equations directly.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of Work Completed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 against the full planned scope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sourced, cleaned, and documented (320 → 232 usable rows for primary target)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645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60020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complete: missingness, distributions, correlation analysis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11226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4 chemistry-motivated engineered features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26364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11226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models trained and benchmarked with 5-fold CV + held-out test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624328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selected: XGBoost, test R² = 0.886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263640" y="2670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624328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+ partial dependence analysis complete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48640" y="31821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136392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backend: 11 endpoints, fully tested end-to-end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263640" y="31821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3136392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frontend: 5 feature modules, fully tested end-to-end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48640" y="36941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64845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configuration written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6263640" y="36941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F9E86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694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364845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3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documentation (README, benchmark &amp; interpretability reports)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312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status:  </a:t>
            </a:r>
            <a:pPr indent="0" marL="0">
              <a:buNone/>
            </a:pPr>
            <a:r>
              <a:rPr lang="en-US" sz="12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and application complete and verified end-to-end (live tested, not just written). Remaining work is polish and presentation prep.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project phases (Gantt-style) — dates to be finalized by the team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08960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2015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3415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5069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6469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08124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9524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1178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2578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74233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5633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507287" y="1554480"/>
            <a:ext cx="0" cy="4233672"/>
          </a:xfrm>
          <a:prstGeom prst="line">
            <a:avLst/>
          </a:prstGeom>
          <a:noFill/>
          <a:ln w="12700">
            <a:solidFill>
              <a:srgbClr val="E1DA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8687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6916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1746504"/>
            <a:ext cx="1479665" cy="310896"/>
          </a:xfrm>
          <a:prstGeom prst="roundRect">
            <a:avLst>
              <a:gd name="adj" fmla="val 11765"/>
            </a:avLst>
          </a:prstGeom>
          <a:solidFill>
            <a:srgbClr val="2F9E8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203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2015" y="2258568"/>
            <a:ext cx="1233055" cy="310896"/>
          </a:xfrm>
          <a:prstGeom prst="roundRect">
            <a:avLst>
              <a:gd name="adj" fmla="val 11765"/>
            </a:avLst>
          </a:prstGeom>
          <a:solidFill>
            <a:srgbClr val="2F9E8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157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Dev. &amp; Tuning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28458" y="2770632"/>
            <a:ext cx="1972887" cy="310896"/>
          </a:xfrm>
          <a:prstGeom prst="roundRect">
            <a:avLst>
              <a:gd name="adj" fmla="val 11765"/>
            </a:avLst>
          </a:prstGeom>
          <a:solidFill>
            <a:srgbClr val="C97B3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27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SHAP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54735" y="3282696"/>
            <a:ext cx="1233055" cy="310896"/>
          </a:xfrm>
          <a:prstGeom prst="roundRect">
            <a:avLst>
              <a:gd name="adj" fmla="val 11765"/>
            </a:avLst>
          </a:prstGeom>
          <a:solidFill>
            <a:srgbClr val="C97B3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398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08124" y="3794760"/>
            <a:ext cx="1726276" cy="310896"/>
          </a:xfrm>
          <a:prstGeom prst="roundRect">
            <a:avLst>
              <a:gd name="adj" fmla="val 11765"/>
            </a:avLst>
          </a:prstGeom>
          <a:solidFill>
            <a:srgbClr val="13312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519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94567" y="4306824"/>
            <a:ext cx="1726276" cy="310896"/>
          </a:xfrm>
          <a:prstGeom prst="roundRect">
            <a:avLst>
              <a:gd name="adj" fmla="val 11765"/>
            </a:avLst>
          </a:prstGeom>
          <a:solidFill>
            <a:srgbClr val="13312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7640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74233" y="4818888"/>
            <a:ext cx="1233055" cy="310896"/>
          </a:xfrm>
          <a:prstGeom prst="roundRect">
            <a:avLst>
              <a:gd name="adj" fmla="val 11765"/>
            </a:avLst>
          </a:prstGeom>
          <a:solidFill>
            <a:srgbClr val="6B7A7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2760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Review Prep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14065" y="5330952"/>
            <a:ext cx="1233055" cy="310896"/>
          </a:xfrm>
          <a:prstGeom prst="roundRect">
            <a:avLst>
              <a:gd name="adj" fmla="val 11765"/>
            </a:avLst>
          </a:prstGeom>
          <a:solidFill>
            <a:srgbClr val="6B7A7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F9E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core methods, and tools used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934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compiled biomass fast-pyrolysis dataset (multi-study literature compilation) — biomass composition, proximate/ultimate analysis, process conditions, and bio-oil product properties.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7627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Machine Learning in Python. Journal of Machine Learning Research, 12, 2825–2830.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98064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Guestrin, C. (2016). XGBoost: A Scalable Tree Boosting System. Proc. 22nd ACM SIGKDD.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19856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Ke, G. et al. (2017). LightGBM: A Highly Efficient Gradient Boosting Decision Tree. NeurIPS 2017.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416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Lundberg, S. M. &amp; Lee, S.-I. (2017). A Unified Approach to Interpreting Model Predictions (SHAP). NeurIPS 2017.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Rasmussen, C. E. &amp; Williams, C. K. I. (2006). Gaussian Processes for Machine Learning. MIT Press.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340096"/>
            <a:ext cx="91440" cy="91440"/>
          </a:xfrm>
          <a:prstGeom prst="ellipse">
            <a:avLst/>
          </a:prstGeom>
          <a:solidFill>
            <a:srgbClr val="C97B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8523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React, and Vite official documentation — application framework references.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1331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Bio-Oil Deoxygenation via Pyrolysis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2026-08-16T19:30:29Z</dcterms:created>
  <dcterms:modified xsi:type="dcterms:W3CDTF">2026-08-16T19:30:29Z</dcterms:modified>
</cp:coreProperties>
</file>