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Test R² on O/C — four scenarios</a:t>
            </a:r>
          </a:p>
        </c:rich>
      </c:tx>
      <c:layout/>
      <c:overlay val="0"/>
    </c:title>
    <c:autoTitleDeleted val="0"/>
    <c:plotArea>
      <c:layout/>
      <c:barChart>
        <c:barDir val="col"/>
        <c:grouping val="clustered"/>
        <c:varyColors val="0"/>
        <c:ser>
          <c:idx val="0"/>
          <c:order val="0"/>
          <c:tx>
            <c:strRef>
              <c:f>Sheet1!$B$1</c:f>
              <c:strCache>
                <c:ptCount val="1"/>
                <c:pt idx="0">
                  <c:v>Test R²</c:v>
                </c:pt>
              </c:strCache>
            </c:strRef>
          </c:tx>
          <c:spPr>
            <a:solidFill>
              <a:srgbClr val="B85042"/>
            </a:solidFill>
            <a:effectLst/>
          </c:spPr>
          <c:invertIfNegative val="0"/>
          <c:dLbls>
            <c:numFmt formatCode="#,##0" sourceLinked="0"/>
            <c:txPr>
              <a:bodyPr/>
              <a:lstStyle/>
              <a:p>
                <a:pPr>
                  <a:defRPr b="0" i="0" strike="noStrike" sz="1100" u="none">
                    <a:solidFill>
                      <a:srgbClr val="1B2420"/>
                    </a:solidFill>
                    <a:latin typeface="Arial"/>
                  </a:defRPr>
                </a:pPr>
              </a:p>
            </c:txPr>
            <c:showLegendKey val="0"/>
            <c:showVal val="1"/>
            <c:showCatName val="0"/>
            <c:showSerName val="0"/>
            <c:showPercent val="0"/>
            <c:showBubbleSize val="0"/>
            <c:showLeaderLines val="0"/>
          </c:dLbls>
          <c:dPt>
            <c:idx val="0"/>
            <c:invertIfNegative val="0"/>
            <c:bubble3D val="0"/>
            <c:spPr>
              <a:solidFill>
                <a:srgbClr val="B85042"/>
              </a:solidFill>
              <a:effectLst/>
            </c:spPr>
          </c:dPt>
          <c:dPt>
            <c:idx val="1"/>
            <c:invertIfNegative val="0"/>
            <c:bubble3D val="0"/>
            <c:spPr>
              <a:solidFill>
                <a:srgbClr val="5B6864"/>
              </a:solidFill>
              <a:effectLst/>
            </c:spPr>
          </c:dPt>
          <c:dPt>
            <c:idx val="2"/>
            <c:invertIfNegative val="0"/>
            <c:bubble3D val="0"/>
            <c:spPr>
              <a:solidFill>
                <a:srgbClr val="C97B3D"/>
              </a:solidFill>
              <a:effectLst/>
            </c:spPr>
          </c:dPt>
          <c:dPt>
            <c:idx val="3"/>
            <c:invertIfNegative val="0"/>
            <c:bubble3D val="0"/>
            <c:spPr>
              <a:solidFill>
                <a:srgbClr val="2F9E86"/>
              </a:solidFill>
              <a:effectLst/>
            </c:spPr>
          </c:dPt>
          <c:cat>
            <c:multiLvlStrRef>
              <c:f>Sheet1!$A$2:$A$5</c:f>
              <c:multiLvlStrCache>
                <c:ptCount val="4"/>
                <c:lvl>
                  <c:pt idx="0">
                    <c:v>Physics
equations
alone
(no ML)</c:v>
                  </c:pt>
                  <c:pt idx="1">
                    <c:v>ML alone
(no physics
features)</c:v>
                  </c:pt>
                  <c:pt idx="2">
                    <c:v>Hybrid:
physics + ML
(first pass)</c:v>
                  </c:pt>
                  <c:pt idx="3">
                    <c:v>Hybrid:
physics + ML
(expanded)</c:v>
                  </c:pt>
                </c:lvl>
              </c:multiLvlStrCache>
            </c:multiLvlStrRef>
          </c:cat>
          <c:val>
            <c:numRef>
              <c:f>Sheet1!$B$2:$B$5</c:f>
              <c:numCache>
                <c:formatCode>General</c:formatCode>
                <c:ptCount val="4"/>
                <c:pt idx="0">
                  <c:v>0.03</c:v>
                </c:pt>
                <c:pt idx="1">
                  <c:v>0.886</c:v>
                </c:pt>
                <c:pt idx="2">
                  <c:v>0.891</c:v>
                </c:pt>
                <c:pt idx="3">
                  <c:v>0.9</c:v>
                </c:pt>
              </c:numCache>
            </c:numRef>
          </c:val>
        </c:ser>
        <c:dLbls>
          <c:numFmt formatCode="#,##0" sourceLinked="0"/>
          <c:txPr>
            <a:bodyPr/>
            <a:lstStyle/>
            <a:p>
              <a:pPr>
                <a:defRPr b="0" i="0" strike="noStrike" sz="1100" u="none">
                  <a:solidFill>
                    <a:srgbClr val="1B242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B242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1DAC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B242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1E"/>
        </a:solidFill>
      </p:bgPr>
    </p:bg>
    <p:spTree>
      <p:nvGrpSpPr>
        <p:cNvPr id="1" name=""/>
        <p:cNvGrpSpPr/>
        <p:nvPr/>
      </p:nvGrpSpPr>
      <p:grpSpPr>
        <a:xfrm>
          <a:off x="0" y="0"/>
          <a:ext cx="0" cy="0"/>
          <a:chOff x="0" y="0"/>
          <a:chExt cx="0" cy="0"/>
        </a:xfrm>
      </p:grpSpPr>
      <p:sp>
        <p:nvSpPr>
          <p:cNvPr id="2" name="Shape 0"/>
          <p:cNvSpPr/>
          <p:nvPr/>
        </p:nvSpPr>
        <p:spPr>
          <a:xfrm>
            <a:off x="8869680" y="-1463040"/>
            <a:ext cx="5943600" cy="5943600"/>
          </a:xfrm>
          <a:prstGeom prst="ellipse">
            <a:avLst/>
          </a:prstGeom>
          <a:solidFill>
            <a:srgbClr val="13312C"/>
          </a:solidFill>
          <a:ln/>
        </p:spPr>
      </p:sp>
      <p:sp>
        <p:nvSpPr>
          <p:cNvPr id="3" name="Shape 1"/>
          <p:cNvSpPr/>
          <p:nvPr/>
        </p:nvSpPr>
        <p:spPr>
          <a:xfrm>
            <a:off x="9784080" y="-365760"/>
            <a:ext cx="3840480" cy="3840480"/>
          </a:xfrm>
          <a:prstGeom prst="ellipse">
            <a:avLst/>
          </a:prstGeom>
          <a:solidFill>
            <a:srgbClr val="2F9E86">
              <a:alpha val="22000"/>
            </a:srgbClr>
          </a:solidFill>
          <a:ln/>
        </p:spPr>
      </p:sp>
      <p:sp>
        <p:nvSpPr>
          <p:cNvPr id="4" name="Shape 2"/>
          <p:cNvSpPr/>
          <p:nvPr/>
        </p:nvSpPr>
        <p:spPr>
          <a:xfrm>
            <a:off x="-1645920" y="4206240"/>
            <a:ext cx="4754880" cy="4754880"/>
          </a:xfrm>
          <a:prstGeom prst="ellipse">
            <a:avLst/>
          </a:prstGeom>
          <a:solidFill>
            <a:srgbClr val="C97B3D">
              <a:alpha val="14000"/>
            </a:srgbClr>
          </a:solidFill>
          <a:ln/>
        </p:spPr>
      </p:sp>
      <p:sp>
        <p:nvSpPr>
          <p:cNvPr id="5" name="Text 3"/>
          <p:cNvSpPr/>
          <p:nvPr/>
        </p:nvSpPr>
        <p:spPr>
          <a:xfrm>
            <a:off x="822960" y="1508760"/>
            <a:ext cx="8229600" cy="365760"/>
          </a:xfrm>
          <a:prstGeom prst="rect">
            <a:avLst/>
          </a:prstGeom>
          <a:noFill/>
          <a:ln/>
        </p:spPr>
        <p:txBody>
          <a:bodyPr wrap="square" rtlCol="0" anchor="ctr"/>
          <a:lstStyle/>
          <a:p>
            <a:pPr indent="0" marL="0">
              <a:buNone/>
            </a:pPr>
            <a:r>
              <a:rPr lang="en-US" sz="1250" b="1" spc="200" kern="0" dirty="0">
                <a:solidFill>
                  <a:srgbClr val="2F9E86"/>
                </a:solidFill>
                <a:latin typeface="Calibri" pitchFamily="34" charset="0"/>
                <a:ea typeface="Calibri" pitchFamily="34" charset="-122"/>
                <a:cs typeface="Calibri" pitchFamily="34" charset="-120"/>
              </a:rPr>
              <a:t>CHEMICAL ENGINEERING  ·  PHYSICS-INFORMED MACHINE LEARNING</a:t>
            </a:r>
            <a:endParaRPr lang="en-US" sz="1250" dirty="0"/>
          </a:p>
        </p:txBody>
      </p:sp>
      <p:sp>
        <p:nvSpPr>
          <p:cNvPr id="6" name="Text 4"/>
          <p:cNvSpPr/>
          <p:nvPr/>
        </p:nvSpPr>
        <p:spPr>
          <a:xfrm>
            <a:off x="777240" y="1965960"/>
            <a:ext cx="9144000" cy="1828800"/>
          </a:xfrm>
          <a:prstGeom prst="rect">
            <a:avLst/>
          </a:prstGeom>
          <a:noFill/>
          <a:ln/>
        </p:spPr>
        <p:txBody>
          <a:bodyPr wrap="square"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Physics-Informed Modeling of</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Bio-Oil Pyrolysis Deoxygenation</a:t>
            </a:r>
            <a:endParaRPr lang="en-US" sz="3800" dirty="0"/>
          </a:p>
        </p:txBody>
      </p:sp>
      <p:sp>
        <p:nvSpPr>
          <p:cNvPr id="7" name="Text 5"/>
          <p:cNvSpPr/>
          <p:nvPr/>
        </p:nvSpPr>
        <p:spPr>
          <a:xfrm>
            <a:off x="822960" y="3794760"/>
            <a:ext cx="8412480" cy="777240"/>
          </a:xfrm>
          <a:prstGeom prst="rect">
            <a:avLst/>
          </a:prstGeom>
          <a:noFill/>
          <a:ln/>
        </p:spPr>
        <p:txBody>
          <a:bodyPr wrap="square" rtlCol="0" anchor="ctr"/>
          <a:lstStyle/>
          <a:p>
            <a:pPr indent="0" marL="0">
              <a:buNone/>
            </a:pPr>
            <a:r>
              <a:rPr lang="en-US" sz="1450" i="1" dirty="0">
                <a:solidFill>
                  <a:srgbClr val="D7E4E1"/>
                </a:solidFill>
                <a:latin typeface="Calibri" pitchFamily="34" charset="0"/>
                <a:ea typeface="Calibri" pitchFamily="34" charset="-122"/>
                <a:cs typeface="Calibri" pitchFamily="34" charset="-120"/>
              </a:rPr>
              <a:t>Model progress review: governing equations used, why each was chosen, their measured impact on accuracy, and the data sources behind this work.</a:t>
            </a:r>
            <a:endParaRPr lang="en-US" sz="1450" dirty="0"/>
          </a:p>
        </p:txBody>
      </p:sp>
      <p:sp>
        <p:nvSpPr>
          <p:cNvPr id="8" name="Text 6"/>
          <p:cNvSpPr/>
          <p:nvPr/>
        </p:nvSpPr>
        <p:spPr>
          <a:xfrm>
            <a:off x="822960" y="6035040"/>
            <a:ext cx="7315200" cy="320040"/>
          </a:xfrm>
          <a:prstGeom prst="rect">
            <a:avLst/>
          </a:prstGeom>
          <a:noFill/>
          <a:ln/>
        </p:spPr>
        <p:txBody>
          <a:bodyPr wrap="square" rtlCol="0" anchor="ctr"/>
          <a:lstStyle/>
          <a:p>
            <a:pPr indent="0" marL="0">
              <a:buNone/>
            </a:pPr>
            <a:r>
              <a:rPr lang="en-US" sz="1200" dirty="0">
                <a:solidFill>
                  <a:srgbClr val="9FB3AE"/>
                </a:solidFill>
                <a:latin typeface="Calibri" pitchFamily="34" charset="0"/>
                <a:ea typeface="Calibri" pitchFamily="34" charset="-122"/>
                <a:cs typeface="Calibri" pitchFamily="34" charset="-120"/>
              </a:rPr>
              <a:t>Course context: 24AIM201 — Mechanics &amp; Fluidized Systems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1</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1B2420"/>
                </a:solidFill>
                <a:latin typeface="Cambria" pitchFamily="34" charset="0"/>
                <a:ea typeface="Cambria" pitchFamily="34" charset="-122"/>
                <a:cs typeface="Cambria" pitchFamily="34" charset="-120"/>
              </a:rPr>
              <a:t>Where We Are</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5B6864"/>
                </a:solidFill>
                <a:latin typeface="Calibri" pitchFamily="34" charset="0"/>
                <a:ea typeface="Calibri" pitchFamily="34" charset="-122"/>
                <a:cs typeface="Calibri" pitchFamily="34" charset="-120"/>
              </a:rPr>
              <a:t>This review focuses only on the predictive model — data, physics, and performance</a:t>
            </a:r>
            <a:endParaRPr lang="en-US" sz="1250" dirty="0"/>
          </a:p>
        </p:txBody>
      </p:sp>
      <p:sp>
        <p:nvSpPr>
          <p:cNvPr id="6" name="Shape 4"/>
          <p:cNvSpPr/>
          <p:nvPr/>
        </p:nvSpPr>
        <p:spPr>
          <a:xfrm>
            <a:off x="548640" y="1417320"/>
            <a:ext cx="10881360" cy="1005840"/>
          </a:xfrm>
          <a:prstGeom prst="roundRect">
            <a:avLst>
              <a:gd name="adj" fmla="val 6364"/>
            </a:avLst>
          </a:prstGeom>
          <a:solidFill>
            <a:srgbClr val="FFFFFF"/>
          </a:solidFill>
          <a:ln/>
          <a:effectLst>
            <a:outerShdw sx="100000" sy="100000" kx="0" ky="0" algn="bl" rotWithShape="0" blurRad="63500" dist="25400" dir="5400000">
              <a:srgbClr val="000000">
                <a:alpha val="10000"/>
              </a:srgbClr>
            </a:outerShdw>
          </a:effectLst>
        </p:spPr>
      </p:sp>
      <p:sp>
        <p:nvSpPr>
          <p:cNvPr id="7" name="Shape 5"/>
          <p:cNvSpPr/>
          <p:nvPr/>
        </p:nvSpPr>
        <p:spPr>
          <a:xfrm>
            <a:off x="749808" y="1581912"/>
            <a:ext cx="1828800" cy="676656"/>
          </a:xfrm>
          <a:prstGeom prst="roundRect">
            <a:avLst>
              <a:gd name="adj" fmla="val 6757"/>
            </a:avLst>
          </a:prstGeom>
          <a:solidFill>
            <a:srgbClr val="13312C"/>
          </a:solidFill>
          <a:ln/>
        </p:spPr>
      </p:sp>
      <p:sp>
        <p:nvSpPr>
          <p:cNvPr id="8" name="Text 6"/>
          <p:cNvSpPr/>
          <p:nvPr/>
        </p:nvSpPr>
        <p:spPr>
          <a:xfrm>
            <a:off x="749808" y="1581912"/>
            <a:ext cx="1828800" cy="67665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GOAL</a:t>
            </a:r>
            <a:endParaRPr lang="en-US" sz="1250" dirty="0"/>
          </a:p>
        </p:txBody>
      </p:sp>
      <p:sp>
        <p:nvSpPr>
          <p:cNvPr id="9" name="Text 7"/>
          <p:cNvSpPr/>
          <p:nvPr/>
        </p:nvSpPr>
        <p:spPr>
          <a:xfrm>
            <a:off x="2788920" y="1499616"/>
            <a:ext cx="8458200" cy="841248"/>
          </a:xfrm>
          <a:prstGeom prst="rect">
            <a:avLst/>
          </a:prstGeom>
          <a:noFill/>
          <a:ln/>
        </p:spPr>
        <p:txBody>
          <a:bodyPr wrap="square" rtlCol="0" anchor="ctr"/>
          <a:lstStyle/>
          <a:p>
            <a:pPr indent="0" marL="0">
              <a:lnSpc>
                <a:spcPts val="1600"/>
              </a:lnSpc>
              <a:buNone/>
            </a:pPr>
            <a:r>
              <a:rPr lang="en-US" sz="1250" dirty="0">
                <a:solidFill>
                  <a:srgbClr val="1B2420"/>
                </a:solidFill>
                <a:latin typeface="Calibri" pitchFamily="34" charset="0"/>
                <a:ea typeface="Calibri" pitchFamily="34" charset="-122"/>
                <a:cs typeface="Calibri" pitchFamily="34" charset="-120"/>
              </a:rPr>
              <a:t>Predict bio-oil O/C ratio (oxygen-to-carbon) from feedstock composition and pyrolysis conditions — lower O/C means better-quality bio-oil, requiring less downstream upgrading.</a:t>
            </a:r>
            <a:endParaRPr lang="en-US" sz="1250" dirty="0"/>
          </a:p>
        </p:txBody>
      </p:sp>
      <p:sp>
        <p:nvSpPr>
          <p:cNvPr id="10" name="Shape 8"/>
          <p:cNvSpPr/>
          <p:nvPr/>
        </p:nvSpPr>
        <p:spPr>
          <a:xfrm>
            <a:off x="548640" y="2587752"/>
            <a:ext cx="10881360" cy="1005840"/>
          </a:xfrm>
          <a:prstGeom prst="roundRect">
            <a:avLst>
              <a:gd name="adj" fmla="val 6364"/>
            </a:avLst>
          </a:prstGeom>
          <a:solidFill>
            <a:srgbClr val="FFFFFF"/>
          </a:solidFill>
          <a:ln/>
          <a:effectLst>
            <a:outerShdw sx="100000" sy="100000" kx="0" ky="0" algn="bl" rotWithShape="0" blurRad="63500" dist="25400" dir="5400000">
              <a:srgbClr val="000000">
                <a:alpha val="10000"/>
              </a:srgbClr>
            </a:outerShdw>
          </a:effectLst>
        </p:spPr>
      </p:sp>
      <p:sp>
        <p:nvSpPr>
          <p:cNvPr id="11" name="Shape 9"/>
          <p:cNvSpPr/>
          <p:nvPr/>
        </p:nvSpPr>
        <p:spPr>
          <a:xfrm>
            <a:off x="749808" y="2752344"/>
            <a:ext cx="1828800" cy="676656"/>
          </a:xfrm>
          <a:prstGeom prst="roundRect">
            <a:avLst>
              <a:gd name="adj" fmla="val 6757"/>
            </a:avLst>
          </a:prstGeom>
          <a:solidFill>
            <a:srgbClr val="13312C"/>
          </a:solidFill>
          <a:ln/>
        </p:spPr>
      </p:sp>
      <p:sp>
        <p:nvSpPr>
          <p:cNvPr id="12" name="Text 10"/>
          <p:cNvSpPr/>
          <p:nvPr/>
        </p:nvSpPr>
        <p:spPr>
          <a:xfrm>
            <a:off x="749808" y="2752344"/>
            <a:ext cx="1828800" cy="67665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APPROACH</a:t>
            </a:r>
            <a:endParaRPr lang="en-US" sz="1250" dirty="0"/>
          </a:p>
        </p:txBody>
      </p:sp>
      <p:sp>
        <p:nvSpPr>
          <p:cNvPr id="13" name="Text 11"/>
          <p:cNvSpPr/>
          <p:nvPr/>
        </p:nvSpPr>
        <p:spPr>
          <a:xfrm>
            <a:off x="2788920" y="2670048"/>
            <a:ext cx="8458200" cy="841248"/>
          </a:xfrm>
          <a:prstGeom prst="rect">
            <a:avLst/>
          </a:prstGeom>
          <a:noFill/>
          <a:ln/>
        </p:spPr>
        <p:txBody>
          <a:bodyPr wrap="square" rtlCol="0" anchor="ctr"/>
          <a:lstStyle/>
          <a:p>
            <a:pPr indent="0" marL="0">
              <a:lnSpc>
                <a:spcPts val="1600"/>
              </a:lnSpc>
              <a:buNone/>
            </a:pPr>
            <a:r>
              <a:rPr lang="en-US" sz="1250" dirty="0">
                <a:solidFill>
                  <a:srgbClr val="1B2420"/>
                </a:solidFill>
                <a:latin typeface="Calibri" pitchFamily="34" charset="0"/>
                <a:ea typeface="Calibri" pitchFamily="34" charset="-122"/>
                <a:cs typeface="Calibri" pitchFamily="34" charset="-120"/>
              </a:rPr>
              <a:t>A hybrid grey-box model: real pyrolysis reaction equations computed as features, feeding a tree-ensemble learner — not a pure black-box regressor.</a:t>
            </a:r>
            <a:endParaRPr lang="en-US" sz="1250" dirty="0"/>
          </a:p>
        </p:txBody>
      </p:sp>
      <p:sp>
        <p:nvSpPr>
          <p:cNvPr id="14" name="Shape 12"/>
          <p:cNvSpPr/>
          <p:nvPr/>
        </p:nvSpPr>
        <p:spPr>
          <a:xfrm>
            <a:off x="548640" y="3758184"/>
            <a:ext cx="10881360" cy="1005840"/>
          </a:xfrm>
          <a:prstGeom prst="roundRect">
            <a:avLst>
              <a:gd name="adj" fmla="val 6364"/>
            </a:avLst>
          </a:prstGeom>
          <a:solidFill>
            <a:srgbClr val="FFFFFF"/>
          </a:solidFill>
          <a:ln/>
          <a:effectLst>
            <a:outerShdw sx="100000" sy="100000" kx="0" ky="0" algn="bl" rotWithShape="0" blurRad="63500" dist="25400" dir="5400000">
              <a:srgbClr val="000000">
                <a:alpha val="10000"/>
              </a:srgbClr>
            </a:outerShdw>
          </a:effectLst>
        </p:spPr>
      </p:sp>
      <p:sp>
        <p:nvSpPr>
          <p:cNvPr id="15" name="Shape 13"/>
          <p:cNvSpPr/>
          <p:nvPr/>
        </p:nvSpPr>
        <p:spPr>
          <a:xfrm>
            <a:off x="749808" y="3922776"/>
            <a:ext cx="1828800" cy="676656"/>
          </a:xfrm>
          <a:prstGeom prst="roundRect">
            <a:avLst>
              <a:gd name="adj" fmla="val 6757"/>
            </a:avLst>
          </a:prstGeom>
          <a:solidFill>
            <a:srgbClr val="2F9E86"/>
          </a:solidFill>
          <a:ln/>
        </p:spPr>
      </p:sp>
      <p:sp>
        <p:nvSpPr>
          <p:cNvPr id="16" name="Text 14"/>
          <p:cNvSpPr/>
          <p:nvPr/>
        </p:nvSpPr>
        <p:spPr>
          <a:xfrm>
            <a:off x="749808" y="3922776"/>
            <a:ext cx="1828800" cy="67665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CURRENT RESULT</a:t>
            </a:r>
            <a:endParaRPr lang="en-US" sz="1250" dirty="0"/>
          </a:p>
        </p:txBody>
      </p:sp>
      <p:sp>
        <p:nvSpPr>
          <p:cNvPr id="17" name="Text 15"/>
          <p:cNvSpPr/>
          <p:nvPr/>
        </p:nvSpPr>
        <p:spPr>
          <a:xfrm>
            <a:off x="2788920" y="3840480"/>
            <a:ext cx="8458200" cy="841248"/>
          </a:xfrm>
          <a:prstGeom prst="rect">
            <a:avLst/>
          </a:prstGeom>
          <a:noFill/>
          <a:ln/>
        </p:spPr>
        <p:txBody>
          <a:bodyPr wrap="square" rtlCol="0" anchor="ctr"/>
          <a:lstStyle/>
          <a:p>
            <a:pPr indent="0" marL="0">
              <a:lnSpc>
                <a:spcPts val="1600"/>
              </a:lnSpc>
              <a:buNone/>
            </a:pPr>
            <a:r>
              <a:rPr lang="en-US" sz="1250" dirty="0">
                <a:solidFill>
                  <a:srgbClr val="1B2420"/>
                </a:solidFill>
                <a:latin typeface="Calibri" pitchFamily="34" charset="0"/>
                <a:ea typeface="Calibri" pitchFamily="34" charset="-122"/>
                <a:cs typeface="Calibri" pitchFamily="34" charset="-120"/>
              </a:rPr>
              <a:t>Best model (XGBoost) explains 90.0% of O/C variation on data it has never seen (test R² = 0.900), up from 88.6% before any physics was added.</a:t>
            </a:r>
            <a:endParaRPr lang="en-US" sz="1250" dirty="0"/>
          </a:p>
        </p:txBody>
      </p:sp>
      <p:sp>
        <p:nvSpPr>
          <p:cNvPr id="18" name="Shape 16"/>
          <p:cNvSpPr/>
          <p:nvPr/>
        </p:nvSpPr>
        <p:spPr>
          <a:xfrm>
            <a:off x="548640" y="4928616"/>
            <a:ext cx="10881360" cy="1005840"/>
          </a:xfrm>
          <a:prstGeom prst="roundRect">
            <a:avLst>
              <a:gd name="adj" fmla="val 6364"/>
            </a:avLst>
          </a:prstGeom>
          <a:solidFill>
            <a:srgbClr val="FFFFFF"/>
          </a:solidFill>
          <a:ln/>
          <a:effectLst>
            <a:outerShdw sx="100000" sy="100000" kx="0" ky="0" algn="bl" rotWithShape="0" blurRad="63500" dist="25400" dir="5400000">
              <a:srgbClr val="000000">
                <a:alpha val="10000"/>
              </a:srgbClr>
            </a:outerShdw>
          </a:effectLst>
        </p:spPr>
      </p:sp>
      <p:sp>
        <p:nvSpPr>
          <p:cNvPr id="19" name="Shape 17"/>
          <p:cNvSpPr/>
          <p:nvPr/>
        </p:nvSpPr>
        <p:spPr>
          <a:xfrm>
            <a:off x="749808" y="5093208"/>
            <a:ext cx="1828800" cy="676656"/>
          </a:xfrm>
          <a:prstGeom prst="roundRect">
            <a:avLst>
              <a:gd name="adj" fmla="val 6757"/>
            </a:avLst>
          </a:prstGeom>
          <a:solidFill>
            <a:srgbClr val="13312C"/>
          </a:solidFill>
          <a:ln/>
        </p:spPr>
      </p:sp>
      <p:sp>
        <p:nvSpPr>
          <p:cNvPr id="20" name="Text 18"/>
          <p:cNvSpPr/>
          <p:nvPr/>
        </p:nvSpPr>
        <p:spPr>
          <a:xfrm>
            <a:off x="749808" y="5093208"/>
            <a:ext cx="1828800" cy="67665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THIS REVIEW COVERS</a:t>
            </a:r>
            <a:endParaRPr lang="en-US" sz="1250" dirty="0"/>
          </a:p>
        </p:txBody>
      </p:sp>
      <p:sp>
        <p:nvSpPr>
          <p:cNvPr id="21" name="Text 19"/>
          <p:cNvSpPr/>
          <p:nvPr/>
        </p:nvSpPr>
        <p:spPr>
          <a:xfrm>
            <a:off x="2788920" y="5010912"/>
            <a:ext cx="8458200" cy="841248"/>
          </a:xfrm>
          <a:prstGeom prst="rect">
            <a:avLst/>
          </a:prstGeom>
          <a:noFill/>
          <a:ln/>
        </p:spPr>
        <p:txBody>
          <a:bodyPr wrap="square" rtlCol="0" anchor="ctr"/>
          <a:lstStyle/>
          <a:p>
            <a:pPr indent="0" marL="0">
              <a:lnSpc>
                <a:spcPts val="1600"/>
              </a:lnSpc>
              <a:buNone/>
            </a:pPr>
            <a:r>
              <a:rPr lang="en-US" sz="1250" dirty="0">
                <a:solidFill>
                  <a:srgbClr val="1B2420"/>
                </a:solidFill>
                <a:latin typeface="Calibri" pitchFamily="34" charset="0"/>
                <a:ea typeface="Calibri" pitchFamily="34" charset="-122"/>
                <a:cs typeface="Calibri" pitchFamily="34" charset="-120"/>
              </a:rPr>
              <a:t>(1) the automation pipeline, (2) datasets used and searched, (3) every governing equation and why it was chosen, (4) its measured impact, (5) literature cross-checks.</a:t>
            </a:r>
            <a:endParaRPr lang="en-US" sz="1250" dirty="0"/>
          </a:p>
        </p:txBody>
      </p:sp>
      <p:sp>
        <p:nvSpPr>
          <p:cNvPr id="22" name="Text 20"/>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23" name="Text 21"/>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2</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1B2420"/>
                </a:solidFill>
                <a:latin typeface="Cambria" pitchFamily="34" charset="0"/>
                <a:ea typeface="Cambria" pitchFamily="34" charset="-122"/>
                <a:cs typeface="Cambria" pitchFamily="34" charset="-120"/>
              </a:rPr>
              <a:t>The Automation Pipeline</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5B6864"/>
                </a:solidFill>
                <a:latin typeface="Calibri" pitchFamily="34" charset="0"/>
                <a:ea typeface="Calibri" pitchFamily="34" charset="-122"/>
                <a:cs typeface="Calibri" pitchFamily="34" charset="-120"/>
              </a:rPr>
              <a:t>Raw literature data to a trained, validated model — fully scripted, reproducible end to end</a:t>
            </a:r>
            <a:endParaRPr lang="en-US" sz="1250" dirty="0"/>
          </a:p>
        </p:txBody>
      </p:sp>
      <p:sp>
        <p:nvSpPr>
          <p:cNvPr id="6" name="Shape 4"/>
          <p:cNvSpPr/>
          <p:nvPr/>
        </p:nvSpPr>
        <p:spPr>
          <a:xfrm>
            <a:off x="1947672" y="2446020"/>
            <a:ext cx="173736" cy="0"/>
          </a:xfrm>
          <a:prstGeom prst="line">
            <a:avLst/>
          </a:prstGeom>
          <a:noFill/>
          <a:ln w="25400">
            <a:solidFill>
              <a:srgbClr val="C97B3D"/>
            </a:solidFill>
            <a:prstDash val="solid"/>
            <a:tailEnd type="triangle"/>
          </a:ln>
        </p:spPr>
      </p:sp>
      <p:sp>
        <p:nvSpPr>
          <p:cNvPr id="7" name="Shape 5"/>
          <p:cNvSpPr/>
          <p:nvPr/>
        </p:nvSpPr>
        <p:spPr>
          <a:xfrm>
            <a:off x="502920" y="1691640"/>
            <a:ext cx="1444752" cy="1508760"/>
          </a:xfrm>
          <a:prstGeom prst="roundRect">
            <a:avLst>
              <a:gd name="adj" fmla="val 5696"/>
            </a:avLst>
          </a:prstGeom>
          <a:solidFill>
            <a:srgbClr val="13312C"/>
          </a:solidFill>
          <a:ln/>
          <a:effectLst>
            <a:outerShdw sx="100000" sy="100000" kx="0" ky="0" algn="bl" rotWithShape="0" blurRad="63500" dist="25400" dir="5400000">
              <a:srgbClr val="000000">
                <a:alpha val="15000"/>
              </a:srgbClr>
            </a:outerShdw>
          </a:effectLst>
        </p:spPr>
      </p:sp>
      <p:sp>
        <p:nvSpPr>
          <p:cNvPr id="8" name="Text 6"/>
          <p:cNvSpPr/>
          <p:nvPr/>
        </p:nvSpPr>
        <p:spPr>
          <a:xfrm>
            <a:off x="576072" y="1801368"/>
            <a:ext cx="1298448" cy="502920"/>
          </a:xfrm>
          <a:prstGeom prst="rect">
            <a:avLst/>
          </a:prstGeom>
          <a:noFill/>
          <a:ln/>
        </p:spPr>
        <p:txBody>
          <a:bodyPr wrap="square" rtlCol="0" anchor="ctr"/>
          <a:lstStyle/>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Raw Data</a:t>
            </a:r>
            <a:endParaRPr lang="en-US" sz="1100" dirty="0"/>
          </a:p>
        </p:txBody>
      </p:sp>
      <p:sp>
        <p:nvSpPr>
          <p:cNvPr id="9" name="Text 7"/>
          <p:cNvSpPr/>
          <p:nvPr/>
        </p:nvSpPr>
        <p:spPr>
          <a:xfrm>
            <a:off x="594360" y="2286000"/>
            <a:ext cx="1261872" cy="822960"/>
          </a:xfrm>
          <a:prstGeom prst="rect">
            <a:avLst/>
          </a:prstGeom>
          <a:noFill/>
          <a:ln/>
        </p:spPr>
        <p:txBody>
          <a:bodyPr wrap="square" rtlCol="0" anchor="t"/>
          <a:lstStyle/>
          <a:p>
            <a:pPr algn="ctr" indent="0" marL="0">
              <a:lnSpc>
                <a:spcPts val="1050"/>
              </a:lnSpc>
              <a:buNone/>
            </a:pPr>
            <a:r>
              <a:rPr lang="en-US" sz="850" dirty="0">
                <a:solidFill>
                  <a:srgbClr val="D7E4E1"/>
                </a:solidFill>
                <a:latin typeface="Calibri" pitchFamily="34" charset="0"/>
                <a:ea typeface="Calibri" pitchFamily="34" charset="-122"/>
                <a:cs typeface="Calibri" pitchFamily="34" charset="-120"/>
              </a:rPr>
              <a:t>320 rows, compiled from published pyrolysis studies</a:t>
            </a:r>
            <a:endParaRPr lang="en-US" sz="850" dirty="0"/>
          </a:p>
        </p:txBody>
      </p:sp>
      <p:sp>
        <p:nvSpPr>
          <p:cNvPr id="10" name="Shape 8"/>
          <p:cNvSpPr/>
          <p:nvPr/>
        </p:nvSpPr>
        <p:spPr>
          <a:xfrm>
            <a:off x="3566160" y="2446020"/>
            <a:ext cx="173736" cy="0"/>
          </a:xfrm>
          <a:prstGeom prst="line">
            <a:avLst/>
          </a:prstGeom>
          <a:noFill/>
          <a:ln w="25400">
            <a:solidFill>
              <a:srgbClr val="C97B3D"/>
            </a:solidFill>
            <a:prstDash val="solid"/>
            <a:tailEnd type="triangle"/>
          </a:ln>
        </p:spPr>
      </p:sp>
      <p:sp>
        <p:nvSpPr>
          <p:cNvPr id="11" name="Shape 9"/>
          <p:cNvSpPr/>
          <p:nvPr/>
        </p:nvSpPr>
        <p:spPr>
          <a:xfrm>
            <a:off x="2121408" y="1691640"/>
            <a:ext cx="1444752" cy="1508760"/>
          </a:xfrm>
          <a:prstGeom prst="roundRect">
            <a:avLst>
              <a:gd name="adj" fmla="val 5696"/>
            </a:avLst>
          </a:prstGeom>
          <a:solidFill>
            <a:srgbClr val="13312C"/>
          </a:solidFill>
          <a:ln/>
          <a:effectLst>
            <a:outerShdw sx="100000" sy="100000" kx="0" ky="0" algn="bl" rotWithShape="0" blurRad="63500" dist="25400" dir="5400000">
              <a:srgbClr val="000000">
                <a:alpha val="15000"/>
              </a:srgbClr>
            </a:outerShdw>
          </a:effectLst>
        </p:spPr>
      </p:sp>
      <p:sp>
        <p:nvSpPr>
          <p:cNvPr id="12" name="Text 10"/>
          <p:cNvSpPr/>
          <p:nvPr/>
        </p:nvSpPr>
        <p:spPr>
          <a:xfrm>
            <a:off x="2194560" y="1801368"/>
            <a:ext cx="1298448" cy="502920"/>
          </a:xfrm>
          <a:prstGeom prst="rect">
            <a:avLst/>
          </a:prstGeom>
          <a:noFill/>
          <a:ln/>
        </p:spPr>
        <p:txBody>
          <a:bodyPr wrap="square" rtlCol="0" anchor="ctr"/>
          <a:lstStyle/>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Integrity</a:t>
            </a:r>
            <a:endParaRPr lang="en-US" sz="1100" dirty="0"/>
          </a:p>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13" name="Text 11"/>
          <p:cNvSpPr/>
          <p:nvPr/>
        </p:nvSpPr>
        <p:spPr>
          <a:xfrm>
            <a:off x="2212848" y="2286000"/>
            <a:ext cx="1261872" cy="822960"/>
          </a:xfrm>
          <a:prstGeom prst="rect">
            <a:avLst/>
          </a:prstGeom>
          <a:noFill/>
          <a:ln/>
        </p:spPr>
        <p:txBody>
          <a:bodyPr wrap="square" rtlCol="0" anchor="t"/>
          <a:lstStyle/>
          <a:p>
            <a:pPr algn="ctr" indent="0" marL="0">
              <a:lnSpc>
                <a:spcPts val="1050"/>
              </a:lnSpc>
              <a:buNone/>
            </a:pPr>
            <a:r>
              <a:rPr lang="en-US" sz="850" dirty="0">
                <a:solidFill>
                  <a:srgbClr val="D7E4E1"/>
                </a:solidFill>
                <a:latin typeface="Calibri" pitchFamily="34" charset="0"/>
                <a:ea typeface="Calibri" pitchFamily="34" charset="-122"/>
                <a:cs typeface="Calibri" pitchFamily="34" charset="-120"/>
              </a:rPr>
              <a:t>Drop rows with impossible elemental sums (data-entry errors)</a:t>
            </a:r>
            <a:endParaRPr lang="en-US" sz="850" dirty="0"/>
          </a:p>
        </p:txBody>
      </p:sp>
      <p:sp>
        <p:nvSpPr>
          <p:cNvPr id="14" name="Shape 12"/>
          <p:cNvSpPr/>
          <p:nvPr/>
        </p:nvSpPr>
        <p:spPr>
          <a:xfrm>
            <a:off x="5184648" y="2446020"/>
            <a:ext cx="173736" cy="0"/>
          </a:xfrm>
          <a:prstGeom prst="line">
            <a:avLst/>
          </a:prstGeom>
          <a:noFill/>
          <a:ln w="25400">
            <a:solidFill>
              <a:srgbClr val="C97B3D"/>
            </a:solidFill>
            <a:prstDash val="solid"/>
            <a:tailEnd type="triangle"/>
          </a:ln>
        </p:spPr>
      </p:sp>
      <p:sp>
        <p:nvSpPr>
          <p:cNvPr id="15" name="Shape 13"/>
          <p:cNvSpPr/>
          <p:nvPr/>
        </p:nvSpPr>
        <p:spPr>
          <a:xfrm>
            <a:off x="3739896" y="1691640"/>
            <a:ext cx="1444752" cy="1508760"/>
          </a:xfrm>
          <a:prstGeom prst="roundRect">
            <a:avLst>
              <a:gd name="adj" fmla="val 5696"/>
            </a:avLst>
          </a:prstGeom>
          <a:solidFill>
            <a:srgbClr val="13312C"/>
          </a:solidFill>
          <a:ln/>
          <a:effectLst>
            <a:outerShdw sx="100000" sy="100000" kx="0" ky="0" algn="bl" rotWithShape="0" blurRad="63500" dist="25400" dir="5400000">
              <a:srgbClr val="000000">
                <a:alpha val="15000"/>
              </a:srgbClr>
            </a:outerShdw>
          </a:effectLst>
        </p:spPr>
      </p:sp>
      <p:sp>
        <p:nvSpPr>
          <p:cNvPr id="16" name="Text 14"/>
          <p:cNvSpPr/>
          <p:nvPr/>
        </p:nvSpPr>
        <p:spPr>
          <a:xfrm>
            <a:off x="3813048" y="1801368"/>
            <a:ext cx="1298448" cy="502920"/>
          </a:xfrm>
          <a:prstGeom prst="rect">
            <a:avLst/>
          </a:prstGeom>
          <a:noFill/>
          <a:ln/>
        </p:spPr>
        <p:txBody>
          <a:bodyPr wrap="square" rtlCol="0" anchor="ctr"/>
          <a:lstStyle/>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Missing-Value</a:t>
            </a:r>
            <a:endParaRPr lang="en-US" sz="1100" dirty="0"/>
          </a:p>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Handling</a:t>
            </a:r>
            <a:endParaRPr lang="en-US" sz="1100" dirty="0"/>
          </a:p>
        </p:txBody>
      </p:sp>
      <p:sp>
        <p:nvSpPr>
          <p:cNvPr id="17" name="Text 15"/>
          <p:cNvSpPr/>
          <p:nvPr/>
        </p:nvSpPr>
        <p:spPr>
          <a:xfrm>
            <a:off x="3831336" y="2286000"/>
            <a:ext cx="1261872" cy="822960"/>
          </a:xfrm>
          <a:prstGeom prst="rect">
            <a:avLst/>
          </a:prstGeom>
          <a:noFill/>
          <a:ln/>
        </p:spPr>
        <p:txBody>
          <a:bodyPr wrap="square" rtlCol="0" anchor="t"/>
          <a:lstStyle/>
          <a:p>
            <a:pPr algn="ctr" indent="0" marL="0">
              <a:lnSpc>
                <a:spcPts val="1050"/>
              </a:lnSpc>
              <a:buNone/>
            </a:pPr>
            <a:r>
              <a:rPr lang="en-US" sz="850" dirty="0">
                <a:solidFill>
                  <a:srgbClr val="D7E4E1"/>
                </a:solidFill>
                <a:latin typeface="Calibri" pitchFamily="34" charset="0"/>
                <a:ea typeface="Calibri" pitchFamily="34" charset="-122"/>
                <a:cs typeface="Calibri" pitchFamily="34" charset="-120"/>
              </a:rPr>
              <a:t>Median imputation, fit on training folds only</a:t>
            </a:r>
            <a:endParaRPr lang="en-US" sz="850" dirty="0"/>
          </a:p>
        </p:txBody>
      </p:sp>
      <p:sp>
        <p:nvSpPr>
          <p:cNvPr id="18" name="Shape 16"/>
          <p:cNvSpPr/>
          <p:nvPr/>
        </p:nvSpPr>
        <p:spPr>
          <a:xfrm>
            <a:off x="6803136" y="2446020"/>
            <a:ext cx="173736" cy="0"/>
          </a:xfrm>
          <a:prstGeom prst="line">
            <a:avLst/>
          </a:prstGeom>
          <a:noFill/>
          <a:ln w="25400">
            <a:solidFill>
              <a:srgbClr val="C97B3D"/>
            </a:solidFill>
            <a:prstDash val="solid"/>
            <a:tailEnd type="triangle"/>
          </a:ln>
        </p:spPr>
      </p:sp>
      <p:sp>
        <p:nvSpPr>
          <p:cNvPr id="19" name="Shape 17"/>
          <p:cNvSpPr/>
          <p:nvPr/>
        </p:nvSpPr>
        <p:spPr>
          <a:xfrm>
            <a:off x="5358384" y="1691640"/>
            <a:ext cx="1444752" cy="1508760"/>
          </a:xfrm>
          <a:prstGeom prst="roundRect">
            <a:avLst>
              <a:gd name="adj" fmla="val 5696"/>
            </a:avLst>
          </a:prstGeom>
          <a:solidFill>
            <a:srgbClr val="13312C"/>
          </a:solidFill>
          <a:ln/>
          <a:effectLst>
            <a:outerShdw sx="100000" sy="100000" kx="0" ky="0" algn="bl" rotWithShape="0" blurRad="63500" dist="25400" dir="5400000">
              <a:srgbClr val="000000">
                <a:alpha val="15000"/>
              </a:srgbClr>
            </a:outerShdw>
          </a:effectLst>
        </p:spPr>
      </p:sp>
      <p:sp>
        <p:nvSpPr>
          <p:cNvPr id="20" name="Text 18"/>
          <p:cNvSpPr/>
          <p:nvPr/>
        </p:nvSpPr>
        <p:spPr>
          <a:xfrm>
            <a:off x="5431536" y="1801368"/>
            <a:ext cx="1298448" cy="502920"/>
          </a:xfrm>
          <a:prstGeom prst="rect">
            <a:avLst/>
          </a:prstGeom>
          <a:noFill/>
          <a:ln/>
        </p:spPr>
        <p:txBody>
          <a:bodyPr wrap="square" rtlCol="0" anchor="ctr"/>
          <a:lstStyle/>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Engineering</a:t>
            </a:r>
            <a:endParaRPr lang="en-US" sz="1100" dirty="0"/>
          </a:p>
        </p:txBody>
      </p:sp>
      <p:sp>
        <p:nvSpPr>
          <p:cNvPr id="21" name="Text 19"/>
          <p:cNvSpPr/>
          <p:nvPr/>
        </p:nvSpPr>
        <p:spPr>
          <a:xfrm>
            <a:off x="5449824" y="2286000"/>
            <a:ext cx="1261872" cy="822960"/>
          </a:xfrm>
          <a:prstGeom prst="rect">
            <a:avLst/>
          </a:prstGeom>
          <a:noFill/>
          <a:ln/>
        </p:spPr>
        <p:txBody>
          <a:bodyPr wrap="square" rtlCol="0" anchor="t"/>
          <a:lstStyle/>
          <a:p>
            <a:pPr algn="ctr" indent="0" marL="0">
              <a:lnSpc>
                <a:spcPts val="1050"/>
              </a:lnSpc>
              <a:buNone/>
            </a:pPr>
            <a:r>
              <a:rPr lang="en-US" sz="850" dirty="0">
                <a:solidFill>
                  <a:srgbClr val="D7E4E1"/>
                </a:solidFill>
                <a:latin typeface="Calibri" pitchFamily="34" charset="0"/>
                <a:ea typeface="Calibri" pitchFamily="34" charset="-122"/>
                <a:cs typeface="Calibri" pitchFamily="34" charset="-120"/>
              </a:rPr>
              <a:t>Chemical ratios + physics-derived reaction features</a:t>
            </a:r>
            <a:endParaRPr lang="en-US" sz="850" dirty="0"/>
          </a:p>
        </p:txBody>
      </p:sp>
      <p:sp>
        <p:nvSpPr>
          <p:cNvPr id="22" name="Shape 20"/>
          <p:cNvSpPr/>
          <p:nvPr/>
        </p:nvSpPr>
        <p:spPr>
          <a:xfrm>
            <a:off x="8421624" y="2446020"/>
            <a:ext cx="173736" cy="0"/>
          </a:xfrm>
          <a:prstGeom prst="line">
            <a:avLst/>
          </a:prstGeom>
          <a:noFill/>
          <a:ln w="25400">
            <a:solidFill>
              <a:srgbClr val="C97B3D"/>
            </a:solidFill>
            <a:prstDash val="solid"/>
            <a:tailEnd type="triangle"/>
          </a:ln>
        </p:spPr>
      </p:sp>
      <p:sp>
        <p:nvSpPr>
          <p:cNvPr id="23" name="Shape 21"/>
          <p:cNvSpPr/>
          <p:nvPr/>
        </p:nvSpPr>
        <p:spPr>
          <a:xfrm>
            <a:off x="6976872" y="1691640"/>
            <a:ext cx="1444752" cy="1508760"/>
          </a:xfrm>
          <a:prstGeom prst="roundRect">
            <a:avLst>
              <a:gd name="adj" fmla="val 5696"/>
            </a:avLst>
          </a:prstGeom>
          <a:solidFill>
            <a:srgbClr val="13312C"/>
          </a:solidFill>
          <a:ln/>
          <a:effectLst>
            <a:outerShdw sx="100000" sy="100000" kx="0" ky="0" algn="bl" rotWithShape="0" blurRad="63500" dist="25400" dir="5400000">
              <a:srgbClr val="000000">
                <a:alpha val="15000"/>
              </a:srgbClr>
            </a:outerShdw>
          </a:effectLst>
        </p:spPr>
      </p:sp>
      <p:sp>
        <p:nvSpPr>
          <p:cNvPr id="24" name="Text 22"/>
          <p:cNvSpPr/>
          <p:nvPr/>
        </p:nvSpPr>
        <p:spPr>
          <a:xfrm>
            <a:off x="7050024" y="1801368"/>
            <a:ext cx="1298448" cy="502920"/>
          </a:xfrm>
          <a:prstGeom prst="rect">
            <a:avLst/>
          </a:prstGeom>
          <a:noFill/>
          <a:ln/>
        </p:spPr>
        <p:txBody>
          <a:bodyPr wrap="square" rtlCol="0" anchor="ctr"/>
          <a:lstStyle/>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Model Training</a:t>
            </a:r>
            <a:endParaRPr lang="en-US" sz="1100" dirty="0"/>
          </a:p>
        </p:txBody>
      </p:sp>
      <p:sp>
        <p:nvSpPr>
          <p:cNvPr id="25" name="Text 23"/>
          <p:cNvSpPr/>
          <p:nvPr/>
        </p:nvSpPr>
        <p:spPr>
          <a:xfrm>
            <a:off x="7068312" y="2286000"/>
            <a:ext cx="1261872" cy="822960"/>
          </a:xfrm>
          <a:prstGeom prst="rect">
            <a:avLst/>
          </a:prstGeom>
          <a:noFill/>
          <a:ln/>
        </p:spPr>
        <p:txBody>
          <a:bodyPr wrap="square" rtlCol="0" anchor="t"/>
          <a:lstStyle/>
          <a:p>
            <a:pPr algn="ctr" indent="0" marL="0">
              <a:lnSpc>
                <a:spcPts val="1050"/>
              </a:lnSpc>
              <a:buNone/>
            </a:pPr>
            <a:r>
              <a:rPr lang="en-US" sz="850" dirty="0">
                <a:solidFill>
                  <a:srgbClr val="D7E4E1"/>
                </a:solidFill>
                <a:latin typeface="Calibri" pitchFamily="34" charset="0"/>
                <a:ea typeface="Calibri" pitchFamily="34" charset="-122"/>
                <a:cs typeface="Calibri" pitchFamily="34" charset="-120"/>
              </a:rPr>
              <a:t>7 algorithms x 5-fold CV grid search on training split</a:t>
            </a:r>
            <a:endParaRPr lang="en-US" sz="850" dirty="0"/>
          </a:p>
        </p:txBody>
      </p:sp>
      <p:sp>
        <p:nvSpPr>
          <p:cNvPr id="26" name="Shape 24"/>
          <p:cNvSpPr/>
          <p:nvPr/>
        </p:nvSpPr>
        <p:spPr>
          <a:xfrm>
            <a:off x="10040112" y="2446020"/>
            <a:ext cx="173736" cy="0"/>
          </a:xfrm>
          <a:prstGeom prst="line">
            <a:avLst/>
          </a:prstGeom>
          <a:noFill/>
          <a:ln w="25400">
            <a:solidFill>
              <a:srgbClr val="C97B3D"/>
            </a:solidFill>
            <a:prstDash val="solid"/>
            <a:tailEnd type="triangle"/>
          </a:ln>
        </p:spPr>
      </p:sp>
      <p:sp>
        <p:nvSpPr>
          <p:cNvPr id="27" name="Shape 25"/>
          <p:cNvSpPr/>
          <p:nvPr/>
        </p:nvSpPr>
        <p:spPr>
          <a:xfrm>
            <a:off x="8595360" y="1691640"/>
            <a:ext cx="1444752" cy="1508760"/>
          </a:xfrm>
          <a:prstGeom prst="roundRect">
            <a:avLst>
              <a:gd name="adj" fmla="val 5696"/>
            </a:avLst>
          </a:prstGeom>
          <a:solidFill>
            <a:srgbClr val="13312C"/>
          </a:solidFill>
          <a:ln/>
          <a:effectLst>
            <a:outerShdw sx="100000" sy="100000" kx="0" ky="0" algn="bl" rotWithShape="0" blurRad="63500" dist="25400" dir="5400000">
              <a:srgbClr val="000000">
                <a:alpha val="15000"/>
              </a:srgbClr>
            </a:outerShdw>
          </a:effectLst>
        </p:spPr>
      </p:sp>
      <p:sp>
        <p:nvSpPr>
          <p:cNvPr id="28" name="Text 26"/>
          <p:cNvSpPr/>
          <p:nvPr/>
        </p:nvSpPr>
        <p:spPr>
          <a:xfrm>
            <a:off x="8668512" y="1801368"/>
            <a:ext cx="1298448" cy="502920"/>
          </a:xfrm>
          <a:prstGeom prst="rect">
            <a:avLst/>
          </a:prstGeom>
          <a:noFill/>
          <a:ln/>
        </p:spPr>
        <p:txBody>
          <a:bodyPr wrap="square" rtlCol="0" anchor="ctr"/>
          <a:lstStyle/>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Held-Out Test</a:t>
            </a:r>
            <a:endParaRPr lang="en-US" sz="1100" dirty="0"/>
          </a:p>
        </p:txBody>
      </p:sp>
      <p:sp>
        <p:nvSpPr>
          <p:cNvPr id="29" name="Text 27"/>
          <p:cNvSpPr/>
          <p:nvPr/>
        </p:nvSpPr>
        <p:spPr>
          <a:xfrm>
            <a:off x="8686800" y="2286000"/>
            <a:ext cx="1261872" cy="822960"/>
          </a:xfrm>
          <a:prstGeom prst="rect">
            <a:avLst/>
          </a:prstGeom>
          <a:noFill/>
          <a:ln/>
        </p:spPr>
        <p:txBody>
          <a:bodyPr wrap="square" rtlCol="0" anchor="t"/>
          <a:lstStyle/>
          <a:p>
            <a:pPr algn="ctr" indent="0" marL="0">
              <a:lnSpc>
                <a:spcPts val="1050"/>
              </a:lnSpc>
              <a:buNone/>
            </a:pPr>
            <a:r>
              <a:rPr lang="en-US" sz="850" dirty="0">
                <a:solidFill>
                  <a:srgbClr val="D7E4E1"/>
                </a:solidFill>
                <a:latin typeface="Calibri" pitchFamily="34" charset="0"/>
                <a:ea typeface="Calibri" pitchFamily="34" charset="-122"/>
                <a:cs typeface="Calibri" pitchFamily="34" charset="-120"/>
              </a:rPr>
              <a:t>Every model scored once, on data never used for tuning</a:t>
            </a:r>
            <a:endParaRPr lang="en-US" sz="850" dirty="0"/>
          </a:p>
        </p:txBody>
      </p:sp>
      <p:sp>
        <p:nvSpPr>
          <p:cNvPr id="30" name="Shape 28"/>
          <p:cNvSpPr/>
          <p:nvPr/>
        </p:nvSpPr>
        <p:spPr>
          <a:xfrm>
            <a:off x="10213848" y="1691640"/>
            <a:ext cx="1444752" cy="1508760"/>
          </a:xfrm>
          <a:prstGeom prst="roundRect">
            <a:avLst>
              <a:gd name="adj" fmla="val 5696"/>
            </a:avLst>
          </a:prstGeom>
          <a:solidFill>
            <a:srgbClr val="2F9E86"/>
          </a:solidFill>
          <a:ln/>
          <a:effectLst>
            <a:outerShdw sx="100000" sy="100000" kx="0" ky="0" algn="bl" rotWithShape="0" blurRad="63500" dist="25400" dir="5400000">
              <a:srgbClr val="000000">
                <a:alpha val="15000"/>
              </a:srgbClr>
            </a:outerShdw>
          </a:effectLst>
        </p:spPr>
      </p:sp>
      <p:sp>
        <p:nvSpPr>
          <p:cNvPr id="31" name="Text 29"/>
          <p:cNvSpPr/>
          <p:nvPr/>
        </p:nvSpPr>
        <p:spPr>
          <a:xfrm>
            <a:off x="10287000" y="1801368"/>
            <a:ext cx="1298448" cy="502920"/>
          </a:xfrm>
          <a:prstGeom prst="rect">
            <a:avLst/>
          </a:prstGeom>
          <a:noFill/>
          <a:ln/>
        </p:spPr>
        <p:txBody>
          <a:bodyPr wrap="square" rtlCol="0" anchor="ctr"/>
          <a:lstStyle/>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Best Model</a:t>
            </a:r>
            <a:endParaRPr lang="en-US" sz="1100" dirty="0"/>
          </a:p>
          <a:p>
            <a:pPr algn="ctr" indent="0" marL="0">
              <a:lnSpc>
                <a:spcPts val="1200"/>
              </a:lnSpc>
              <a:buNone/>
            </a:pPr>
            <a:r>
              <a:rPr lang="en-US" sz="1100" b="1" dirty="0">
                <a:solidFill>
                  <a:srgbClr val="FFFFFF"/>
                </a:solidFill>
                <a:latin typeface="Calibri" pitchFamily="34" charset="0"/>
                <a:ea typeface="Calibri" pitchFamily="34" charset="-122"/>
                <a:cs typeface="Calibri" pitchFamily="34" charset="-120"/>
              </a:rPr>
              <a:t>Selected</a:t>
            </a:r>
            <a:endParaRPr lang="en-US" sz="1100" dirty="0"/>
          </a:p>
        </p:txBody>
      </p:sp>
      <p:sp>
        <p:nvSpPr>
          <p:cNvPr id="32" name="Text 30"/>
          <p:cNvSpPr/>
          <p:nvPr/>
        </p:nvSpPr>
        <p:spPr>
          <a:xfrm>
            <a:off x="10305288" y="2286000"/>
            <a:ext cx="1261872" cy="822960"/>
          </a:xfrm>
          <a:prstGeom prst="rect">
            <a:avLst/>
          </a:prstGeom>
          <a:noFill/>
          <a:ln/>
        </p:spPr>
        <p:txBody>
          <a:bodyPr wrap="square" rtlCol="0" anchor="t"/>
          <a:lstStyle/>
          <a:p>
            <a:pPr algn="ctr" indent="0" marL="0">
              <a:lnSpc>
                <a:spcPts val="1050"/>
              </a:lnSpc>
              <a:buNone/>
            </a:pPr>
            <a:r>
              <a:rPr lang="en-US" sz="850" dirty="0">
                <a:solidFill>
                  <a:srgbClr val="D7E4E1"/>
                </a:solidFill>
                <a:latin typeface="Calibri" pitchFamily="34" charset="0"/>
                <a:ea typeface="Calibri" pitchFamily="34" charset="-122"/>
                <a:cs typeface="Calibri" pitchFamily="34" charset="-120"/>
              </a:rPr>
              <a:t>XGBoost — highest test R², used for predictions</a:t>
            </a:r>
            <a:endParaRPr lang="en-US" sz="850" dirty="0"/>
          </a:p>
        </p:txBody>
      </p:sp>
      <p:sp>
        <p:nvSpPr>
          <p:cNvPr id="33" name="Shape 31"/>
          <p:cNvSpPr/>
          <p:nvPr/>
        </p:nvSpPr>
        <p:spPr>
          <a:xfrm>
            <a:off x="548640" y="3703320"/>
            <a:ext cx="11064240" cy="777240"/>
          </a:xfrm>
          <a:prstGeom prst="roundRect">
            <a:avLst>
              <a:gd name="adj" fmla="val 9412"/>
            </a:avLst>
          </a:prstGeom>
          <a:solidFill>
            <a:srgbClr val="FFFFFF"/>
          </a:solidFill>
          <a:ln w="12700">
            <a:solidFill>
              <a:srgbClr val="2F9E86"/>
            </a:solidFill>
            <a:prstDash val="solid"/>
          </a:ln>
        </p:spPr>
      </p:sp>
      <p:sp>
        <p:nvSpPr>
          <p:cNvPr id="34" name="Text 32"/>
          <p:cNvSpPr/>
          <p:nvPr/>
        </p:nvSpPr>
        <p:spPr>
          <a:xfrm>
            <a:off x="777240" y="3703320"/>
            <a:ext cx="10607040" cy="777240"/>
          </a:xfrm>
          <a:prstGeom prst="rect">
            <a:avLst/>
          </a:prstGeom>
          <a:noFill/>
          <a:ln/>
        </p:spPr>
        <p:txBody>
          <a:bodyPr wrap="square" rtlCol="0" anchor="ctr"/>
          <a:lstStyle/>
          <a:p>
            <a:pPr indent="0" marL="0">
              <a:buNone/>
            </a:pPr>
            <a:r>
              <a:rPr lang="en-US" sz="1200" b="1" dirty="0">
                <a:solidFill>
                  <a:srgbClr val="1B2420"/>
                </a:solidFill>
                <a:latin typeface="Calibri" pitchFamily="34" charset="0"/>
                <a:ea typeface="Calibri" pitchFamily="34" charset="-122"/>
                <a:cs typeface="Calibri" pitchFamily="34" charset="-120"/>
              </a:rPr>
              <a:t>Held-out protocol:  </a:t>
            </a:r>
            <a:pPr indent="0" marL="0">
              <a:buNone/>
            </a:pPr>
            <a:r>
              <a:rPr lang="en-US" sz="1200" dirty="0">
                <a:solidFill>
                  <a:srgbClr val="5B6864"/>
                </a:solidFill>
                <a:latin typeface="Calibri" pitchFamily="34" charset="0"/>
                <a:ea typeface="Calibri" pitchFamily="34" charset="-122"/>
                <a:cs typeface="Calibri" pitchFamily="34" charset="-120"/>
              </a:rPr>
              <a:t>185 training rows / 47 held-out test rows (80/20 split). Hyperparameters are tuned using 5-fold cross-validation on the training rows ONLY — the 47 test rows are touched exactly once, at the very end, so reported accuracy is not optimistic.</a:t>
            </a:r>
            <a:endParaRPr lang="en-US" sz="1200" dirty="0"/>
          </a:p>
        </p:txBody>
      </p:sp>
      <p:sp>
        <p:nvSpPr>
          <p:cNvPr id="35" name="Text 33"/>
          <p:cNvSpPr/>
          <p:nvPr/>
        </p:nvSpPr>
        <p:spPr>
          <a:xfrm>
            <a:off x="548640" y="4709160"/>
            <a:ext cx="11064240" cy="457200"/>
          </a:xfrm>
          <a:prstGeom prst="rect">
            <a:avLst/>
          </a:prstGeom>
          <a:noFill/>
          <a:ln/>
        </p:spPr>
        <p:txBody>
          <a:bodyPr wrap="square" rtlCol="0" anchor="ctr"/>
          <a:lstStyle/>
          <a:p>
            <a:pPr algn="ctr" indent="0" marL="0">
              <a:buNone/>
            </a:pPr>
            <a:r>
              <a:rPr lang="en-US" sz="1200" i="1" dirty="0">
                <a:solidFill>
                  <a:srgbClr val="5B6864"/>
                </a:solidFill>
                <a:latin typeface="Calibri" pitchFamily="34" charset="0"/>
                <a:ea typeface="Calibri" pitchFamily="34" charset="-122"/>
                <a:cs typeface="Calibri" pitchFamily="34" charset="-120"/>
              </a:rPr>
              <a:t>Fully scripted in Python (pandas, scikit-learn, XGBoost, LightGBM, SHAP, SciPy) — every step re-runnable from raw spreadsheet to trained model with one command.</a:t>
            </a:r>
            <a:endParaRPr lang="en-US" sz="1200" dirty="0"/>
          </a:p>
        </p:txBody>
      </p:sp>
      <p:sp>
        <p:nvSpPr>
          <p:cNvPr id="36" name="Text 34"/>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37" name="Text 35"/>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3</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1B2420"/>
                </a:solidFill>
                <a:latin typeface="Cambria" pitchFamily="34" charset="0"/>
                <a:ea typeface="Cambria" pitchFamily="34" charset="-122"/>
                <a:cs typeface="Cambria" pitchFamily="34" charset="-120"/>
              </a:rPr>
              <a:t>Datasets: In Use and Searched</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5B6864"/>
                </a:solidFill>
                <a:latin typeface="Calibri" pitchFamily="34" charset="0"/>
                <a:ea typeface="Calibri" pitchFamily="34" charset="-122"/>
                <a:cs typeface="Calibri" pitchFamily="34" charset="-120"/>
              </a:rPr>
              <a:t>Professor's ask: identify more data and supporting literature for this exact prediction task</a:t>
            </a:r>
            <a:endParaRPr lang="en-US" sz="1250" dirty="0"/>
          </a:p>
        </p:txBody>
      </p:sp>
      <p:sp>
        <p:nvSpPr>
          <p:cNvPr id="6" name="Shape 4"/>
          <p:cNvSpPr/>
          <p:nvPr/>
        </p:nvSpPr>
        <p:spPr>
          <a:xfrm>
            <a:off x="548640" y="1417320"/>
            <a:ext cx="5349240" cy="4480560"/>
          </a:xfrm>
          <a:prstGeom prst="roundRect">
            <a:avLst>
              <a:gd name="adj" fmla="val 1633"/>
            </a:avLst>
          </a:prstGeom>
          <a:solidFill>
            <a:srgbClr val="FFFFFF"/>
          </a:solidFill>
          <a:ln/>
          <a:effectLst>
            <a:outerShdw sx="100000" sy="100000" kx="0" ky="0" algn="bl" rotWithShape="0" blurRad="63500" dist="25400" dir="5400000">
              <a:srgbClr val="000000">
                <a:alpha val="10000"/>
              </a:srgbClr>
            </a:outerShdw>
          </a:effectLst>
        </p:spPr>
      </p:sp>
      <p:sp>
        <p:nvSpPr>
          <p:cNvPr id="7" name="Text 5"/>
          <p:cNvSpPr/>
          <p:nvPr/>
        </p:nvSpPr>
        <p:spPr>
          <a:xfrm>
            <a:off x="777240" y="1600200"/>
            <a:ext cx="4892040" cy="320040"/>
          </a:xfrm>
          <a:prstGeom prst="rect">
            <a:avLst/>
          </a:prstGeom>
          <a:noFill/>
          <a:ln/>
        </p:spPr>
        <p:txBody>
          <a:bodyPr wrap="square" rtlCol="0" anchor="ctr"/>
          <a:lstStyle/>
          <a:p>
            <a:pPr indent="0" marL="0">
              <a:buNone/>
            </a:pPr>
            <a:r>
              <a:rPr lang="en-US" sz="1300" b="1" spc="100" kern="0" dirty="0">
                <a:solidFill>
                  <a:srgbClr val="2F9E86"/>
                </a:solidFill>
                <a:latin typeface="Calibri" pitchFamily="34" charset="0"/>
                <a:ea typeface="Calibri" pitchFamily="34" charset="-122"/>
                <a:cs typeface="Calibri" pitchFamily="34" charset="-120"/>
              </a:rPr>
              <a:t>CURRENTLY IN USE</a:t>
            </a:r>
            <a:endParaRPr lang="en-US" sz="1300" dirty="0"/>
          </a:p>
        </p:txBody>
      </p:sp>
      <p:sp>
        <p:nvSpPr>
          <p:cNvPr id="8" name="Shape 6"/>
          <p:cNvSpPr/>
          <p:nvPr/>
        </p:nvSpPr>
        <p:spPr>
          <a:xfrm>
            <a:off x="822960" y="2075688"/>
            <a:ext cx="82296" cy="82296"/>
          </a:xfrm>
          <a:prstGeom prst="ellipse">
            <a:avLst/>
          </a:prstGeom>
          <a:solidFill>
            <a:srgbClr val="2F9E86"/>
          </a:solidFill>
          <a:ln/>
        </p:spPr>
      </p:sp>
      <p:sp>
        <p:nvSpPr>
          <p:cNvPr id="9" name="Text 7"/>
          <p:cNvSpPr/>
          <p:nvPr/>
        </p:nvSpPr>
        <p:spPr>
          <a:xfrm>
            <a:off x="1051560" y="2011680"/>
            <a:ext cx="4709160" cy="566928"/>
          </a:xfrm>
          <a:prstGeom prst="rect">
            <a:avLst/>
          </a:prstGeom>
          <a:noFill/>
          <a:ln/>
        </p:spPr>
        <p:txBody>
          <a:bodyPr wrap="square" rtlCol="0" anchor="t"/>
          <a:lstStyle/>
          <a:p>
            <a:pPr indent="0" marL="0">
              <a:lnSpc>
                <a:spcPts val="1400"/>
              </a:lnSpc>
              <a:buNone/>
            </a:pPr>
            <a:r>
              <a:rPr lang="en-US" sz="1130" dirty="0">
                <a:solidFill>
                  <a:srgbClr val="1B2420"/>
                </a:solidFill>
                <a:latin typeface="Calibri" pitchFamily="34" charset="0"/>
                <a:ea typeface="Calibri" pitchFamily="34" charset="-122"/>
                <a:cs typeface="Calibri" pitchFamily="34" charset="-120"/>
              </a:rPr>
              <a:t>320 rows, compiled from multiple published pyrolysis studies</a:t>
            </a:r>
            <a:endParaRPr lang="en-US" sz="1130" dirty="0"/>
          </a:p>
        </p:txBody>
      </p:sp>
      <p:sp>
        <p:nvSpPr>
          <p:cNvPr id="10" name="Shape 8"/>
          <p:cNvSpPr/>
          <p:nvPr/>
        </p:nvSpPr>
        <p:spPr>
          <a:xfrm>
            <a:off x="822960" y="2679192"/>
            <a:ext cx="82296" cy="82296"/>
          </a:xfrm>
          <a:prstGeom prst="ellipse">
            <a:avLst/>
          </a:prstGeom>
          <a:solidFill>
            <a:srgbClr val="2F9E86"/>
          </a:solidFill>
          <a:ln/>
        </p:spPr>
      </p:sp>
      <p:sp>
        <p:nvSpPr>
          <p:cNvPr id="11" name="Text 9"/>
          <p:cNvSpPr/>
          <p:nvPr/>
        </p:nvSpPr>
        <p:spPr>
          <a:xfrm>
            <a:off x="1051560" y="2615184"/>
            <a:ext cx="4709160" cy="566928"/>
          </a:xfrm>
          <a:prstGeom prst="rect">
            <a:avLst/>
          </a:prstGeom>
          <a:noFill/>
          <a:ln/>
        </p:spPr>
        <p:txBody>
          <a:bodyPr wrap="square" rtlCol="0" anchor="t"/>
          <a:lstStyle/>
          <a:p>
            <a:pPr indent="0" marL="0">
              <a:lnSpc>
                <a:spcPts val="1400"/>
              </a:lnSpc>
              <a:buNone/>
            </a:pPr>
            <a:r>
              <a:rPr lang="en-US" sz="1130" dirty="0">
                <a:solidFill>
                  <a:srgbClr val="1B2420"/>
                </a:solidFill>
                <a:latin typeface="Calibri" pitchFamily="34" charset="0"/>
                <a:ea typeface="Calibri" pitchFamily="34" charset="-122"/>
                <a:cs typeface="Calibri" pitchFamily="34" charset="-120"/>
              </a:rPr>
              <a:t>232 usable rows for the primary O/C target (rest missing that measurement)</a:t>
            </a:r>
            <a:endParaRPr lang="en-US" sz="1130" dirty="0"/>
          </a:p>
        </p:txBody>
      </p:sp>
      <p:sp>
        <p:nvSpPr>
          <p:cNvPr id="12" name="Shape 10"/>
          <p:cNvSpPr/>
          <p:nvPr/>
        </p:nvSpPr>
        <p:spPr>
          <a:xfrm>
            <a:off x="822960" y="3282696"/>
            <a:ext cx="82296" cy="82296"/>
          </a:xfrm>
          <a:prstGeom prst="ellipse">
            <a:avLst/>
          </a:prstGeom>
          <a:solidFill>
            <a:srgbClr val="2F9E86"/>
          </a:solidFill>
          <a:ln/>
        </p:spPr>
      </p:sp>
      <p:sp>
        <p:nvSpPr>
          <p:cNvPr id="13" name="Text 11"/>
          <p:cNvSpPr/>
          <p:nvPr/>
        </p:nvSpPr>
        <p:spPr>
          <a:xfrm>
            <a:off x="1051560" y="3218688"/>
            <a:ext cx="4709160" cy="566928"/>
          </a:xfrm>
          <a:prstGeom prst="rect">
            <a:avLst/>
          </a:prstGeom>
          <a:noFill/>
          <a:ln/>
        </p:spPr>
        <p:txBody>
          <a:bodyPr wrap="square" rtlCol="0" anchor="t"/>
          <a:lstStyle/>
          <a:p>
            <a:pPr indent="0" marL="0">
              <a:lnSpc>
                <a:spcPts val="1400"/>
              </a:lnSpc>
              <a:buNone/>
            </a:pPr>
            <a:r>
              <a:rPr lang="en-US" sz="1130" dirty="0">
                <a:solidFill>
                  <a:srgbClr val="1B2420"/>
                </a:solidFill>
                <a:latin typeface="Calibri" pitchFamily="34" charset="0"/>
                <a:ea typeface="Calibri" pitchFamily="34" charset="-122"/>
                <a:cs typeface="Calibri" pitchFamily="34" charset="-120"/>
              </a:rPr>
              <a:t>4 rows dropped for impossible elemental composition (data-entry errors)</a:t>
            </a:r>
            <a:endParaRPr lang="en-US" sz="1130" dirty="0"/>
          </a:p>
        </p:txBody>
      </p:sp>
      <p:sp>
        <p:nvSpPr>
          <p:cNvPr id="14" name="Shape 12"/>
          <p:cNvSpPr/>
          <p:nvPr/>
        </p:nvSpPr>
        <p:spPr>
          <a:xfrm>
            <a:off x="822960" y="3886200"/>
            <a:ext cx="82296" cy="82296"/>
          </a:xfrm>
          <a:prstGeom prst="ellipse">
            <a:avLst/>
          </a:prstGeom>
          <a:solidFill>
            <a:srgbClr val="2F9E86"/>
          </a:solidFill>
          <a:ln/>
        </p:spPr>
      </p:sp>
      <p:sp>
        <p:nvSpPr>
          <p:cNvPr id="15" name="Text 13"/>
          <p:cNvSpPr/>
          <p:nvPr/>
        </p:nvSpPr>
        <p:spPr>
          <a:xfrm>
            <a:off x="1051560" y="3822192"/>
            <a:ext cx="4709160" cy="566928"/>
          </a:xfrm>
          <a:prstGeom prst="rect">
            <a:avLst/>
          </a:prstGeom>
          <a:noFill/>
          <a:ln/>
        </p:spPr>
        <p:txBody>
          <a:bodyPr wrap="square" rtlCol="0" anchor="t"/>
          <a:lstStyle/>
          <a:p>
            <a:pPr indent="0" marL="0">
              <a:lnSpc>
                <a:spcPts val="1400"/>
              </a:lnSpc>
              <a:buNone/>
            </a:pPr>
            <a:r>
              <a:rPr lang="en-US" sz="1130" dirty="0">
                <a:solidFill>
                  <a:srgbClr val="1B2420"/>
                </a:solidFill>
                <a:latin typeface="Calibri" pitchFamily="34" charset="0"/>
                <a:ea typeface="Calibri" pitchFamily="34" charset="-122"/>
                <a:cs typeface="Calibri" pitchFamily="34" charset="-120"/>
              </a:rPr>
              <a:t>Inputs: biomass composition, proximate/ultimate analysis, particle size, heating rate, temperature</a:t>
            </a:r>
            <a:endParaRPr lang="en-US" sz="1130" dirty="0"/>
          </a:p>
        </p:txBody>
      </p:sp>
      <p:sp>
        <p:nvSpPr>
          <p:cNvPr id="16" name="Shape 14"/>
          <p:cNvSpPr/>
          <p:nvPr/>
        </p:nvSpPr>
        <p:spPr>
          <a:xfrm>
            <a:off x="822960" y="4489704"/>
            <a:ext cx="82296" cy="82296"/>
          </a:xfrm>
          <a:prstGeom prst="ellipse">
            <a:avLst/>
          </a:prstGeom>
          <a:solidFill>
            <a:srgbClr val="2F9E86"/>
          </a:solidFill>
          <a:ln/>
        </p:spPr>
      </p:sp>
      <p:sp>
        <p:nvSpPr>
          <p:cNvPr id="17" name="Text 15"/>
          <p:cNvSpPr/>
          <p:nvPr/>
        </p:nvSpPr>
        <p:spPr>
          <a:xfrm>
            <a:off x="1051560" y="4425696"/>
            <a:ext cx="4709160" cy="566928"/>
          </a:xfrm>
          <a:prstGeom prst="rect">
            <a:avLst/>
          </a:prstGeom>
          <a:noFill/>
          <a:ln/>
        </p:spPr>
        <p:txBody>
          <a:bodyPr wrap="square" rtlCol="0" anchor="t"/>
          <a:lstStyle/>
          <a:p>
            <a:pPr indent="0" marL="0">
              <a:lnSpc>
                <a:spcPts val="1400"/>
              </a:lnSpc>
              <a:buNone/>
            </a:pPr>
            <a:r>
              <a:rPr lang="en-US" sz="1130" dirty="0">
                <a:solidFill>
                  <a:srgbClr val="1B2420"/>
                </a:solidFill>
                <a:latin typeface="Calibri" pitchFamily="34" charset="0"/>
                <a:ea typeface="Calibri" pitchFamily="34" charset="-122"/>
                <a:cs typeface="Calibri" pitchFamily="34" charset="-120"/>
              </a:rPr>
              <a:t>Targets: O/C (primary), H/C, calorific value, oil yield</a:t>
            </a:r>
            <a:endParaRPr lang="en-US" sz="1130" dirty="0"/>
          </a:p>
        </p:txBody>
      </p:sp>
      <p:sp>
        <p:nvSpPr>
          <p:cNvPr id="18" name="Shape 16"/>
          <p:cNvSpPr/>
          <p:nvPr/>
        </p:nvSpPr>
        <p:spPr>
          <a:xfrm>
            <a:off x="6080760" y="1417320"/>
            <a:ext cx="5532120" cy="4480560"/>
          </a:xfrm>
          <a:prstGeom prst="roundRect">
            <a:avLst>
              <a:gd name="adj" fmla="val 1633"/>
            </a:avLst>
          </a:prstGeom>
          <a:solidFill>
            <a:srgbClr val="13312C"/>
          </a:solidFill>
          <a:ln/>
        </p:spPr>
      </p:sp>
      <p:sp>
        <p:nvSpPr>
          <p:cNvPr id="19" name="Text 17"/>
          <p:cNvSpPr/>
          <p:nvPr/>
        </p:nvSpPr>
        <p:spPr>
          <a:xfrm>
            <a:off x="6309360" y="1600200"/>
            <a:ext cx="5074920" cy="320040"/>
          </a:xfrm>
          <a:prstGeom prst="rect">
            <a:avLst/>
          </a:prstGeom>
          <a:noFill/>
          <a:ln/>
        </p:spPr>
        <p:txBody>
          <a:bodyPr wrap="square" rtlCol="0" anchor="ctr"/>
          <a:lstStyle/>
          <a:p>
            <a:pPr indent="0" marL="0">
              <a:buNone/>
            </a:pPr>
            <a:r>
              <a:rPr lang="en-US" sz="1300" b="1" spc="100" kern="0" dirty="0">
                <a:solidFill>
                  <a:srgbClr val="C97B3D"/>
                </a:solidFill>
                <a:latin typeface="Calibri" pitchFamily="34" charset="0"/>
                <a:ea typeface="Calibri" pitchFamily="34" charset="-122"/>
                <a:cs typeface="Calibri" pitchFamily="34" charset="-120"/>
              </a:rPr>
              <a:t>FOUND, NOT YET MERGED</a:t>
            </a:r>
            <a:endParaRPr lang="en-US" sz="1300" dirty="0"/>
          </a:p>
        </p:txBody>
      </p:sp>
      <p:sp>
        <p:nvSpPr>
          <p:cNvPr id="20" name="Text 18"/>
          <p:cNvSpPr/>
          <p:nvPr/>
        </p:nvSpPr>
        <p:spPr>
          <a:xfrm>
            <a:off x="6309360" y="2011680"/>
            <a:ext cx="507492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Energy journal, 2022 (S0360544222012233)</a:t>
            </a:r>
            <a:endParaRPr lang="en-US" sz="1150" dirty="0"/>
          </a:p>
        </p:txBody>
      </p:sp>
      <p:sp>
        <p:nvSpPr>
          <p:cNvPr id="21" name="Text 19"/>
          <p:cNvSpPr/>
          <p:nvPr/>
        </p:nvSpPr>
        <p:spPr>
          <a:xfrm>
            <a:off x="6309360" y="2304288"/>
            <a:ext cx="5074920" cy="685800"/>
          </a:xfrm>
          <a:prstGeom prst="rect">
            <a:avLst/>
          </a:prstGeom>
          <a:noFill/>
          <a:ln/>
        </p:spPr>
        <p:txBody>
          <a:bodyPr wrap="square" rtlCol="0" anchor="ctr"/>
          <a:lstStyle/>
          <a:p>
            <a:pPr indent="0" marL="0">
              <a:lnSpc>
                <a:spcPts val="1300"/>
              </a:lnSpc>
              <a:buNone/>
            </a:pPr>
            <a:r>
              <a:rPr lang="en-US" sz="1030" dirty="0">
                <a:solidFill>
                  <a:srgbClr val="C7D6D2"/>
                </a:solidFill>
                <a:latin typeface="Calibri" pitchFamily="34" charset="0"/>
                <a:ea typeface="Calibri" pitchFamily="34" charset="-122"/>
                <a:cs typeface="Calibri" pitchFamily="34" charset="-120"/>
              </a:rPr>
              <a:t>Same exact feature set (composition + process conditions -&gt; O/C). Their reported O/C model: R² = 0.895 — near-identical to ours (0.900). Very likely the source this dataset was compiled from.</a:t>
            </a:r>
            <a:endParaRPr lang="en-US" sz="1030" dirty="0"/>
          </a:p>
        </p:txBody>
      </p:sp>
      <p:sp>
        <p:nvSpPr>
          <p:cNvPr id="22" name="Text 20"/>
          <p:cNvSpPr/>
          <p:nvPr/>
        </p:nvSpPr>
        <p:spPr>
          <a:xfrm>
            <a:off x="6309360" y="3182112"/>
            <a:ext cx="507492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Mendeley Data (bx88ymgbbv)</a:t>
            </a:r>
            <a:endParaRPr lang="en-US" sz="1150" dirty="0"/>
          </a:p>
        </p:txBody>
      </p:sp>
      <p:sp>
        <p:nvSpPr>
          <p:cNvPr id="23" name="Text 21"/>
          <p:cNvSpPr/>
          <p:nvPr/>
        </p:nvSpPr>
        <p:spPr>
          <a:xfrm>
            <a:off x="6309360" y="3474720"/>
            <a:ext cx="5074920" cy="685800"/>
          </a:xfrm>
          <a:prstGeom prst="rect">
            <a:avLst/>
          </a:prstGeom>
          <a:noFill/>
          <a:ln/>
        </p:spPr>
        <p:txBody>
          <a:bodyPr wrap="square" rtlCol="0" anchor="ctr"/>
          <a:lstStyle/>
          <a:p>
            <a:pPr indent="0" marL="0">
              <a:lnSpc>
                <a:spcPts val="1300"/>
              </a:lnSpc>
              <a:buNone/>
            </a:pPr>
            <a:r>
              <a:rPr lang="en-US" sz="1030" dirty="0">
                <a:solidFill>
                  <a:srgbClr val="C7D6D2"/>
                </a:solidFill>
                <a:latin typeface="Calibri" pitchFamily="34" charset="0"/>
                <a:ea typeface="Calibri" pitchFamily="34" charset="-122"/>
                <a:cs typeface="Calibri" pitchFamily="34" charset="-120"/>
              </a:rPr>
              <a:t>34 biomasses, similar variable set (composition, heating rate, PT, particle size). Open-access, no login required.</a:t>
            </a:r>
            <a:endParaRPr lang="en-US" sz="1030" dirty="0"/>
          </a:p>
        </p:txBody>
      </p:sp>
      <p:sp>
        <p:nvSpPr>
          <p:cNvPr id="24" name="Text 22"/>
          <p:cNvSpPr/>
          <p:nvPr/>
        </p:nvSpPr>
        <p:spPr>
          <a:xfrm>
            <a:off x="6309360" y="4352544"/>
            <a:ext cx="507492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Phyllis2 (TNO biomass database)</a:t>
            </a:r>
            <a:endParaRPr lang="en-US" sz="1150" dirty="0"/>
          </a:p>
        </p:txBody>
      </p:sp>
      <p:sp>
        <p:nvSpPr>
          <p:cNvPr id="25" name="Text 23"/>
          <p:cNvSpPr/>
          <p:nvPr/>
        </p:nvSpPr>
        <p:spPr>
          <a:xfrm>
            <a:off x="6309360" y="4645152"/>
            <a:ext cx="5074920" cy="685800"/>
          </a:xfrm>
          <a:prstGeom prst="rect">
            <a:avLst/>
          </a:prstGeom>
          <a:noFill/>
          <a:ln/>
        </p:spPr>
        <p:txBody>
          <a:bodyPr wrap="square" rtlCol="0" anchor="ctr"/>
          <a:lstStyle/>
          <a:p>
            <a:pPr indent="0" marL="0">
              <a:lnSpc>
                <a:spcPts val="1300"/>
              </a:lnSpc>
              <a:buNone/>
            </a:pPr>
            <a:r>
              <a:rPr lang="en-US" sz="1030" dirty="0">
                <a:solidFill>
                  <a:srgbClr val="C7D6D2"/>
                </a:solidFill>
                <a:latin typeface="Calibri" pitchFamily="34" charset="0"/>
                <a:ea typeface="Calibri" pitchFamily="34" charset="-122"/>
                <a:cs typeface="Calibri" pitchFamily="34" charset="-120"/>
              </a:rPr>
              <a:t>~3000 biomass composition records — useful for feedstock characterization, but has no pyrolysis product data (no O/C outcomes), so can't extend the target side alone.</a:t>
            </a:r>
            <a:endParaRPr lang="en-US" sz="1030" dirty="0"/>
          </a:p>
        </p:txBody>
      </p:sp>
      <p:sp>
        <p:nvSpPr>
          <p:cNvPr id="26" name="Shape 24"/>
          <p:cNvSpPr/>
          <p:nvPr/>
        </p:nvSpPr>
        <p:spPr>
          <a:xfrm>
            <a:off x="6309360" y="5440680"/>
            <a:ext cx="5074920" cy="365760"/>
          </a:xfrm>
          <a:prstGeom prst="roundRect">
            <a:avLst>
              <a:gd name="adj" fmla="val 75000"/>
            </a:avLst>
          </a:prstGeom>
          <a:solidFill>
            <a:srgbClr val="B85042">
              <a:alpha val="85000"/>
            </a:srgbClr>
          </a:solidFill>
          <a:ln/>
        </p:spPr>
      </p:sp>
      <p:sp>
        <p:nvSpPr>
          <p:cNvPr id="27" name="Text 25"/>
          <p:cNvSpPr/>
          <p:nvPr/>
        </p:nvSpPr>
        <p:spPr>
          <a:xfrm>
            <a:off x="6309360" y="5440680"/>
            <a:ext cx="5074920" cy="365760"/>
          </a:xfrm>
          <a:prstGeom prst="rect">
            <a:avLst/>
          </a:prstGeom>
          <a:noFill/>
          <a:ln/>
        </p:spPr>
        <p:txBody>
          <a:bodyPr wrap="square"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Blocked from automated download in this environment — needs university network access</a:t>
            </a:r>
            <a:endParaRPr lang="en-US" sz="950" dirty="0"/>
          </a:p>
        </p:txBody>
      </p:sp>
      <p:sp>
        <p:nvSpPr>
          <p:cNvPr id="28" name="Text 26"/>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29" name="Text 27"/>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11E"/>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4</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Why Physics-Informed Modeling?</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9FB3AE"/>
                </a:solidFill>
                <a:latin typeface="Calibri" pitchFamily="34" charset="0"/>
                <a:ea typeface="Calibri" pitchFamily="34" charset="-122"/>
                <a:cs typeface="Calibri" pitchFamily="34" charset="-120"/>
              </a:rPr>
              <a:t>From a correlation-only model to one that is told how the reactor actually works</a:t>
            </a:r>
            <a:endParaRPr lang="en-US" sz="1250" dirty="0"/>
          </a:p>
        </p:txBody>
      </p:sp>
      <p:sp>
        <p:nvSpPr>
          <p:cNvPr id="6" name="Shape 4"/>
          <p:cNvSpPr/>
          <p:nvPr/>
        </p:nvSpPr>
        <p:spPr>
          <a:xfrm>
            <a:off x="548640" y="1417320"/>
            <a:ext cx="5349240" cy="4206240"/>
          </a:xfrm>
          <a:prstGeom prst="roundRect">
            <a:avLst>
              <a:gd name="adj" fmla="val 2174"/>
            </a:avLst>
          </a:prstGeom>
          <a:solidFill>
            <a:srgbClr val="13312C"/>
          </a:solidFill>
          <a:ln w="19050">
            <a:solidFill>
              <a:srgbClr val="B85042"/>
            </a:solidFill>
            <a:prstDash val="solid"/>
          </a:ln>
        </p:spPr>
      </p:sp>
      <p:sp>
        <p:nvSpPr>
          <p:cNvPr id="7" name="Text 5"/>
          <p:cNvSpPr/>
          <p:nvPr/>
        </p:nvSpPr>
        <p:spPr>
          <a:xfrm>
            <a:off x="822960" y="1645920"/>
            <a:ext cx="4800600" cy="365760"/>
          </a:xfrm>
          <a:prstGeom prst="rect">
            <a:avLst/>
          </a:prstGeom>
          <a:noFill/>
          <a:ln/>
        </p:spPr>
        <p:txBody>
          <a:bodyPr wrap="square" rtlCol="0" anchor="ctr"/>
          <a:lstStyle/>
          <a:p>
            <a:pPr indent="0" marL="0">
              <a:buNone/>
            </a:pPr>
            <a:r>
              <a:rPr lang="en-US" sz="1400" b="1" spc="200" kern="0" dirty="0">
                <a:solidFill>
                  <a:srgbClr val="B85042"/>
                </a:solidFill>
                <a:latin typeface="Calibri" pitchFamily="34" charset="0"/>
                <a:ea typeface="Calibri" pitchFamily="34" charset="-122"/>
                <a:cs typeface="Calibri" pitchFamily="34" charset="-120"/>
              </a:rPr>
              <a:t>BEFORE</a:t>
            </a:r>
            <a:endParaRPr lang="en-US" sz="1400" dirty="0"/>
          </a:p>
        </p:txBody>
      </p:sp>
      <p:sp>
        <p:nvSpPr>
          <p:cNvPr id="8" name="Text 6"/>
          <p:cNvSpPr/>
          <p:nvPr/>
        </p:nvSpPr>
        <p:spPr>
          <a:xfrm>
            <a:off x="822960" y="2039112"/>
            <a:ext cx="4800600" cy="54864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Black-box statistical model</a:t>
            </a:r>
            <a:endParaRPr lang="en-US" sz="1800" dirty="0"/>
          </a:p>
        </p:txBody>
      </p:sp>
      <p:sp>
        <p:nvSpPr>
          <p:cNvPr id="9" name="Text 7"/>
          <p:cNvSpPr/>
          <p:nvPr/>
        </p:nvSpPr>
        <p:spPr>
          <a:xfrm>
            <a:off x="822960" y="2697480"/>
            <a:ext cx="4800600" cy="2743200"/>
          </a:xfrm>
          <a:prstGeom prst="rect">
            <a:avLst/>
          </a:prstGeom>
          <a:noFill/>
          <a:ln/>
        </p:spPr>
        <p:txBody>
          <a:bodyPr wrap="square" rtlCol="0" anchor="ctr"/>
          <a:lstStyle/>
          <a:p>
            <a:pPr indent="0" marL="0">
              <a:lnSpc>
                <a:spcPts val="1700"/>
              </a:lnSpc>
              <a:buNone/>
            </a:pPr>
            <a:r>
              <a:rPr lang="en-US" sz="1300" dirty="0">
                <a:solidFill>
                  <a:srgbClr val="D7E4E1"/>
                </a:solidFill>
                <a:latin typeface="Calibri" pitchFamily="34" charset="0"/>
                <a:ea typeface="Calibri" pitchFamily="34" charset="-122"/>
                <a:cs typeface="Calibri" pitchFamily="34" charset="-120"/>
              </a:rPr>
              <a:t>Inputs (temperature, composition, etc.) go directly into a tree ensemble. The model finds correlations, but has no representation of the actual chemical reactions happening inside the reactor.</a:t>
            </a:r>
            <a:endParaRPr lang="en-US" sz="1300" dirty="0"/>
          </a:p>
        </p:txBody>
      </p:sp>
      <p:sp>
        <p:nvSpPr>
          <p:cNvPr id="10" name="Shape 8"/>
          <p:cNvSpPr/>
          <p:nvPr/>
        </p:nvSpPr>
        <p:spPr>
          <a:xfrm>
            <a:off x="6263640" y="1417320"/>
            <a:ext cx="5349240" cy="4206240"/>
          </a:xfrm>
          <a:prstGeom prst="roundRect">
            <a:avLst>
              <a:gd name="adj" fmla="val 2174"/>
            </a:avLst>
          </a:prstGeom>
          <a:solidFill>
            <a:srgbClr val="13312C"/>
          </a:solidFill>
          <a:ln w="19050">
            <a:solidFill>
              <a:srgbClr val="2F9E86"/>
            </a:solidFill>
            <a:prstDash val="solid"/>
          </a:ln>
        </p:spPr>
      </p:sp>
      <p:sp>
        <p:nvSpPr>
          <p:cNvPr id="11" name="Text 9"/>
          <p:cNvSpPr/>
          <p:nvPr/>
        </p:nvSpPr>
        <p:spPr>
          <a:xfrm>
            <a:off x="6537960" y="1645920"/>
            <a:ext cx="4800600" cy="365760"/>
          </a:xfrm>
          <a:prstGeom prst="rect">
            <a:avLst/>
          </a:prstGeom>
          <a:noFill/>
          <a:ln/>
        </p:spPr>
        <p:txBody>
          <a:bodyPr wrap="square" rtlCol="0" anchor="ctr"/>
          <a:lstStyle/>
          <a:p>
            <a:pPr indent="0" marL="0">
              <a:buNone/>
            </a:pPr>
            <a:r>
              <a:rPr lang="en-US" sz="1400" b="1" spc="200" kern="0" dirty="0">
                <a:solidFill>
                  <a:srgbClr val="2F9E86"/>
                </a:solidFill>
                <a:latin typeface="Calibri" pitchFamily="34" charset="0"/>
                <a:ea typeface="Calibri" pitchFamily="34" charset="-122"/>
                <a:cs typeface="Calibri" pitchFamily="34" charset="-120"/>
              </a:rPr>
              <a:t>NOW</a:t>
            </a:r>
            <a:endParaRPr lang="en-US" sz="1400" dirty="0"/>
          </a:p>
        </p:txBody>
      </p:sp>
      <p:sp>
        <p:nvSpPr>
          <p:cNvPr id="12" name="Text 10"/>
          <p:cNvSpPr/>
          <p:nvPr/>
        </p:nvSpPr>
        <p:spPr>
          <a:xfrm>
            <a:off x="6537960" y="2039112"/>
            <a:ext cx="4800600" cy="54864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Physics-informed hybrid model</a:t>
            </a:r>
            <a:endParaRPr lang="en-US" sz="1800" dirty="0"/>
          </a:p>
        </p:txBody>
      </p:sp>
      <p:sp>
        <p:nvSpPr>
          <p:cNvPr id="13" name="Text 11"/>
          <p:cNvSpPr/>
          <p:nvPr/>
        </p:nvSpPr>
        <p:spPr>
          <a:xfrm>
            <a:off x="6537960" y="2697480"/>
            <a:ext cx="4800600" cy="2743200"/>
          </a:xfrm>
          <a:prstGeom prst="rect">
            <a:avLst/>
          </a:prstGeom>
          <a:noFill/>
          <a:ln/>
        </p:spPr>
        <p:txBody>
          <a:bodyPr wrap="square" rtlCol="0" anchor="ctr"/>
          <a:lstStyle/>
          <a:p>
            <a:pPr indent="0" marL="0">
              <a:lnSpc>
                <a:spcPts val="1700"/>
              </a:lnSpc>
              <a:buNone/>
            </a:pPr>
            <a:r>
              <a:rPr lang="en-US" sz="1300" dirty="0">
                <a:solidFill>
                  <a:srgbClr val="D7E4E1"/>
                </a:solidFill>
                <a:latin typeface="Calibri" pitchFamily="34" charset="0"/>
                <a:ea typeface="Calibri" pitchFamily="34" charset="-122"/>
                <a:cs typeface="Calibri" pitchFamily="34" charset="-120"/>
              </a:rPr>
              <a:t>Reaction-kinetics equations are computed FIRST as their own features (e.g. “predicted conversion fraction at this exact temperature and heating rate”), THEN fed into the model alongside the raw inputs.</a:t>
            </a:r>
            <a:endParaRPr lang="en-US" sz="1300" dirty="0"/>
          </a:p>
        </p:txBody>
      </p:sp>
      <p:sp>
        <p:nvSpPr>
          <p:cNvPr id="14" name="Shape 12"/>
          <p:cNvSpPr/>
          <p:nvPr/>
        </p:nvSpPr>
        <p:spPr>
          <a:xfrm rot="5400000">
            <a:off x="5623560" y="3246120"/>
            <a:ext cx="457200" cy="365760"/>
          </a:xfrm>
          <a:prstGeom prst="triangle">
            <a:avLst/>
          </a:prstGeom>
          <a:solidFill>
            <a:srgbClr val="C97B3D"/>
          </a:solidFill>
          <a:ln/>
        </p:spPr>
      </p:sp>
      <p:sp>
        <p:nvSpPr>
          <p:cNvPr id="15" name="Text 13"/>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16" name="Text 14"/>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5</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1B2420"/>
                </a:solidFill>
                <a:latin typeface="Cambria" pitchFamily="34" charset="0"/>
                <a:ea typeface="Cambria" pitchFamily="34" charset="-122"/>
                <a:cs typeface="Cambria" pitchFamily="34" charset="-120"/>
              </a:rPr>
              <a:t>Equation Group 1: Reaction Kinetics</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5B6864"/>
                </a:solidFill>
                <a:latin typeface="Calibri" pitchFamily="34" charset="0"/>
                <a:ea typeface="Calibri" pitchFamily="34" charset="-122"/>
                <a:cs typeface="Calibri" pitchFamily="34" charset="-120"/>
              </a:rPr>
              <a:t>The Arrhenius equation — how temperature governs reaction rate — applied to biomass breakdown</a:t>
            </a:r>
            <a:endParaRPr lang="en-US" sz="1250" dirty="0"/>
          </a:p>
        </p:txBody>
      </p:sp>
      <p:sp>
        <p:nvSpPr>
          <p:cNvPr id="6" name="Shape 4"/>
          <p:cNvSpPr/>
          <p:nvPr/>
        </p:nvSpPr>
        <p:spPr>
          <a:xfrm>
            <a:off x="548640" y="1417320"/>
            <a:ext cx="5349240" cy="777240"/>
          </a:xfrm>
          <a:prstGeom prst="roundRect">
            <a:avLst>
              <a:gd name="adj" fmla="val 7059"/>
            </a:avLst>
          </a:prstGeom>
          <a:solidFill>
            <a:srgbClr val="13312C"/>
          </a:solidFill>
          <a:ln/>
        </p:spPr>
      </p:sp>
      <p:sp>
        <p:nvSpPr>
          <p:cNvPr id="7" name="Text 5"/>
          <p:cNvSpPr/>
          <p:nvPr/>
        </p:nvSpPr>
        <p:spPr>
          <a:xfrm>
            <a:off x="685800" y="1417320"/>
            <a:ext cx="5074920" cy="77724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dα/dT = (A/β)·exp(-Ea/RT)·(1-α)</a:t>
            </a:r>
            <a:endParaRPr lang="en-US" sz="1300" dirty="0"/>
          </a:p>
        </p:txBody>
      </p:sp>
      <p:sp>
        <p:nvSpPr>
          <p:cNvPr id="8" name="Text 6"/>
          <p:cNvSpPr/>
          <p:nvPr/>
        </p:nvSpPr>
        <p:spPr>
          <a:xfrm>
            <a:off x="548640" y="2286000"/>
            <a:ext cx="5349240" cy="292608"/>
          </a:xfrm>
          <a:prstGeom prst="rect">
            <a:avLst/>
          </a:prstGeom>
          <a:noFill/>
          <a:ln/>
        </p:spPr>
        <p:txBody>
          <a:bodyPr wrap="square" rtlCol="0" anchor="ctr"/>
          <a:lstStyle/>
          <a:p>
            <a:pPr indent="0" marL="0">
              <a:buNone/>
            </a:pPr>
            <a:r>
              <a:rPr lang="en-US" sz="1300" b="1" dirty="0">
                <a:solidFill>
                  <a:srgbClr val="1B2420"/>
                </a:solidFill>
                <a:latin typeface="Calibri" pitchFamily="34" charset="0"/>
                <a:ea typeface="Calibri" pitchFamily="34" charset="-122"/>
                <a:cs typeface="Calibri" pitchFamily="34" charset="-120"/>
              </a:rPr>
              <a:t>Independent Parallel Reactions (IPR) model</a:t>
            </a:r>
            <a:endParaRPr lang="en-US" sz="1300" dirty="0"/>
          </a:p>
        </p:txBody>
      </p:sp>
      <p:sp>
        <p:nvSpPr>
          <p:cNvPr id="9" name="Text 7"/>
          <p:cNvSpPr/>
          <p:nvPr/>
        </p:nvSpPr>
        <p:spPr>
          <a:xfrm>
            <a:off x="548640" y="2606040"/>
            <a:ext cx="5349240" cy="914400"/>
          </a:xfrm>
          <a:prstGeom prst="rect">
            <a:avLst/>
          </a:prstGeom>
          <a:noFill/>
          <a:ln/>
        </p:spPr>
        <p:txBody>
          <a:bodyPr wrap="square" rtlCol="0" anchor="ctr"/>
          <a:lstStyle/>
          <a:p>
            <a:pPr indent="0" marL="0">
              <a:lnSpc>
                <a:spcPts val="1450"/>
              </a:lnSpc>
              <a:buNone/>
            </a:pPr>
            <a:r>
              <a:rPr lang="en-US" sz="1150" dirty="0">
                <a:solidFill>
                  <a:srgbClr val="5B6864"/>
                </a:solidFill>
                <a:latin typeface="Calibri" pitchFamily="34" charset="0"/>
                <a:ea typeface="Calibri" pitchFamily="34" charset="-122"/>
                <a:cs typeface="Calibri" pitchFamily="34" charset="-120"/>
              </a:rPr>
              <a:t>Biomass is treated as 3 independently-reacting building blocks — cellulose, hemicellulose, lignin — each following this rate equation. Integrated from room temperature up to each row's actual process temperature (PT), at that row's actual heating rate (HR).</a:t>
            </a:r>
            <a:endParaRPr lang="en-US" sz="1150" dirty="0"/>
          </a:p>
        </p:txBody>
      </p:sp>
      <p:sp>
        <p:nvSpPr>
          <p:cNvPr id="10" name="Text 8"/>
          <p:cNvSpPr/>
          <p:nvPr/>
        </p:nvSpPr>
        <p:spPr>
          <a:xfrm>
            <a:off x="548640" y="3611880"/>
            <a:ext cx="5349240" cy="822960"/>
          </a:xfrm>
          <a:prstGeom prst="rect">
            <a:avLst/>
          </a:prstGeom>
          <a:noFill/>
          <a:ln/>
        </p:spPr>
        <p:txBody>
          <a:bodyPr wrap="square" rtlCol="0" anchor="ctr"/>
          <a:lstStyle/>
          <a:p>
            <a:pPr indent="0" marL="0">
              <a:lnSpc>
                <a:spcPts val="1400"/>
              </a:lnSpc>
              <a:buNone/>
            </a:pPr>
            <a:r>
              <a:rPr lang="en-US" sz="1100" i="1" dirty="0">
                <a:solidFill>
                  <a:srgbClr val="2F9E86"/>
                </a:solidFill>
                <a:latin typeface="Calibri" pitchFamily="34" charset="0"/>
                <a:ea typeface="Calibri" pitchFamily="34" charset="-122"/>
                <a:cs typeface="Calibri" pitchFamily="34" charset="-120"/>
              </a:rPr>
              <a:t>WHY: gives the model a real, temperature-and-rate-specific prediction of “how much of this biomass has decomposed” — instead of just handing it raw PT and HR numbers to correlate with on its own.</a:t>
            </a:r>
            <a:endParaRPr lang="en-US" sz="1100" dirty="0"/>
          </a:p>
        </p:txBody>
      </p:sp>
      <p:sp>
        <p:nvSpPr>
          <p:cNvPr id="11" name="Shape 9"/>
          <p:cNvSpPr/>
          <p:nvPr/>
        </p:nvSpPr>
        <p:spPr>
          <a:xfrm>
            <a:off x="6172200" y="1417320"/>
            <a:ext cx="5349240" cy="777240"/>
          </a:xfrm>
          <a:prstGeom prst="roundRect">
            <a:avLst>
              <a:gd name="adj" fmla="val 7059"/>
            </a:avLst>
          </a:prstGeom>
          <a:solidFill>
            <a:srgbClr val="13312C"/>
          </a:solidFill>
          <a:ln/>
        </p:spPr>
      </p:sp>
      <p:sp>
        <p:nvSpPr>
          <p:cNvPr id="12" name="Text 10"/>
          <p:cNvSpPr/>
          <p:nvPr/>
        </p:nvSpPr>
        <p:spPr>
          <a:xfrm>
            <a:off x="6309360" y="1417320"/>
            <a:ext cx="5074920" cy="77724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severity = k(PT) × t_residence</a:t>
            </a:r>
            <a:endParaRPr lang="en-US" sz="1300" dirty="0"/>
          </a:p>
        </p:txBody>
      </p:sp>
      <p:sp>
        <p:nvSpPr>
          <p:cNvPr id="13" name="Text 11"/>
          <p:cNvSpPr/>
          <p:nvPr/>
        </p:nvSpPr>
        <p:spPr>
          <a:xfrm>
            <a:off x="6172200" y="2286000"/>
            <a:ext cx="5349240" cy="292608"/>
          </a:xfrm>
          <a:prstGeom prst="rect">
            <a:avLst/>
          </a:prstGeom>
          <a:noFill/>
          <a:ln/>
        </p:spPr>
        <p:txBody>
          <a:bodyPr wrap="square" rtlCol="0" anchor="ctr"/>
          <a:lstStyle/>
          <a:p>
            <a:pPr indent="0" marL="0">
              <a:buNone/>
            </a:pPr>
            <a:r>
              <a:rPr lang="en-US" sz="1300" b="1" dirty="0">
                <a:solidFill>
                  <a:srgbClr val="1B2420"/>
                </a:solidFill>
                <a:latin typeface="Calibri" pitchFamily="34" charset="0"/>
                <a:ea typeface="Calibri" pitchFamily="34" charset="-122"/>
                <a:cs typeface="Calibri" pitchFamily="34" charset="-120"/>
              </a:rPr>
              <a:t>Secondary tar-cracking severity</a:t>
            </a:r>
            <a:endParaRPr lang="en-US" sz="1300" dirty="0"/>
          </a:p>
        </p:txBody>
      </p:sp>
      <p:sp>
        <p:nvSpPr>
          <p:cNvPr id="14" name="Text 12"/>
          <p:cNvSpPr/>
          <p:nvPr/>
        </p:nvSpPr>
        <p:spPr>
          <a:xfrm>
            <a:off x="6172200" y="2606040"/>
            <a:ext cx="5349240" cy="914400"/>
          </a:xfrm>
          <a:prstGeom prst="rect">
            <a:avLst/>
          </a:prstGeom>
          <a:noFill/>
          <a:ln/>
        </p:spPr>
        <p:txBody>
          <a:bodyPr wrap="square" rtlCol="0" anchor="ctr"/>
          <a:lstStyle/>
          <a:p>
            <a:pPr indent="0" marL="0">
              <a:lnSpc>
                <a:spcPts val="1450"/>
              </a:lnSpc>
              <a:buNone/>
            </a:pPr>
            <a:r>
              <a:rPr lang="en-US" sz="1150" dirty="0">
                <a:solidFill>
                  <a:srgbClr val="5B6864"/>
                </a:solidFill>
                <a:latin typeface="Calibri" pitchFamily="34" charset="0"/>
                <a:ea typeface="Calibri" pitchFamily="34" charset="-122"/>
                <a:cs typeface="Calibri" pitchFamily="34" charset="-120"/>
              </a:rPr>
              <a:t>Primary pyrolysis vapor can crack further at high temperature into lighter, less oxygenated gases. This equation captures how much of that secondary reaction has likely occurred, given PT and an estimated residence time.</a:t>
            </a:r>
            <a:endParaRPr lang="en-US" sz="1150" dirty="0"/>
          </a:p>
        </p:txBody>
      </p:sp>
      <p:sp>
        <p:nvSpPr>
          <p:cNvPr id="15" name="Text 13"/>
          <p:cNvSpPr/>
          <p:nvPr/>
        </p:nvSpPr>
        <p:spPr>
          <a:xfrm>
            <a:off x="6172200" y="3611880"/>
            <a:ext cx="5349240" cy="822960"/>
          </a:xfrm>
          <a:prstGeom prst="rect">
            <a:avLst/>
          </a:prstGeom>
          <a:noFill/>
          <a:ln/>
        </p:spPr>
        <p:txBody>
          <a:bodyPr wrap="square" rtlCol="0" anchor="ctr"/>
          <a:lstStyle/>
          <a:p>
            <a:pPr indent="0" marL="0">
              <a:lnSpc>
                <a:spcPts val="1400"/>
              </a:lnSpc>
              <a:buNone/>
            </a:pPr>
            <a:r>
              <a:rPr lang="en-US" sz="1100" i="1" dirty="0">
                <a:solidFill>
                  <a:srgbClr val="2F9E86"/>
                </a:solidFill>
                <a:latin typeface="Calibri" pitchFamily="34" charset="0"/>
                <a:ea typeface="Calibri" pitchFamily="34" charset="-122"/>
                <a:cs typeface="Calibri" pitchFamily="34" charset="-120"/>
              </a:rPr>
              <a:t>WHY: this is the actual mechanistic reason “higher temperature lowers O/C” — previously known only as a correlation (-0.445), now modeled as a real reaction.</a:t>
            </a:r>
            <a:endParaRPr lang="en-US" sz="1100" dirty="0"/>
          </a:p>
        </p:txBody>
      </p:sp>
      <p:sp>
        <p:nvSpPr>
          <p:cNvPr id="16" name="Shape 14"/>
          <p:cNvSpPr/>
          <p:nvPr/>
        </p:nvSpPr>
        <p:spPr>
          <a:xfrm>
            <a:off x="548640" y="4572000"/>
            <a:ext cx="10972800" cy="1417320"/>
          </a:xfrm>
          <a:prstGeom prst="roundRect">
            <a:avLst>
              <a:gd name="adj" fmla="val 5161"/>
            </a:avLst>
          </a:prstGeom>
          <a:solidFill>
            <a:srgbClr val="FFFFFF"/>
          </a:solidFill>
          <a:ln w="12700">
            <a:solidFill>
              <a:srgbClr val="C97B3D"/>
            </a:solidFill>
            <a:prstDash val="solid"/>
          </a:ln>
        </p:spPr>
      </p:sp>
      <p:sp>
        <p:nvSpPr>
          <p:cNvPr id="17" name="Text 15"/>
          <p:cNvSpPr/>
          <p:nvPr/>
        </p:nvSpPr>
        <p:spPr>
          <a:xfrm>
            <a:off x="777240" y="4709160"/>
            <a:ext cx="10515600" cy="274320"/>
          </a:xfrm>
          <a:prstGeom prst="rect">
            <a:avLst/>
          </a:prstGeom>
          <a:noFill/>
          <a:ln/>
        </p:spPr>
        <p:txBody>
          <a:bodyPr wrap="square" rtlCol="0" anchor="ctr"/>
          <a:lstStyle/>
          <a:p>
            <a:pPr indent="0" marL="0">
              <a:buNone/>
            </a:pPr>
            <a:r>
              <a:rPr lang="en-US" sz="1150" b="1" dirty="0">
                <a:solidFill>
                  <a:srgbClr val="1B2420"/>
                </a:solidFill>
                <a:latin typeface="Calibri" pitchFamily="34" charset="0"/>
                <a:ea typeface="Calibri" pitchFamily="34" charset="-122"/>
                <a:cs typeface="Calibri" pitchFamily="34" charset="-120"/>
              </a:rPr>
              <a:t>Kinetic constants used (literature-representative, not fit to this dataset):</a:t>
            </a:r>
            <a:endParaRPr lang="en-US" sz="1150" dirty="0"/>
          </a:p>
        </p:txBody>
      </p:sp>
      <p:sp>
        <p:nvSpPr>
          <p:cNvPr id="18" name="Text 16"/>
          <p:cNvSpPr/>
          <p:nvPr/>
        </p:nvSpPr>
        <p:spPr>
          <a:xfrm>
            <a:off x="777240" y="5029200"/>
            <a:ext cx="10515600" cy="320040"/>
          </a:xfrm>
          <a:prstGeom prst="rect">
            <a:avLst/>
          </a:prstGeom>
          <a:noFill/>
          <a:ln/>
        </p:spPr>
        <p:txBody>
          <a:bodyPr wrap="square" rtlCol="0" anchor="ctr"/>
          <a:lstStyle/>
          <a:p>
            <a:pPr indent="0" marL="0">
              <a:buNone/>
            </a:pPr>
            <a:r>
              <a:rPr lang="en-US" sz="1050" b="1" dirty="0">
                <a:solidFill>
                  <a:srgbClr val="5B6864"/>
                </a:solidFill>
                <a:latin typeface="Calibri" pitchFamily="34" charset="0"/>
                <a:ea typeface="Calibri" pitchFamily="34" charset="-122"/>
                <a:cs typeface="Calibri" pitchFamily="34" charset="-120"/>
              </a:rPr>
              <a:t>Cellulose: </a:t>
            </a:r>
            <a:pPr indent="0" marL="0">
              <a:buNone/>
            </a:pPr>
            <a:r>
              <a:rPr lang="en-US" sz="1050" dirty="0">
                <a:solidFill>
                  <a:srgbClr val="5B6864"/>
                </a:solidFill>
                <a:latin typeface="Calibri" pitchFamily="34" charset="0"/>
                <a:ea typeface="Calibri" pitchFamily="34" charset="-122"/>
                <a:cs typeface="Calibri" pitchFamily="34" charset="-120"/>
              </a:rPr>
              <a:t>A=3.50×10¹², Ea=199.7 kJ/mol   </a:t>
            </a:r>
            <a:pPr indent="0" marL="0">
              <a:buNone/>
            </a:pPr>
            <a:r>
              <a:rPr lang="en-US" sz="1050" b="1" dirty="0">
                <a:solidFill>
                  <a:srgbClr val="5B6864"/>
                </a:solidFill>
                <a:latin typeface="Calibri" pitchFamily="34" charset="0"/>
                <a:ea typeface="Calibri" pitchFamily="34" charset="-122"/>
                <a:cs typeface="Calibri" pitchFamily="34" charset="-120"/>
              </a:rPr>
              <a:t>Hemicellulose: </a:t>
            </a:r>
            <a:pPr indent="0" marL="0">
              <a:buNone/>
            </a:pPr>
            <a:r>
              <a:rPr lang="en-US" sz="1050" dirty="0">
                <a:solidFill>
                  <a:srgbClr val="5B6864"/>
                </a:solidFill>
                <a:latin typeface="Calibri" pitchFamily="34" charset="0"/>
                <a:ea typeface="Calibri" pitchFamily="34" charset="-122"/>
                <a:cs typeface="Calibri" pitchFamily="34" charset="-120"/>
              </a:rPr>
              <a:t>A=9.67×10⁹, Ea=95.4 kJ/mol   </a:t>
            </a:r>
            <a:pPr indent="0" marL="0">
              <a:buNone/>
            </a:pPr>
            <a:r>
              <a:rPr lang="en-US" sz="1050" b="1" dirty="0">
                <a:solidFill>
                  <a:srgbClr val="5B6864"/>
                </a:solidFill>
                <a:latin typeface="Calibri" pitchFamily="34" charset="0"/>
                <a:ea typeface="Calibri" pitchFamily="34" charset="-122"/>
                <a:cs typeface="Calibri" pitchFamily="34" charset="-120"/>
              </a:rPr>
              <a:t>Lignin: </a:t>
            </a:r>
            <a:pPr indent="0" marL="0">
              <a:buNone/>
            </a:pPr>
            <a:r>
              <a:rPr lang="en-US" sz="1050" dirty="0">
                <a:solidFill>
                  <a:srgbClr val="5B6864"/>
                </a:solidFill>
                <a:latin typeface="Calibri" pitchFamily="34" charset="0"/>
                <a:ea typeface="Calibri" pitchFamily="34" charset="-122"/>
                <a:cs typeface="Calibri" pitchFamily="34" charset="-120"/>
              </a:rPr>
              <a:t>A=2.59×10⁵, Ea=174.4 kJ/mol</a:t>
            </a:r>
            <a:endParaRPr lang="en-US" sz="1050" dirty="0"/>
          </a:p>
        </p:txBody>
      </p:sp>
      <p:sp>
        <p:nvSpPr>
          <p:cNvPr id="19" name="Text 17"/>
          <p:cNvSpPr/>
          <p:nvPr/>
        </p:nvSpPr>
        <p:spPr>
          <a:xfrm>
            <a:off x="777240" y="5394960"/>
            <a:ext cx="10515600" cy="502920"/>
          </a:xfrm>
          <a:prstGeom prst="rect">
            <a:avLst/>
          </a:prstGeom>
          <a:noFill/>
          <a:ln/>
        </p:spPr>
        <p:txBody>
          <a:bodyPr wrap="square" rtlCol="0" anchor="ctr"/>
          <a:lstStyle/>
          <a:p>
            <a:pPr indent="0" marL="0">
              <a:lnSpc>
                <a:spcPts val="1250"/>
              </a:lnSpc>
              <a:buNone/>
            </a:pPr>
            <a:r>
              <a:rPr lang="en-US" sz="1000" i="1" dirty="0">
                <a:solidFill>
                  <a:srgbClr val="B85042"/>
                </a:solidFill>
                <a:latin typeface="Calibri" pitchFamily="34" charset="0"/>
                <a:ea typeface="Calibri" pitchFamily="34" charset="-122"/>
                <a:cs typeface="Calibri" pitchFamily="34" charset="-120"/>
              </a:rPr>
              <a:t>Tar-cracking: A=4.28×10⁶ 1/s, Ea=107.5 kJ/mol (Liden et al. 1988, widely cited — primary source could not be directly re-verified from this environment; flagged in the report as an honest confidence caveat, not presented as certain).</a:t>
            </a:r>
            <a:endParaRPr lang="en-US" sz="1000" dirty="0"/>
          </a:p>
        </p:txBody>
      </p:sp>
      <p:sp>
        <p:nvSpPr>
          <p:cNvPr id="20" name="Text 18"/>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21" name="Text 19"/>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6</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1B2420"/>
                </a:solidFill>
                <a:latin typeface="Cambria" pitchFamily="34" charset="0"/>
                <a:ea typeface="Cambria" pitchFamily="34" charset="-122"/>
                <a:cs typeface="Cambria" pitchFamily="34" charset="-120"/>
              </a:rPr>
              <a:t>Equation Group 2: Competitive Cellulose Pathway</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5B6864"/>
                </a:solidFill>
                <a:latin typeface="Calibri" pitchFamily="34" charset="0"/>
                <a:ea typeface="Calibri" pitchFamily="34" charset="-122"/>
                <a:cs typeface="Calibri" pitchFamily="34" charset="-120"/>
              </a:rPr>
              <a:t>Broido-Shafizadeh scheme (Bradbury, Sakai &amp; Shafizadeh, 1979) — cellulose doesn't just “convert,” it branches</a:t>
            </a:r>
            <a:endParaRPr lang="en-US" sz="1250" dirty="0"/>
          </a:p>
        </p:txBody>
      </p:sp>
      <p:sp>
        <p:nvSpPr>
          <p:cNvPr id="6" name="Shape 4"/>
          <p:cNvSpPr/>
          <p:nvPr/>
        </p:nvSpPr>
        <p:spPr>
          <a:xfrm>
            <a:off x="640080" y="1691640"/>
            <a:ext cx="2103120" cy="822960"/>
          </a:xfrm>
          <a:prstGeom prst="roundRect">
            <a:avLst>
              <a:gd name="adj" fmla="val 8889"/>
            </a:avLst>
          </a:prstGeom>
          <a:solidFill>
            <a:srgbClr val="13312C"/>
          </a:solidFill>
          <a:ln/>
        </p:spPr>
      </p:sp>
      <p:sp>
        <p:nvSpPr>
          <p:cNvPr id="7" name="Text 5"/>
          <p:cNvSpPr/>
          <p:nvPr/>
        </p:nvSpPr>
        <p:spPr>
          <a:xfrm>
            <a:off x="640080" y="1691640"/>
            <a:ext cx="2103120" cy="8229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Cellulose</a:t>
            </a:r>
            <a:endParaRPr lang="en-US" sz="1300" dirty="0"/>
          </a:p>
        </p:txBody>
      </p:sp>
      <p:sp>
        <p:nvSpPr>
          <p:cNvPr id="8" name="Shape 6"/>
          <p:cNvSpPr/>
          <p:nvPr/>
        </p:nvSpPr>
        <p:spPr>
          <a:xfrm>
            <a:off x="2743200" y="2103120"/>
            <a:ext cx="1188720" cy="0"/>
          </a:xfrm>
          <a:prstGeom prst="line">
            <a:avLst/>
          </a:prstGeom>
          <a:noFill/>
          <a:ln w="25400">
            <a:solidFill>
              <a:srgbClr val="C97B3D"/>
            </a:solidFill>
            <a:prstDash val="solid"/>
            <a:tailEnd type="triangle"/>
          </a:ln>
        </p:spPr>
      </p:sp>
      <p:sp>
        <p:nvSpPr>
          <p:cNvPr id="9" name="Text 7"/>
          <p:cNvSpPr/>
          <p:nvPr/>
        </p:nvSpPr>
        <p:spPr>
          <a:xfrm>
            <a:off x="2880360" y="1673352"/>
            <a:ext cx="914400" cy="274320"/>
          </a:xfrm>
          <a:prstGeom prst="rect">
            <a:avLst/>
          </a:prstGeom>
          <a:noFill/>
          <a:ln/>
        </p:spPr>
        <p:txBody>
          <a:bodyPr wrap="square" rtlCol="0" anchor="ctr"/>
          <a:lstStyle/>
          <a:p>
            <a:pPr indent="0" marL="0">
              <a:buNone/>
            </a:pPr>
            <a:r>
              <a:rPr lang="en-US" sz="1100" i="1" dirty="0">
                <a:solidFill>
                  <a:srgbClr val="C97B3D"/>
                </a:solidFill>
                <a:latin typeface="Calibri" pitchFamily="34" charset="0"/>
                <a:ea typeface="Calibri" pitchFamily="34" charset="-122"/>
                <a:cs typeface="Calibri" pitchFamily="34" charset="-120"/>
              </a:rPr>
              <a:t>ki</a:t>
            </a:r>
            <a:endParaRPr lang="en-US" sz="1100" dirty="0"/>
          </a:p>
        </p:txBody>
      </p:sp>
      <p:sp>
        <p:nvSpPr>
          <p:cNvPr id="10" name="Shape 8"/>
          <p:cNvSpPr/>
          <p:nvPr/>
        </p:nvSpPr>
        <p:spPr>
          <a:xfrm>
            <a:off x="3931920" y="1691640"/>
            <a:ext cx="2286000" cy="822960"/>
          </a:xfrm>
          <a:prstGeom prst="roundRect">
            <a:avLst>
              <a:gd name="adj" fmla="val 8889"/>
            </a:avLst>
          </a:prstGeom>
          <a:solidFill>
            <a:srgbClr val="2F9E86"/>
          </a:solidFill>
          <a:ln/>
        </p:spPr>
      </p:sp>
      <p:sp>
        <p:nvSpPr>
          <p:cNvPr id="11" name="Text 9"/>
          <p:cNvSpPr/>
          <p:nvPr/>
        </p:nvSpPr>
        <p:spPr>
          <a:xfrm>
            <a:off x="3931920" y="1691640"/>
            <a:ext cx="2286000" cy="8229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Active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Cellulose</a:t>
            </a:r>
            <a:endParaRPr lang="en-US" sz="1300" dirty="0"/>
          </a:p>
        </p:txBody>
      </p:sp>
      <p:sp>
        <p:nvSpPr>
          <p:cNvPr id="12" name="Shape 10"/>
          <p:cNvSpPr/>
          <p:nvPr/>
        </p:nvSpPr>
        <p:spPr>
          <a:xfrm>
            <a:off x="6217920" y="1874520"/>
            <a:ext cx="1371600" cy="-640080"/>
          </a:xfrm>
          <a:prstGeom prst="line">
            <a:avLst/>
          </a:prstGeom>
          <a:noFill/>
          <a:ln w="25400">
            <a:solidFill>
              <a:srgbClr val="C97B3D"/>
            </a:solidFill>
            <a:prstDash val="solid"/>
            <a:tailEnd type="triangle"/>
          </a:ln>
        </p:spPr>
      </p:sp>
      <p:sp>
        <p:nvSpPr>
          <p:cNvPr id="13" name="Text 11"/>
          <p:cNvSpPr/>
          <p:nvPr/>
        </p:nvSpPr>
        <p:spPr>
          <a:xfrm>
            <a:off x="6675120" y="1005840"/>
            <a:ext cx="914400" cy="274320"/>
          </a:xfrm>
          <a:prstGeom prst="rect">
            <a:avLst/>
          </a:prstGeom>
          <a:noFill/>
          <a:ln/>
        </p:spPr>
        <p:txBody>
          <a:bodyPr wrap="square" rtlCol="0" anchor="ctr"/>
          <a:lstStyle/>
          <a:p>
            <a:pPr indent="0" marL="0">
              <a:buNone/>
            </a:pPr>
            <a:r>
              <a:rPr lang="en-US" sz="1100" i="1" dirty="0">
                <a:solidFill>
                  <a:srgbClr val="C97B3D"/>
                </a:solidFill>
                <a:latin typeface="Calibri" pitchFamily="34" charset="0"/>
                <a:ea typeface="Calibri" pitchFamily="34" charset="-122"/>
                <a:cs typeface="Calibri" pitchFamily="34" charset="-120"/>
              </a:rPr>
              <a:t>kv</a:t>
            </a:r>
            <a:endParaRPr lang="en-US" sz="1100" dirty="0"/>
          </a:p>
        </p:txBody>
      </p:sp>
      <p:sp>
        <p:nvSpPr>
          <p:cNvPr id="14" name="Shape 12"/>
          <p:cNvSpPr/>
          <p:nvPr/>
        </p:nvSpPr>
        <p:spPr>
          <a:xfrm>
            <a:off x="7589520" y="777240"/>
            <a:ext cx="3566160" cy="777240"/>
          </a:xfrm>
          <a:prstGeom prst="roundRect">
            <a:avLst>
              <a:gd name="adj" fmla="val 9412"/>
            </a:avLst>
          </a:prstGeom>
          <a:solidFill>
            <a:srgbClr val="2F9E86"/>
          </a:solidFill>
          <a:ln/>
        </p:spPr>
      </p:sp>
      <p:sp>
        <p:nvSpPr>
          <p:cNvPr id="15" name="Text 13"/>
          <p:cNvSpPr/>
          <p:nvPr/>
        </p:nvSpPr>
        <p:spPr>
          <a:xfrm>
            <a:off x="7726680" y="777240"/>
            <a:ext cx="3291840" cy="7772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Volatiles (oxygenated tar / levoglucosan-type)</a:t>
            </a:r>
            <a:endParaRPr lang="en-US" sz="1150" dirty="0"/>
          </a:p>
        </p:txBody>
      </p:sp>
      <p:sp>
        <p:nvSpPr>
          <p:cNvPr id="16" name="Shape 14"/>
          <p:cNvSpPr/>
          <p:nvPr/>
        </p:nvSpPr>
        <p:spPr>
          <a:xfrm>
            <a:off x="6217920" y="2331720"/>
            <a:ext cx="1371600" cy="640080"/>
          </a:xfrm>
          <a:prstGeom prst="line">
            <a:avLst/>
          </a:prstGeom>
          <a:noFill/>
          <a:ln w="25400">
            <a:solidFill>
              <a:srgbClr val="C97B3D"/>
            </a:solidFill>
            <a:prstDash val="solid"/>
            <a:tailEnd type="triangle"/>
          </a:ln>
        </p:spPr>
      </p:sp>
      <p:sp>
        <p:nvSpPr>
          <p:cNvPr id="17" name="Text 15"/>
          <p:cNvSpPr/>
          <p:nvPr/>
        </p:nvSpPr>
        <p:spPr>
          <a:xfrm>
            <a:off x="6675120" y="2834640"/>
            <a:ext cx="914400" cy="274320"/>
          </a:xfrm>
          <a:prstGeom prst="rect">
            <a:avLst/>
          </a:prstGeom>
          <a:noFill/>
          <a:ln/>
        </p:spPr>
        <p:txBody>
          <a:bodyPr wrap="square" rtlCol="0" anchor="ctr"/>
          <a:lstStyle/>
          <a:p>
            <a:pPr indent="0" marL="0">
              <a:buNone/>
            </a:pPr>
            <a:r>
              <a:rPr lang="en-US" sz="1100" i="1" dirty="0">
                <a:solidFill>
                  <a:srgbClr val="C97B3D"/>
                </a:solidFill>
                <a:latin typeface="Calibri" pitchFamily="34" charset="0"/>
                <a:ea typeface="Calibri" pitchFamily="34" charset="-122"/>
                <a:cs typeface="Calibri" pitchFamily="34" charset="-120"/>
              </a:rPr>
              <a:t>kc</a:t>
            </a:r>
            <a:endParaRPr lang="en-US" sz="1100" dirty="0"/>
          </a:p>
        </p:txBody>
      </p:sp>
      <p:sp>
        <p:nvSpPr>
          <p:cNvPr id="18" name="Shape 16"/>
          <p:cNvSpPr/>
          <p:nvPr/>
        </p:nvSpPr>
        <p:spPr>
          <a:xfrm>
            <a:off x="7589520" y="2743200"/>
            <a:ext cx="3566160" cy="777240"/>
          </a:xfrm>
          <a:prstGeom prst="roundRect">
            <a:avLst>
              <a:gd name="adj" fmla="val 9412"/>
            </a:avLst>
          </a:prstGeom>
          <a:solidFill>
            <a:srgbClr val="13312C"/>
          </a:solidFill>
          <a:ln/>
        </p:spPr>
      </p:sp>
      <p:sp>
        <p:nvSpPr>
          <p:cNvPr id="19" name="Text 17"/>
          <p:cNvSpPr/>
          <p:nvPr/>
        </p:nvSpPr>
        <p:spPr>
          <a:xfrm>
            <a:off x="7726680" y="2743200"/>
            <a:ext cx="3291840" cy="7772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Char + Gas</a:t>
            </a:r>
            <a:endParaRPr lang="en-US" sz="1250" dirty="0"/>
          </a:p>
        </p:txBody>
      </p:sp>
      <p:sp>
        <p:nvSpPr>
          <p:cNvPr id="20" name="Text 18"/>
          <p:cNvSpPr/>
          <p:nvPr/>
        </p:nvSpPr>
        <p:spPr>
          <a:xfrm>
            <a:off x="548640" y="3977640"/>
            <a:ext cx="10972800" cy="731520"/>
          </a:xfrm>
          <a:prstGeom prst="rect">
            <a:avLst/>
          </a:prstGeom>
          <a:noFill/>
          <a:ln/>
        </p:spPr>
        <p:txBody>
          <a:bodyPr wrap="square" rtlCol="0" anchor="ctr"/>
          <a:lstStyle/>
          <a:p>
            <a:pPr indent="0" marL="0">
              <a:lnSpc>
                <a:spcPts val="1500"/>
              </a:lnSpc>
              <a:buNone/>
            </a:pPr>
            <a:r>
              <a:rPr lang="en-US" sz="1200" dirty="0">
                <a:solidFill>
                  <a:srgbClr val="5B6864"/>
                </a:solidFill>
                <a:latin typeface="Calibri" pitchFamily="34" charset="0"/>
                <a:ea typeface="Calibri" pitchFamily="34" charset="-122"/>
                <a:cs typeface="Calibri" pitchFamily="34" charset="-120"/>
              </a:rPr>
              <a:t>Cellulose forms an intermediate (“active cellulose”), which then splits between TWO competing reactions — one producing oxygenated liquid, the other producing char+gas. Modeling this competition (instead of one lumped number) gives the model a cellulose-specific prediction of oxygenated-liquid yield.</a:t>
            </a:r>
            <a:endParaRPr lang="en-US" sz="1200" dirty="0"/>
          </a:p>
        </p:txBody>
      </p:sp>
      <p:sp>
        <p:nvSpPr>
          <p:cNvPr id="21" name="Shape 19"/>
          <p:cNvSpPr/>
          <p:nvPr/>
        </p:nvSpPr>
        <p:spPr>
          <a:xfrm>
            <a:off x="548640" y="4800600"/>
            <a:ext cx="10972800" cy="822960"/>
          </a:xfrm>
          <a:prstGeom prst="roundRect">
            <a:avLst>
              <a:gd name="adj" fmla="val 6667"/>
            </a:avLst>
          </a:prstGeom>
          <a:solidFill>
            <a:srgbClr val="13312C"/>
          </a:solidFill>
          <a:ln/>
        </p:spPr>
      </p:sp>
      <p:sp>
        <p:nvSpPr>
          <p:cNvPr id="22" name="Text 20"/>
          <p:cNvSpPr/>
          <p:nvPr/>
        </p:nvSpPr>
        <p:spPr>
          <a:xfrm>
            <a:off x="685800" y="4800600"/>
            <a:ext cx="10698480" cy="822960"/>
          </a:xfrm>
          <a:prstGeom prst="rect">
            <a:avLst/>
          </a:prstGeom>
          <a:noFill/>
          <a:ln/>
        </p:spPr>
        <p:txBody>
          <a:bodyPr wrap="square"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ki = 1.7×10²¹·exp(-242,672/RT)     kv = 1.9×10¹⁶·exp(-197,905/RT)     kc = 7.9×10¹¹·exp(-153,134/RT)   [1/min]</a:t>
            </a:r>
            <a:endParaRPr lang="en-US" sz="1150" dirty="0"/>
          </a:p>
        </p:txBody>
      </p:sp>
      <p:sp>
        <p:nvSpPr>
          <p:cNvPr id="23" name="Text 21"/>
          <p:cNvSpPr/>
          <p:nvPr/>
        </p:nvSpPr>
        <p:spPr>
          <a:xfrm>
            <a:off x="548640" y="5760720"/>
            <a:ext cx="10972800" cy="457200"/>
          </a:xfrm>
          <a:prstGeom prst="rect">
            <a:avLst/>
          </a:prstGeom>
          <a:noFill/>
          <a:ln/>
        </p:spPr>
        <p:txBody>
          <a:bodyPr wrap="square" rtlCol="0" anchor="ctr"/>
          <a:lstStyle/>
          <a:p>
            <a:pPr indent="0" marL="0">
              <a:buNone/>
            </a:pPr>
            <a:r>
              <a:rPr lang="en-US" sz="1100" i="1" dirty="0">
                <a:solidFill>
                  <a:srgbClr val="2F9E86"/>
                </a:solidFill>
                <a:latin typeface="Calibri" pitchFamily="34" charset="0"/>
                <a:ea typeface="Calibri" pitchFamily="34" charset="-122"/>
                <a:cs typeface="Calibri" pitchFamily="34" charset="-120"/>
              </a:rPr>
              <a:t>WHY: this is real cellulose pyrolysis chemistry, not a generic decay curve — it directly represents the well-documented split between the oxygenated liquid product (levoglucosan) and char formation.</a:t>
            </a:r>
            <a:endParaRPr lang="en-US" sz="1100" dirty="0"/>
          </a:p>
        </p:txBody>
      </p:sp>
      <p:sp>
        <p:nvSpPr>
          <p:cNvPr id="24" name="Text 22"/>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25" name="Text 23"/>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7</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1B2420"/>
                </a:solidFill>
                <a:latin typeface="Cambria" pitchFamily="34" charset="0"/>
                <a:ea typeface="Cambria" pitchFamily="34" charset="-122"/>
                <a:cs typeface="Cambria" pitchFamily="34" charset="-120"/>
              </a:rPr>
              <a:t>Equation Group 3: Auxiliary Physics</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5B6864"/>
                </a:solidFill>
                <a:latin typeface="Calibri" pitchFamily="34" charset="0"/>
                <a:ea typeface="Calibri" pitchFamily="34" charset="-122"/>
                <a:cs typeface="Calibri" pitchFamily="34" charset="-120"/>
              </a:rPr>
              <a:t>Two more mechanisms affecting the process, beyond core reaction kinetics</a:t>
            </a:r>
            <a:endParaRPr lang="en-US" sz="1250" dirty="0"/>
          </a:p>
        </p:txBody>
      </p:sp>
      <p:sp>
        <p:nvSpPr>
          <p:cNvPr id="6" name="Shape 4"/>
          <p:cNvSpPr/>
          <p:nvPr/>
        </p:nvSpPr>
        <p:spPr>
          <a:xfrm>
            <a:off x="548640" y="1417320"/>
            <a:ext cx="5349240" cy="731520"/>
          </a:xfrm>
          <a:prstGeom prst="roundRect">
            <a:avLst>
              <a:gd name="adj" fmla="val 7500"/>
            </a:avLst>
          </a:prstGeom>
          <a:solidFill>
            <a:srgbClr val="13312C"/>
          </a:solidFill>
          <a:ln/>
        </p:spPr>
      </p:sp>
      <p:sp>
        <p:nvSpPr>
          <p:cNvPr id="7" name="Text 5"/>
          <p:cNvSpPr/>
          <p:nvPr/>
        </p:nvSpPr>
        <p:spPr>
          <a:xfrm>
            <a:off x="685800" y="1417320"/>
            <a:ext cx="5074920" cy="73152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Ea_eff = Ea_cellulose × (1 - 0.3·Ash_fraction)</a:t>
            </a:r>
            <a:endParaRPr lang="en-US" sz="1300" dirty="0"/>
          </a:p>
        </p:txBody>
      </p:sp>
      <p:sp>
        <p:nvSpPr>
          <p:cNvPr id="8" name="Text 6"/>
          <p:cNvSpPr/>
          <p:nvPr/>
        </p:nvSpPr>
        <p:spPr>
          <a:xfrm>
            <a:off x="548640" y="2240280"/>
            <a:ext cx="5349240" cy="292608"/>
          </a:xfrm>
          <a:prstGeom prst="rect">
            <a:avLst/>
          </a:prstGeom>
          <a:noFill/>
          <a:ln/>
        </p:spPr>
        <p:txBody>
          <a:bodyPr wrap="square" rtlCol="0" anchor="ctr"/>
          <a:lstStyle/>
          <a:p>
            <a:pPr indent="0" marL="0">
              <a:buNone/>
            </a:pPr>
            <a:r>
              <a:rPr lang="en-US" sz="1300" b="1" dirty="0">
                <a:solidFill>
                  <a:srgbClr val="1B2420"/>
                </a:solidFill>
                <a:latin typeface="Calibri" pitchFamily="34" charset="0"/>
                <a:ea typeface="Calibri" pitchFamily="34" charset="-122"/>
                <a:cs typeface="Calibri" pitchFamily="34" charset="-120"/>
              </a:rPr>
              <a:t>Ash-Catalyzed Decomposition</a:t>
            </a:r>
            <a:endParaRPr lang="en-US" sz="1300" dirty="0"/>
          </a:p>
        </p:txBody>
      </p:sp>
      <p:sp>
        <p:nvSpPr>
          <p:cNvPr id="9" name="Text 7"/>
          <p:cNvSpPr/>
          <p:nvPr/>
        </p:nvSpPr>
        <p:spPr>
          <a:xfrm>
            <a:off x="548640" y="2560320"/>
            <a:ext cx="5349240" cy="868680"/>
          </a:xfrm>
          <a:prstGeom prst="rect">
            <a:avLst/>
          </a:prstGeom>
          <a:noFill/>
          <a:ln/>
        </p:spPr>
        <p:txBody>
          <a:bodyPr wrap="square" rtlCol="0" anchor="ctr"/>
          <a:lstStyle/>
          <a:p>
            <a:pPr indent="0" marL="0">
              <a:lnSpc>
                <a:spcPts val="1450"/>
              </a:lnSpc>
              <a:buNone/>
            </a:pPr>
            <a:r>
              <a:rPr lang="en-US" sz="1130" dirty="0">
                <a:solidFill>
                  <a:srgbClr val="5B6864"/>
                </a:solidFill>
                <a:latin typeface="Calibri" pitchFamily="34" charset="0"/>
                <a:ea typeface="Calibri" pitchFamily="34" charset="-122"/>
                <a:cs typeface="Calibri" pitchFamily="34" charset="-120"/>
              </a:rPr>
              <a:t>Biomass ash contains alkali/alkaline-earth metals (K, Na, Ca, Mg) that catalytically speed up cellulose breakdown — well documented in pyrolysis literature. Modeled as a correction to cellulose's activation energy.</a:t>
            </a:r>
            <a:endParaRPr lang="en-US" sz="1130" dirty="0"/>
          </a:p>
        </p:txBody>
      </p:sp>
      <p:sp>
        <p:nvSpPr>
          <p:cNvPr id="10" name="Text 8"/>
          <p:cNvSpPr/>
          <p:nvPr/>
        </p:nvSpPr>
        <p:spPr>
          <a:xfrm>
            <a:off x="548640" y="3520440"/>
            <a:ext cx="5349240" cy="777240"/>
          </a:xfrm>
          <a:prstGeom prst="rect">
            <a:avLst/>
          </a:prstGeom>
          <a:noFill/>
          <a:ln/>
        </p:spPr>
        <p:txBody>
          <a:bodyPr wrap="square" rtlCol="0" anchor="ctr"/>
          <a:lstStyle/>
          <a:p>
            <a:pPr indent="0" marL="0">
              <a:lnSpc>
                <a:spcPts val="1400"/>
              </a:lnSpc>
              <a:buNone/>
            </a:pPr>
            <a:r>
              <a:rPr lang="en-US" sz="1080" i="1" dirty="0">
                <a:solidFill>
                  <a:srgbClr val="2F9E86"/>
                </a:solidFill>
                <a:latin typeface="Calibri" pitchFamily="34" charset="0"/>
                <a:ea typeface="Calibri" pitchFamily="34" charset="-122"/>
                <a:cs typeface="Calibri" pitchFamily="34" charset="-120"/>
              </a:rPr>
              <a:t>WHY: ash content is a real, measured input in this dataset, and its catalytic chemistry effect on cellulose decomposition is a distinct mechanism from thermal kinetics alone.</a:t>
            </a:r>
            <a:endParaRPr lang="en-US" sz="1080" dirty="0"/>
          </a:p>
        </p:txBody>
      </p:sp>
      <p:sp>
        <p:nvSpPr>
          <p:cNvPr id="11" name="Text 9"/>
          <p:cNvSpPr/>
          <p:nvPr/>
        </p:nvSpPr>
        <p:spPr>
          <a:xfrm>
            <a:off x="548640" y="4343400"/>
            <a:ext cx="5349240" cy="685800"/>
          </a:xfrm>
          <a:prstGeom prst="rect">
            <a:avLst/>
          </a:prstGeom>
          <a:noFill/>
          <a:ln/>
        </p:spPr>
        <p:txBody>
          <a:bodyPr wrap="square" rtlCol="0" anchor="ctr"/>
          <a:lstStyle/>
          <a:p>
            <a:pPr indent="0" marL="0">
              <a:lnSpc>
                <a:spcPts val="1300"/>
              </a:lnSpc>
              <a:buNone/>
            </a:pPr>
            <a:r>
              <a:rPr lang="en-US" sz="1000" i="1" dirty="0">
                <a:solidFill>
                  <a:srgbClr val="B85042"/>
                </a:solidFill>
                <a:latin typeface="Calibri" pitchFamily="34" charset="0"/>
                <a:ea typeface="Calibri" pitchFamily="34" charset="-122"/>
                <a:cs typeface="Calibri" pitchFamily="34" charset="-120"/>
              </a:rPr>
              <a:t>Most approximate feature in the model: the 0.3 coefficient is a reasoned literature-informed estimate, not calibrated to one specific study — flagged explicitly in the documentation.</a:t>
            </a:r>
            <a:endParaRPr lang="en-US" sz="1000" dirty="0"/>
          </a:p>
        </p:txBody>
      </p:sp>
      <p:sp>
        <p:nvSpPr>
          <p:cNvPr id="12" name="Shape 10"/>
          <p:cNvSpPr/>
          <p:nvPr/>
        </p:nvSpPr>
        <p:spPr>
          <a:xfrm>
            <a:off x="6172200" y="1417320"/>
            <a:ext cx="5349240" cy="731520"/>
          </a:xfrm>
          <a:prstGeom prst="roundRect">
            <a:avLst>
              <a:gd name="adj" fmla="val 7500"/>
            </a:avLst>
          </a:prstGeom>
          <a:solidFill>
            <a:srgbClr val="13312C"/>
          </a:solidFill>
          <a:ln/>
        </p:spPr>
      </p:sp>
      <p:sp>
        <p:nvSpPr>
          <p:cNvPr id="13" name="Text 11"/>
          <p:cNvSpPr/>
          <p:nvPr/>
        </p:nvSpPr>
        <p:spPr>
          <a:xfrm>
            <a:off x="6309360" y="1417320"/>
            <a:ext cx="5074920" cy="73152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HHV = 33.5C + 142.3H - 15.4O - 14.5N</a:t>
            </a:r>
            <a:endParaRPr lang="en-US" sz="1300" dirty="0"/>
          </a:p>
        </p:txBody>
      </p:sp>
      <p:sp>
        <p:nvSpPr>
          <p:cNvPr id="14" name="Text 12"/>
          <p:cNvSpPr/>
          <p:nvPr/>
        </p:nvSpPr>
        <p:spPr>
          <a:xfrm>
            <a:off x="6172200" y="2240280"/>
            <a:ext cx="5349240" cy="292608"/>
          </a:xfrm>
          <a:prstGeom prst="rect">
            <a:avLst/>
          </a:prstGeom>
          <a:noFill/>
          <a:ln/>
        </p:spPr>
        <p:txBody>
          <a:bodyPr wrap="square" rtlCol="0" anchor="ctr"/>
          <a:lstStyle/>
          <a:p>
            <a:pPr indent="0" marL="0">
              <a:buNone/>
            </a:pPr>
            <a:r>
              <a:rPr lang="en-US" sz="1300" b="1" dirty="0">
                <a:solidFill>
                  <a:srgbClr val="1B2420"/>
                </a:solidFill>
                <a:latin typeface="Calibri" pitchFamily="34" charset="0"/>
                <a:ea typeface="Calibri" pitchFamily="34" charset="-122"/>
                <a:cs typeface="Calibri" pitchFamily="34" charset="-120"/>
              </a:rPr>
              <a:t>Modified Dulong Formula</a:t>
            </a:r>
            <a:endParaRPr lang="en-US" sz="1300" dirty="0"/>
          </a:p>
        </p:txBody>
      </p:sp>
      <p:sp>
        <p:nvSpPr>
          <p:cNvPr id="15" name="Text 13"/>
          <p:cNvSpPr/>
          <p:nvPr/>
        </p:nvSpPr>
        <p:spPr>
          <a:xfrm>
            <a:off x="6172200" y="2560320"/>
            <a:ext cx="5349240" cy="731520"/>
          </a:xfrm>
          <a:prstGeom prst="rect">
            <a:avLst/>
          </a:prstGeom>
          <a:noFill/>
          <a:ln/>
        </p:spPr>
        <p:txBody>
          <a:bodyPr wrap="square" rtlCol="0" anchor="ctr"/>
          <a:lstStyle/>
          <a:p>
            <a:pPr indent="0" marL="0">
              <a:lnSpc>
                <a:spcPts val="1450"/>
              </a:lnSpc>
              <a:buNone/>
            </a:pPr>
            <a:r>
              <a:rPr lang="en-US" sz="1130" dirty="0">
                <a:solidFill>
                  <a:srgbClr val="5B6864"/>
                </a:solidFill>
                <a:latin typeface="Calibri" pitchFamily="34" charset="0"/>
                <a:ea typeface="Calibri" pitchFamily="34" charset="-122"/>
                <a:cs typeface="Calibri" pitchFamily="34" charset="-120"/>
              </a:rPr>
              <a:t>A standard combustion-engineering correlation: fuel energy content (HHV, MJ/kg) computed directly from elemental composition (C, H, O, N mass fractions).</a:t>
            </a:r>
            <a:endParaRPr lang="en-US" sz="1130" dirty="0"/>
          </a:p>
        </p:txBody>
      </p:sp>
      <p:sp>
        <p:nvSpPr>
          <p:cNvPr id="16" name="Text 14"/>
          <p:cNvSpPr/>
          <p:nvPr/>
        </p:nvSpPr>
        <p:spPr>
          <a:xfrm>
            <a:off x="6172200" y="3383280"/>
            <a:ext cx="5349240" cy="822960"/>
          </a:xfrm>
          <a:prstGeom prst="rect">
            <a:avLst/>
          </a:prstGeom>
          <a:noFill/>
          <a:ln/>
        </p:spPr>
        <p:txBody>
          <a:bodyPr wrap="square" rtlCol="0" anchor="ctr"/>
          <a:lstStyle/>
          <a:p>
            <a:pPr indent="0" marL="0">
              <a:lnSpc>
                <a:spcPts val="1400"/>
              </a:lnSpc>
              <a:buNone/>
            </a:pPr>
            <a:r>
              <a:rPr lang="en-US" sz="1080" i="1" dirty="0">
                <a:solidFill>
                  <a:srgbClr val="2F9E86"/>
                </a:solidFill>
                <a:latin typeface="Calibri" pitchFamily="34" charset="0"/>
                <a:ea typeface="Calibri" pitchFamily="34" charset="-122"/>
                <a:cs typeface="Calibri" pitchFamily="34" charset="-120"/>
              </a:rPr>
              <a:t>WHY: gives the model a physics-derived estimate of the feedstock's own energy content — directly useful for the calorific-value target, and correlated with feedstock oxygen loading (relevant to O/C too).</a:t>
            </a:r>
            <a:endParaRPr lang="en-US" sz="1080" dirty="0"/>
          </a:p>
        </p:txBody>
      </p:sp>
      <p:sp>
        <p:nvSpPr>
          <p:cNvPr id="17" name="Shape 15"/>
          <p:cNvSpPr/>
          <p:nvPr/>
        </p:nvSpPr>
        <p:spPr>
          <a:xfrm>
            <a:off x="548640" y="5257800"/>
            <a:ext cx="10972800" cy="822960"/>
          </a:xfrm>
          <a:prstGeom prst="roundRect">
            <a:avLst>
              <a:gd name="adj" fmla="val 8889"/>
            </a:avLst>
          </a:prstGeom>
          <a:solidFill>
            <a:srgbClr val="13312C"/>
          </a:solidFill>
          <a:ln/>
        </p:spPr>
      </p:sp>
      <p:sp>
        <p:nvSpPr>
          <p:cNvPr id="18" name="Text 16"/>
          <p:cNvSpPr/>
          <p:nvPr/>
        </p:nvSpPr>
        <p:spPr>
          <a:xfrm>
            <a:off x="777240" y="5257800"/>
            <a:ext cx="10515600" cy="8229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Full physics layer: </a:t>
            </a:r>
            <a:pPr indent="0" marL="0">
              <a:buNone/>
            </a:pPr>
            <a:r>
              <a:rPr lang="en-US" sz="1200" dirty="0">
                <a:solidFill>
                  <a:srgbClr val="D7E4E1"/>
                </a:solidFill>
                <a:latin typeface="Calibri" pitchFamily="34" charset="0"/>
                <a:ea typeface="Calibri" pitchFamily="34" charset="-122"/>
                <a:cs typeface="Calibri" pitchFamily="34" charset="-120"/>
              </a:rPr>
              <a:t>5 mechanisms → 11 engineered features feeding the model (Arrhenius conversion ×3, composition-weighted conversion, char fraction, cellulose volatile/char-gas split, tar-cracking severity, ash-adjusted conversion, residence time, HHV).</a:t>
            </a:r>
            <a:endParaRPr lang="en-US" sz="1200" dirty="0"/>
          </a:p>
        </p:txBody>
      </p:sp>
      <p:sp>
        <p:nvSpPr>
          <p:cNvPr id="19" name="Text 17"/>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20" name="Text 18"/>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8</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1B2420"/>
                </a:solidFill>
                <a:latin typeface="Cambria" pitchFamily="34" charset="0"/>
                <a:ea typeface="Cambria" pitchFamily="34" charset="-122"/>
                <a:cs typeface="Cambria" pitchFamily="34" charset="-120"/>
              </a:rPr>
              <a:t>Measured Impact: Without Physics vs. With Physics</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5B6864"/>
                </a:solidFill>
                <a:latin typeface="Calibri" pitchFamily="34" charset="0"/>
                <a:ea typeface="Calibri" pitchFamily="34" charset="-122"/>
                <a:cs typeface="Calibri" pitchFamily="34" charset="-120"/>
              </a:rPr>
              <a:t>Does the physics layer actually help, or is it just decoration? Tested directly.</a:t>
            </a:r>
            <a:endParaRPr lang="en-US" sz="1250" dirty="0"/>
          </a:p>
        </p:txBody>
      </p:sp>
      <p:graphicFrame>
        <p:nvGraphicFramePr>
          <p:cNvPr id="6" name="Chart 0" descr=""/>
          <p:cNvGraphicFramePr/>
          <p:nvPr/>
        </p:nvGraphicFramePr>
        <p:xfrm>
          <a:off x="548640" y="141732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406640" y="1600200"/>
            <a:ext cx="4206240" cy="320040"/>
          </a:xfrm>
          <a:prstGeom prst="rect">
            <a:avLst/>
          </a:prstGeom>
          <a:noFill/>
          <a:ln/>
        </p:spPr>
        <p:txBody>
          <a:bodyPr wrap="square" rtlCol="0" anchor="ctr"/>
          <a:lstStyle/>
          <a:p>
            <a:pPr indent="0" marL="0">
              <a:buNone/>
            </a:pPr>
            <a:r>
              <a:rPr lang="en-US" sz="1300" b="1" dirty="0">
                <a:solidFill>
                  <a:srgbClr val="2F9E86"/>
                </a:solidFill>
                <a:latin typeface="Calibri" pitchFamily="34" charset="0"/>
                <a:ea typeface="Calibri" pitchFamily="34" charset="-122"/>
                <a:cs typeface="Calibri" pitchFamily="34" charset="-120"/>
              </a:rPr>
              <a:t>Physics alone is not enough</a:t>
            </a:r>
            <a:endParaRPr lang="en-US" sz="1300" dirty="0"/>
          </a:p>
        </p:txBody>
      </p:sp>
      <p:sp>
        <p:nvSpPr>
          <p:cNvPr id="8" name="Text 5"/>
          <p:cNvSpPr/>
          <p:nvPr/>
        </p:nvSpPr>
        <p:spPr>
          <a:xfrm>
            <a:off x="7406640" y="1929384"/>
            <a:ext cx="4206240" cy="1005840"/>
          </a:xfrm>
          <a:prstGeom prst="rect">
            <a:avLst/>
          </a:prstGeom>
          <a:noFill/>
          <a:ln/>
        </p:spPr>
        <p:txBody>
          <a:bodyPr wrap="square" rtlCol="0" anchor="ctr"/>
          <a:lstStyle/>
          <a:p>
            <a:pPr indent="0" marL="0">
              <a:lnSpc>
                <a:spcPts val="1400"/>
              </a:lnSpc>
              <a:buNone/>
            </a:pPr>
            <a:r>
              <a:rPr lang="en-US" sz="1100" dirty="0">
                <a:solidFill>
                  <a:srgbClr val="5B6864"/>
                </a:solidFill>
                <a:latin typeface="Calibri" pitchFamily="34" charset="0"/>
                <a:ea typeface="Calibri" pitchFamily="34" charset="-122"/>
                <a:cs typeface="Calibri" pitchFamily="34" charset="-120"/>
              </a:rPr>
              <a:t>A simple equation-only fit explains almost none of the variance (R²=0.03) — real pyrolysis has too many interacting, non-linear effects for 2-3 equations alone to capture.</a:t>
            </a:r>
            <a:endParaRPr lang="en-US" sz="1100" dirty="0"/>
          </a:p>
        </p:txBody>
      </p:sp>
      <p:sp>
        <p:nvSpPr>
          <p:cNvPr id="9" name="Text 6"/>
          <p:cNvSpPr/>
          <p:nvPr/>
        </p:nvSpPr>
        <p:spPr>
          <a:xfrm>
            <a:off x="7406640" y="3017520"/>
            <a:ext cx="4206240" cy="320040"/>
          </a:xfrm>
          <a:prstGeom prst="rect">
            <a:avLst/>
          </a:prstGeom>
          <a:noFill/>
          <a:ln/>
        </p:spPr>
        <p:txBody>
          <a:bodyPr wrap="square" rtlCol="0" anchor="ctr"/>
          <a:lstStyle/>
          <a:p>
            <a:pPr indent="0" marL="0">
              <a:buNone/>
            </a:pPr>
            <a:r>
              <a:rPr lang="en-US" sz="1300" b="1" dirty="0">
                <a:solidFill>
                  <a:srgbClr val="2F9E86"/>
                </a:solidFill>
                <a:latin typeface="Calibri" pitchFamily="34" charset="0"/>
                <a:ea typeface="Calibri" pitchFamily="34" charset="-122"/>
                <a:cs typeface="Calibri" pitchFamily="34" charset="-120"/>
              </a:rPr>
              <a:t>But physics measurably helps ML</a:t>
            </a:r>
            <a:endParaRPr lang="en-US" sz="1300" dirty="0"/>
          </a:p>
        </p:txBody>
      </p:sp>
      <p:sp>
        <p:nvSpPr>
          <p:cNvPr id="10" name="Text 7"/>
          <p:cNvSpPr/>
          <p:nvPr/>
        </p:nvSpPr>
        <p:spPr>
          <a:xfrm>
            <a:off x="7406640" y="3346704"/>
            <a:ext cx="4206240" cy="1005840"/>
          </a:xfrm>
          <a:prstGeom prst="rect">
            <a:avLst/>
          </a:prstGeom>
          <a:noFill/>
          <a:ln/>
        </p:spPr>
        <p:txBody>
          <a:bodyPr wrap="square" rtlCol="0" anchor="ctr"/>
          <a:lstStyle/>
          <a:p>
            <a:pPr indent="0" marL="0">
              <a:lnSpc>
                <a:spcPts val="1400"/>
              </a:lnSpc>
              <a:buNone/>
            </a:pPr>
            <a:r>
              <a:rPr lang="en-US" sz="1100" dirty="0">
                <a:solidFill>
                  <a:srgbClr val="5B6864"/>
                </a:solidFill>
                <a:latin typeface="Calibri" pitchFamily="34" charset="0"/>
                <a:ea typeface="Calibri" pitchFamily="34" charset="-122"/>
                <a:cs typeface="Calibri" pitchFamily="34" charset="-120"/>
              </a:rPr>
              <a:t>Adding the SAME equations as features to the tree-ensemble model steadily improved it: 0.886 → 0.891 → 0.900 as the physics layer was expanded from 2 to 5 mechanisms.</a:t>
            </a:r>
            <a:endParaRPr lang="en-US" sz="1100" dirty="0"/>
          </a:p>
        </p:txBody>
      </p:sp>
      <p:sp>
        <p:nvSpPr>
          <p:cNvPr id="11" name="Text 8"/>
          <p:cNvSpPr/>
          <p:nvPr/>
        </p:nvSpPr>
        <p:spPr>
          <a:xfrm>
            <a:off x="7406640" y="4434840"/>
            <a:ext cx="4206240" cy="320040"/>
          </a:xfrm>
          <a:prstGeom prst="rect">
            <a:avLst/>
          </a:prstGeom>
          <a:noFill/>
          <a:ln/>
        </p:spPr>
        <p:txBody>
          <a:bodyPr wrap="square" rtlCol="0" anchor="ctr"/>
          <a:lstStyle/>
          <a:p>
            <a:pPr indent="0" marL="0">
              <a:buNone/>
            </a:pPr>
            <a:r>
              <a:rPr lang="en-US" sz="1300" b="1" dirty="0">
                <a:solidFill>
                  <a:srgbClr val="2F9E86"/>
                </a:solidFill>
                <a:latin typeface="Calibri" pitchFamily="34" charset="0"/>
                <a:ea typeface="Calibri" pitchFamily="34" charset="-122"/>
                <a:cs typeface="Calibri" pitchFamily="34" charset="-120"/>
              </a:rPr>
              <a:t>Conclusion</a:t>
            </a:r>
            <a:endParaRPr lang="en-US" sz="1300" dirty="0"/>
          </a:p>
        </p:txBody>
      </p:sp>
      <p:sp>
        <p:nvSpPr>
          <p:cNvPr id="12" name="Text 9"/>
          <p:cNvSpPr/>
          <p:nvPr/>
        </p:nvSpPr>
        <p:spPr>
          <a:xfrm>
            <a:off x="7406640" y="4764024"/>
            <a:ext cx="4206240" cy="1005840"/>
          </a:xfrm>
          <a:prstGeom prst="rect">
            <a:avLst/>
          </a:prstGeom>
          <a:noFill/>
          <a:ln/>
        </p:spPr>
        <p:txBody>
          <a:bodyPr wrap="square" rtlCol="0" anchor="ctr"/>
          <a:lstStyle/>
          <a:p>
            <a:pPr indent="0" marL="0">
              <a:lnSpc>
                <a:spcPts val="1400"/>
              </a:lnSpc>
              <a:buNone/>
            </a:pPr>
            <a:r>
              <a:rPr lang="en-US" sz="1100" dirty="0">
                <a:solidFill>
                  <a:srgbClr val="5B6864"/>
                </a:solidFill>
                <a:latin typeface="Calibri" pitchFamily="34" charset="0"/>
                <a:ea typeface="Calibri" pitchFamily="34" charset="-122"/>
                <a:cs typeface="Calibri" pitchFamily="34" charset="-120"/>
              </a:rPr>
              <a:t>The equations are doing real predictive work inside the hybrid model — not just adding explainability on top of an unchanged black box.</a:t>
            </a:r>
            <a:endParaRPr lang="en-US" sz="1100" dirty="0"/>
          </a:p>
        </p:txBody>
      </p:sp>
      <p:sp>
        <p:nvSpPr>
          <p:cNvPr id="13" name="Text 10"/>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14" name="Text 11"/>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9</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1B2420"/>
                </a:solidFill>
                <a:latin typeface="Cambria" pitchFamily="34" charset="0"/>
                <a:ea typeface="Cambria" pitchFamily="34" charset="-122"/>
                <a:cs typeface="Cambria" pitchFamily="34" charset="-120"/>
              </a:rPr>
              <a:t>Full Model Benchmark — O/C Target</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5B6864"/>
                </a:solidFill>
                <a:latin typeface="Calibri" pitchFamily="34" charset="0"/>
                <a:ea typeface="Calibri" pitchFamily="34" charset="-122"/>
                <a:cs typeface="Calibri" pitchFamily="34" charset="-120"/>
              </a:rPr>
              <a:t>All 7 algorithms, same physics-informed feature set, same held-out test set (n=47)</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0972800" cy="914400"/>
        </p:xfrm>
        <a:graphic>
          <a:graphicData uri="http://schemas.openxmlformats.org/drawingml/2006/table">
            <a:tbl>
              <a:tblPr/>
              <a:tblGrid>
                <a:gridCol w="2926080"/>
                <a:gridCol w="2011680"/>
                <a:gridCol w="2011680"/>
                <a:gridCol w="2011680"/>
                <a:gridCol w="20116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13312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CV R² (train)</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13312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R²</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13312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RMSE</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13312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MAE</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13312C"/>
                    </a:solidFill>
                  </a:tcPr>
                </a:tc>
              </a:tr>
              <a:tr h="384048">
                <a:tc>
                  <a:txBody>
                    <a:bodyPr/>
                    <a:lstStyle/>
                    <a:p>
                      <a:pPr indent="0" marL="0">
                        <a:buNone/>
                      </a:pPr>
                      <a:r>
                        <a:rPr lang="en-US" sz="1200" b="1" dirty="0">
                          <a:solidFill>
                            <a:srgbClr val="1B2420"/>
                          </a:solidFill>
                          <a:latin typeface="Calibri" pitchFamily="34" charset="0"/>
                          <a:ea typeface="Calibri" pitchFamily="34" charset="-122"/>
                          <a:cs typeface="Calibri" pitchFamily="34" charset="-120"/>
                        </a:rPr>
                        <a:t>XGBoost</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6EC"/>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0.621</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6EC"/>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0.900</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6EC"/>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0.207</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6EC"/>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0.128</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6EC"/>
                    </a:solidFill>
                  </a:tcPr>
                </a:tc>
              </a:tr>
              <a:tr h="384048">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0.540</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0.889</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0.218</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0.135</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r>
              <a:tr h="384048">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Gaussian Process</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0.509</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0.858</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0.247</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0.179</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LightGBM</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0.522</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0.846</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0.257</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0.187</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r>
              <a:tr h="384048">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Ridge</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0.306</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0.511</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0.458</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0.283</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Lasso</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0.318</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0.483</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0.471</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0.284</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4EFE6"/>
                    </a:solidFill>
                  </a:tcPr>
                </a:tc>
              </a:tr>
              <a:tr h="384048">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Neural Net (MLP)</a:t>
                      </a:r>
                      <a:endParaRPr lang="en-US" sz="1200" dirty="0">
                        <a:latin typeface="Calibri" charset="0"/>
                        <a:ea typeface="Calibri" charset="0"/>
                        <a:cs typeface="Calibri"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0.068</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0.320</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0.540</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c>
                  <a:txBody>
                    <a:bodyPr/>
                    <a:lstStyle/>
                    <a:p>
                      <a:pPr indent="0" marL="0">
                        <a:buNone/>
                      </a:pPr>
                      <a:r>
                        <a:rPr lang="en-US" sz="1200" dirty="0">
                          <a:solidFill>
                            <a:srgbClr val="1B2420"/>
                          </a:solidFill>
                          <a:latin typeface="Courier New" pitchFamily="34" charset="0"/>
                          <a:ea typeface="Courier New" pitchFamily="34" charset="-122"/>
                          <a:cs typeface="Courier New" pitchFamily="34" charset="-120"/>
                        </a:rPr>
                        <a:t>0.390</a:t>
                      </a:r>
                      <a:endParaRPr lang="en-US" sz="1200" dirty="0">
                        <a:latin typeface="Courier New" charset="0"/>
                        <a:ea typeface="Courier New" charset="0"/>
                        <a:cs typeface="Courier New" charset="0"/>
                      </a:endParaRPr>
                    </a:p>
                  </a:txBody>
                  <a:tcPr marL="91440" marR="91440" marT="45720" marB="45720">
                    <a:lnL w="6350" cap="flat" cmpd="sng" algn="ctr">
                      <a:solidFill>
                        <a:srgbClr val="E1DAC9"/>
                      </a:solidFill>
                      <a:prstDash val="solid"/>
                      <a:round/>
                      <a:headEnd type="none" w="med" len="med"/>
                      <a:tailEnd type="none" w="med" len="med"/>
                    </a:lnL>
                    <a:lnR w="6350" cap="flat" cmpd="sng" algn="ctr">
                      <a:solidFill>
                        <a:srgbClr val="E1DAC9"/>
                      </a:solidFill>
                      <a:prstDash val="solid"/>
                      <a:round/>
                      <a:headEnd type="none" w="med" len="med"/>
                      <a:tailEnd type="none" w="med" len="med"/>
                    </a:lnR>
                    <a:lnT w="6350" cap="flat" cmpd="sng" algn="ctr">
                      <a:solidFill>
                        <a:srgbClr val="E1DAC9"/>
                      </a:solidFill>
                      <a:prstDash val="solid"/>
                      <a:round/>
                      <a:headEnd type="none" w="med" len="med"/>
                      <a:tailEnd type="none" w="med" len="med"/>
                    </a:lnT>
                    <a:lnB w="6350" cap="flat" cmpd="sng" algn="ctr">
                      <a:solidFill>
                        <a:srgbClr val="E1DAC9"/>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074920"/>
            <a:ext cx="10972800" cy="868680"/>
          </a:xfrm>
          <a:prstGeom prst="roundRect">
            <a:avLst>
              <a:gd name="adj" fmla="val 8421"/>
            </a:avLst>
          </a:prstGeom>
          <a:solidFill>
            <a:srgbClr val="2F9E86"/>
          </a:solidFill>
          <a:ln/>
        </p:spPr>
      </p:sp>
      <p:sp>
        <p:nvSpPr>
          <p:cNvPr id="8" name="Text 5"/>
          <p:cNvSpPr/>
          <p:nvPr/>
        </p:nvSpPr>
        <p:spPr>
          <a:xfrm>
            <a:off x="777240" y="5074920"/>
            <a:ext cx="10515600" cy="8686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Best model: XGBoost, test R² = 0.900. </a:t>
            </a:r>
            <a:pPr indent="0" marL="0">
              <a:buNone/>
            </a:pPr>
            <a:r>
              <a:rPr lang="en-US" sz="1200" dirty="0">
                <a:solidFill>
                  <a:srgbClr val="0F241F"/>
                </a:solidFill>
                <a:latin typeface="Calibri" pitchFamily="34" charset="0"/>
                <a:ea typeface="Calibri" pitchFamily="34" charset="-122"/>
                <a:cs typeface="Calibri" pitchFamily="34" charset="-120"/>
              </a:rPr>
              <a:t>Tree ensembles (XGBoost, RF, LightGBM, GPR) clearly outperform linear models (Ridge/Lasso, ~0.48-0.51) — confirming the relationship between conditions and O/C is genuinely non-linear, as expected for reaction chemistry.</a:t>
            </a:r>
            <a:endParaRPr lang="en-US" sz="1200" dirty="0"/>
          </a:p>
        </p:txBody>
      </p:sp>
      <p:sp>
        <p:nvSpPr>
          <p:cNvPr id="9" name="Text 6"/>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10" name="Text 7"/>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11E"/>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C97B3D"/>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10</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Literature Cross-Check</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9FB3AE"/>
                </a:solidFill>
                <a:latin typeface="Calibri" pitchFamily="34" charset="0"/>
                <a:ea typeface="Calibri" pitchFamily="34" charset="-122"/>
                <a:cs typeface="Calibri" pitchFamily="34" charset="-120"/>
              </a:rPr>
              <a:t>Is our result actually good, or just good on our own data? Checked against a published paper on the same task.</a:t>
            </a:r>
            <a:endParaRPr lang="en-US" sz="1250" dirty="0"/>
          </a:p>
        </p:txBody>
      </p:sp>
      <p:sp>
        <p:nvSpPr>
          <p:cNvPr id="6" name="Shape 4"/>
          <p:cNvSpPr/>
          <p:nvPr/>
        </p:nvSpPr>
        <p:spPr>
          <a:xfrm>
            <a:off x="548640" y="1554480"/>
            <a:ext cx="5212080" cy="1828800"/>
          </a:xfrm>
          <a:prstGeom prst="roundRect">
            <a:avLst>
              <a:gd name="adj" fmla="val 5000"/>
            </a:avLst>
          </a:prstGeom>
          <a:solidFill>
            <a:srgbClr val="13312C"/>
          </a:solidFill>
          <a:ln/>
        </p:spPr>
      </p:sp>
      <p:sp>
        <p:nvSpPr>
          <p:cNvPr id="7" name="Text 5"/>
          <p:cNvSpPr/>
          <p:nvPr/>
        </p:nvSpPr>
        <p:spPr>
          <a:xfrm>
            <a:off x="777240" y="1737360"/>
            <a:ext cx="4754880" cy="274320"/>
          </a:xfrm>
          <a:prstGeom prst="rect">
            <a:avLst/>
          </a:prstGeom>
          <a:noFill/>
          <a:ln/>
        </p:spPr>
        <p:txBody>
          <a:bodyPr wrap="square" rtlCol="0" anchor="ctr"/>
          <a:lstStyle/>
          <a:p>
            <a:pPr indent="0" marL="0">
              <a:buNone/>
            </a:pPr>
            <a:r>
              <a:rPr lang="en-US" sz="1100" b="1" spc="100" kern="0" dirty="0">
                <a:solidFill>
                  <a:srgbClr val="C97B3D"/>
                </a:solidFill>
                <a:latin typeface="Calibri" pitchFamily="34" charset="0"/>
                <a:ea typeface="Calibri" pitchFamily="34" charset="-122"/>
                <a:cs typeface="Calibri" pitchFamily="34" charset="-120"/>
              </a:rPr>
              <a:t>PUBLISHED RESULT</a:t>
            </a:r>
            <a:endParaRPr lang="en-US" sz="1100" dirty="0"/>
          </a:p>
        </p:txBody>
      </p:sp>
      <p:sp>
        <p:nvSpPr>
          <p:cNvPr id="8" name="Text 6"/>
          <p:cNvSpPr/>
          <p:nvPr/>
        </p:nvSpPr>
        <p:spPr>
          <a:xfrm>
            <a:off x="777240" y="2011680"/>
            <a:ext cx="4754880" cy="77724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R² = 0.895</a:t>
            </a:r>
            <a:endParaRPr lang="en-US" sz="4200" dirty="0"/>
          </a:p>
        </p:txBody>
      </p:sp>
      <p:sp>
        <p:nvSpPr>
          <p:cNvPr id="9" name="Text 7"/>
          <p:cNvSpPr/>
          <p:nvPr/>
        </p:nvSpPr>
        <p:spPr>
          <a:xfrm>
            <a:off x="777240" y="2880360"/>
            <a:ext cx="4754880" cy="411480"/>
          </a:xfrm>
          <a:prstGeom prst="rect">
            <a:avLst/>
          </a:prstGeom>
          <a:noFill/>
          <a:ln/>
        </p:spPr>
        <p:txBody>
          <a:bodyPr wrap="square" rtlCol="0" anchor="ctr"/>
          <a:lstStyle/>
          <a:p>
            <a:pPr indent="0" marL="0">
              <a:buNone/>
            </a:pPr>
            <a:r>
              <a:rPr lang="en-US" sz="1050" dirty="0">
                <a:solidFill>
                  <a:srgbClr val="C7D6D2"/>
                </a:solidFill>
                <a:latin typeface="Calibri" pitchFamily="34" charset="0"/>
                <a:ea typeface="Calibri" pitchFamily="34" charset="-122"/>
                <a:cs typeface="Calibri" pitchFamily="34" charset="-120"/>
              </a:rPr>
              <a:t>Energy journal, 2022 — same feature set, same O/C prediction task</a:t>
            </a:r>
            <a:endParaRPr lang="en-US" sz="1050" dirty="0"/>
          </a:p>
        </p:txBody>
      </p:sp>
      <p:sp>
        <p:nvSpPr>
          <p:cNvPr id="10" name="Shape 8"/>
          <p:cNvSpPr/>
          <p:nvPr/>
        </p:nvSpPr>
        <p:spPr>
          <a:xfrm>
            <a:off x="6126480" y="1554480"/>
            <a:ext cx="5212080" cy="1828800"/>
          </a:xfrm>
          <a:prstGeom prst="roundRect">
            <a:avLst>
              <a:gd name="adj" fmla="val 5000"/>
            </a:avLst>
          </a:prstGeom>
          <a:solidFill>
            <a:srgbClr val="2F9E86"/>
          </a:solidFill>
          <a:ln/>
        </p:spPr>
      </p:sp>
      <p:sp>
        <p:nvSpPr>
          <p:cNvPr id="11" name="Text 9"/>
          <p:cNvSpPr/>
          <p:nvPr/>
        </p:nvSpPr>
        <p:spPr>
          <a:xfrm>
            <a:off x="6355080" y="1737360"/>
            <a:ext cx="4754880" cy="274320"/>
          </a:xfrm>
          <a:prstGeom prst="rect">
            <a:avLst/>
          </a:prstGeom>
          <a:noFill/>
          <a:ln/>
        </p:spPr>
        <p:txBody>
          <a:bodyPr wrap="square" rtlCol="0" anchor="ctr"/>
          <a:lstStyle/>
          <a:p>
            <a:pPr indent="0" marL="0">
              <a:buNone/>
            </a:pPr>
            <a:r>
              <a:rPr lang="en-US" sz="1100" b="1" spc="100" kern="0" dirty="0">
                <a:solidFill>
                  <a:srgbClr val="052018"/>
                </a:solidFill>
                <a:latin typeface="Calibri" pitchFamily="34" charset="0"/>
                <a:ea typeface="Calibri" pitchFamily="34" charset="-122"/>
                <a:cs typeface="Calibri" pitchFamily="34" charset="-120"/>
              </a:rPr>
              <a:t>THIS PROJECT</a:t>
            </a:r>
            <a:endParaRPr lang="en-US" sz="1100" dirty="0"/>
          </a:p>
        </p:txBody>
      </p:sp>
      <p:sp>
        <p:nvSpPr>
          <p:cNvPr id="12" name="Text 10"/>
          <p:cNvSpPr/>
          <p:nvPr/>
        </p:nvSpPr>
        <p:spPr>
          <a:xfrm>
            <a:off x="6355080" y="2011680"/>
            <a:ext cx="4754880" cy="777240"/>
          </a:xfrm>
          <a:prstGeom prst="rect">
            <a:avLst/>
          </a:prstGeom>
          <a:noFill/>
          <a:ln/>
        </p:spPr>
        <p:txBody>
          <a:bodyPr wrap="square" rtlCol="0" anchor="ctr"/>
          <a:lstStyle/>
          <a:p>
            <a:pPr indent="0" marL="0">
              <a:buNone/>
            </a:pPr>
            <a:r>
              <a:rPr lang="en-US" sz="4200" b="1" dirty="0">
                <a:solidFill>
                  <a:srgbClr val="052018"/>
                </a:solidFill>
                <a:latin typeface="Cambria" pitchFamily="34" charset="0"/>
                <a:ea typeface="Cambria" pitchFamily="34" charset="-122"/>
                <a:cs typeface="Cambria" pitchFamily="34" charset="-120"/>
              </a:rPr>
              <a:t>R² = 0.900</a:t>
            </a:r>
            <a:endParaRPr lang="en-US" sz="4200" dirty="0"/>
          </a:p>
        </p:txBody>
      </p:sp>
      <p:sp>
        <p:nvSpPr>
          <p:cNvPr id="13" name="Text 11"/>
          <p:cNvSpPr/>
          <p:nvPr/>
        </p:nvSpPr>
        <p:spPr>
          <a:xfrm>
            <a:off x="6355080" y="2880360"/>
            <a:ext cx="4754880" cy="411480"/>
          </a:xfrm>
          <a:prstGeom prst="rect">
            <a:avLst/>
          </a:prstGeom>
          <a:noFill/>
          <a:ln/>
        </p:spPr>
        <p:txBody>
          <a:bodyPr wrap="square" rtlCol="0" anchor="ctr"/>
          <a:lstStyle/>
          <a:p>
            <a:pPr indent="0" marL="0">
              <a:buNone/>
            </a:pPr>
            <a:r>
              <a:rPr lang="en-US" sz="1050" dirty="0">
                <a:solidFill>
                  <a:srgbClr val="0F3A30"/>
                </a:solidFill>
                <a:latin typeface="Calibri" pitchFamily="34" charset="0"/>
                <a:ea typeface="Calibri" pitchFamily="34" charset="-122"/>
                <a:cs typeface="Calibri" pitchFamily="34" charset="-120"/>
              </a:rPr>
              <a:t>XGBoost, physics-informed hybrid model, this project's dataset</a:t>
            </a:r>
            <a:endParaRPr lang="en-US" sz="1050" dirty="0"/>
          </a:p>
        </p:txBody>
      </p:sp>
      <p:sp>
        <p:nvSpPr>
          <p:cNvPr id="14" name="Text 12"/>
          <p:cNvSpPr/>
          <p:nvPr/>
        </p:nvSpPr>
        <p:spPr>
          <a:xfrm>
            <a:off x="548640" y="3657600"/>
            <a:ext cx="10789920" cy="548640"/>
          </a:xfrm>
          <a:prstGeom prst="rect">
            <a:avLst/>
          </a:prstGeom>
          <a:noFill/>
          <a:ln/>
        </p:spPr>
        <p:txBody>
          <a:bodyPr wrap="square" rtlCol="0" anchor="ctr"/>
          <a:lstStyle/>
          <a:p>
            <a:pPr algn="ctr" indent="0" marL="0">
              <a:buNone/>
            </a:pPr>
            <a:r>
              <a:rPr lang="en-US" sz="1300" i="1" dirty="0">
                <a:solidFill>
                  <a:srgbClr val="D7E4E1"/>
                </a:solidFill>
                <a:latin typeface="Calibri" pitchFamily="34" charset="0"/>
                <a:ea typeface="Calibri" pitchFamily="34" charset="-122"/>
                <a:cs typeface="Calibri" pitchFamily="34" charset="-120"/>
              </a:rPr>
              <a:t>Nearly identical performance on the same prediction task is strong external validation — this project's result is not an artifact of this particular pipeline or a lucky train/test split.</a:t>
            </a:r>
            <a:endParaRPr lang="en-US" sz="1300" dirty="0"/>
          </a:p>
        </p:txBody>
      </p:sp>
      <p:sp>
        <p:nvSpPr>
          <p:cNvPr id="15" name="Text 13"/>
          <p:cNvSpPr/>
          <p:nvPr/>
        </p:nvSpPr>
        <p:spPr>
          <a:xfrm>
            <a:off x="548640" y="4434840"/>
            <a:ext cx="107899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Other papers found for the automation process:</a:t>
            </a:r>
            <a:endParaRPr lang="en-US" sz="1300" dirty="0"/>
          </a:p>
        </p:txBody>
      </p:sp>
      <p:sp>
        <p:nvSpPr>
          <p:cNvPr id="16" name="Shape 14"/>
          <p:cNvSpPr/>
          <p:nvPr/>
        </p:nvSpPr>
        <p:spPr>
          <a:xfrm>
            <a:off x="594360" y="4919472"/>
            <a:ext cx="73152" cy="73152"/>
          </a:xfrm>
          <a:prstGeom prst="ellipse">
            <a:avLst/>
          </a:prstGeom>
          <a:solidFill>
            <a:srgbClr val="C97B3D"/>
          </a:solidFill>
          <a:ln/>
        </p:spPr>
      </p:sp>
      <p:sp>
        <p:nvSpPr>
          <p:cNvPr id="17" name="Text 15"/>
          <p:cNvSpPr/>
          <p:nvPr/>
        </p:nvSpPr>
        <p:spPr>
          <a:xfrm>
            <a:off x="822960" y="4846320"/>
            <a:ext cx="10515600" cy="365760"/>
          </a:xfrm>
          <a:prstGeom prst="rect">
            <a:avLst/>
          </a:prstGeom>
          <a:noFill/>
          <a:ln/>
        </p:spPr>
        <p:txBody>
          <a:bodyPr wrap="square" rtlCol="0" anchor="ctr"/>
          <a:lstStyle/>
          <a:p>
            <a:pPr indent="0" marL="0">
              <a:buNone/>
            </a:pPr>
            <a:r>
              <a:rPr lang="en-US" sz="1100" dirty="0">
                <a:solidFill>
                  <a:srgbClr val="D7E4E1"/>
                </a:solidFill>
                <a:latin typeface="Calibri" pitchFamily="34" charset="0"/>
                <a:ea typeface="Calibri" pitchFamily="34" charset="-122"/>
                <a:cs typeface="Calibri" pitchFamily="34" charset="-120"/>
              </a:rPr>
              <a:t>Orfao, Antunes &amp; Figueiredo (1999), Fuel — three independent reactions kinetic model (basis for our IPR kinetics)</a:t>
            </a:r>
            <a:endParaRPr lang="en-US" sz="1100" dirty="0"/>
          </a:p>
        </p:txBody>
      </p:sp>
      <p:sp>
        <p:nvSpPr>
          <p:cNvPr id="18" name="Shape 16"/>
          <p:cNvSpPr/>
          <p:nvPr/>
        </p:nvSpPr>
        <p:spPr>
          <a:xfrm>
            <a:off x="594360" y="5303520"/>
            <a:ext cx="73152" cy="73152"/>
          </a:xfrm>
          <a:prstGeom prst="ellipse">
            <a:avLst/>
          </a:prstGeom>
          <a:solidFill>
            <a:srgbClr val="C97B3D"/>
          </a:solidFill>
          <a:ln/>
        </p:spPr>
      </p:sp>
      <p:sp>
        <p:nvSpPr>
          <p:cNvPr id="19" name="Text 17"/>
          <p:cNvSpPr/>
          <p:nvPr/>
        </p:nvSpPr>
        <p:spPr>
          <a:xfrm>
            <a:off x="822960" y="5230368"/>
            <a:ext cx="10515600" cy="365760"/>
          </a:xfrm>
          <a:prstGeom prst="rect">
            <a:avLst/>
          </a:prstGeom>
          <a:noFill/>
          <a:ln/>
        </p:spPr>
        <p:txBody>
          <a:bodyPr wrap="square" rtlCol="0" anchor="ctr"/>
          <a:lstStyle/>
          <a:p>
            <a:pPr indent="0" marL="0">
              <a:buNone/>
            </a:pPr>
            <a:r>
              <a:rPr lang="en-US" sz="1100" dirty="0">
                <a:solidFill>
                  <a:srgbClr val="D7E4E1"/>
                </a:solidFill>
                <a:latin typeface="Calibri" pitchFamily="34" charset="0"/>
                <a:ea typeface="Calibri" pitchFamily="34" charset="-122"/>
                <a:cs typeface="Calibri" pitchFamily="34" charset="-120"/>
              </a:rPr>
              <a:t>Bradbury, Sakai &amp; Shafizadeh (1979), J. Applied Polymer Science — competitive cellulose kinetics (basis for Slide 7)</a:t>
            </a:r>
            <a:endParaRPr lang="en-US" sz="1100" dirty="0"/>
          </a:p>
        </p:txBody>
      </p:sp>
      <p:sp>
        <p:nvSpPr>
          <p:cNvPr id="20" name="Shape 18"/>
          <p:cNvSpPr/>
          <p:nvPr/>
        </p:nvSpPr>
        <p:spPr>
          <a:xfrm>
            <a:off x="594360" y="5687568"/>
            <a:ext cx="73152" cy="73152"/>
          </a:xfrm>
          <a:prstGeom prst="ellipse">
            <a:avLst/>
          </a:prstGeom>
          <a:solidFill>
            <a:srgbClr val="C97B3D"/>
          </a:solidFill>
          <a:ln/>
        </p:spPr>
      </p:sp>
      <p:sp>
        <p:nvSpPr>
          <p:cNvPr id="21" name="Text 19"/>
          <p:cNvSpPr/>
          <p:nvPr/>
        </p:nvSpPr>
        <p:spPr>
          <a:xfrm>
            <a:off x="822960" y="5614416"/>
            <a:ext cx="10515600" cy="365760"/>
          </a:xfrm>
          <a:prstGeom prst="rect">
            <a:avLst/>
          </a:prstGeom>
          <a:noFill/>
          <a:ln/>
        </p:spPr>
        <p:txBody>
          <a:bodyPr wrap="square" rtlCol="0" anchor="ctr"/>
          <a:lstStyle/>
          <a:p>
            <a:pPr indent="0" marL="0">
              <a:buNone/>
            </a:pPr>
            <a:r>
              <a:rPr lang="en-US" sz="1100" dirty="0">
                <a:solidFill>
                  <a:srgbClr val="D7E4E1"/>
                </a:solidFill>
                <a:latin typeface="Calibri" pitchFamily="34" charset="0"/>
                <a:ea typeface="Calibri" pitchFamily="34" charset="-122"/>
                <a:cs typeface="Calibri" pitchFamily="34" charset="-120"/>
              </a:rPr>
              <a:t>Multiple ML-for-pyrolysis papers (2021-2025) surveyed to benchmark our R² against the field, not just our own numbers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11</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1B2420"/>
                </a:solidFill>
                <a:latin typeface="Cambria" pitchFamily="34" charset="0"/>
                <a:ea typeface="Cambria" pitchFamily="34" charset="-122"/>
                <a:cs typeface="Cambria" pitchFamily="34" charset="-120"/>
              </a:rPr>
              <a:t>What Else We Considered</a:t>
            </a:r>
            <a:endParaRPr lang="en-US" sz="2700" dirty="0"/>
          </a:p>
        </p:txBody>
      </p:sp>
      <p:sp>
        <p:nvSpPr>
          <p:cNvPr id="5" name="Text 3"/>
          <p:cNvSpPr/>
          <p:nvPr/>
        </p:nvSpPr>
        <p:spPr>
          <a:xfrm>
            <a:off x="1234440" y="822960"/>
            <a:ext cx="10332720" cy="347472"/>
          </a:xfrm>
          <a:prstGeom prst="rect">
            <a:avLst/>
          </a:prstGeom>
          <a:noFill/>
          <a:ln/>
        </p:spPr>
        <p:txBody>
          <a:bodyPr wrap="square" rtlCol="0" anchor="ctr"/>
          <a:lstStyle/>
          <a:p>
            <a:pPr indent="0" marL="0">
              <a:buNone/>
            </a:pPr>
            <a:r>
              <a:rPr lang="en-US" sz="1250" i="1" dirty="0">
                <a:solidFill>
                  <a:srgbClr val="5B6864"/>
                </a:solidFill>
                <a:latin typeface="Calibri" pitchFamily="34" charset="0"/>
                <a:ea typeface="Calibri" pitchFamily="34" charset="-122"/>
                <a:cs typeface="Calibri" pitchFamily="34" charset="-120"/>
              </a:rPr>
              <a:t>Chemistry evaluated but deliberately not added — and why</a:t>
            </a:r>
            <a:endParaRPr lang="en-US" sz="1250" dirty="0"/>
          </a:p>
        </p:txBody>
      </p:sp>
      <p:sp>
        <p:nvSpPr>
          <p:cNvPr id="6" name="Shape 4"/>
          <p:cNvSpPr/>
          <p:nvPr/>
        </p:nvSpPr>
        <p:spPr>
          <a:xfrm>
            <a:off x="548640" y="1463040"/>
            <a:ext cx="10881360" cy="1051560"/>
          </a:xfrm>
          <a:prstGeom prst="roundRect">
            <a:avLst>
              <a:gd name="adj" fmla="val 5217"/>
            </a:avLst>
          </a:prstGeom>
          <a:solidFill>
            <a:srgbClr val="FFFFFF"/>
          </a:solidFill>
          <a:ln/>
          <a:effectLst>
            <a:outerShdw sx="100000" sy="100000" kx="0" ky="0" algn="bl" rotWithShape="0" blurRad="50800" dist="12700" dir="5400000">
              <a:srgbClr val="000000">
                <a:alpha val="8000"/>
              </a:srgbClr>
            </a:outerShdw>
          </a:effectLst>
        </p:spPr>
      </p:sp>
      <p:sp>
        <p:nvSpPr>
          <p:cNvPr id="7" name="Text 5"/>
          <p:cNvSpPr/>
          <p:nvPr/>
        </p:nvSpPr>
        <p:spPr>
          <a:xfrm>
            <a:off x="777240" y="1554480"/>
            <a:ext cx="3200400" cy="868680"/>
          </a:xfrm>
          <a:prstGeom prst="rect">
            <a:avLst/>
          </a:prstGeom>
          <a:noFill/>
          <a:ln/>
        </p:spPr>
        <p:txBody>
          <a:bodyPr wrap="square" rtlCol="0" anchor="ctr"/>
          <a:lstStyle/>
          <a:p>
            <a:pPr indent="0" marL="0">
              <a:lnSpc>
                <a:spcPts val="1400"/>
              </a:lnSpc>
              <a:buNone/>
            </a:pPr>
            <a:r>
              <a:rPr lang="en-US" sz="1200" b="1" dirty="0">
                <a:solidFill>
                  <a:srgbClr val="1B2420"/>
                </a:solidFill>
                <a:latin typeface="Calibri" pitchFamily="34" charset="0"/>
                <a:ea typeface="Calibri" pitchFamily="34" charset="-122"/>
                <a:cs typeface="Calibri" pitchFamily="34" charset="-120"/>
              </a:rPr>
              <a:t>Full CFD / reactor fluid dynamics</a:t>
            </a:r>
            <a:endParaRPr lang="en-US" sz="1200" dirty="0"/>
          </a:p>
        </p:txBody>
      </p:sp>
      <p:sp>
        <p:nvSpPr>
          <p:cNvPr id="8" name="Text 6"/>
          <p:cNvSpPr/>
          <p:nvPr/>
        </p:nvSpPr>
        <p:spPr>
          <a:xfrm>
            <a:off x="4114800" y="1554480"/>
            <a:ext cx="3566160" cy="868680"/>
          </a:xfrm>
          <a:prstGeom prst="rect">
            <a:avLst/>
          </a:prstGeom>
          <a:noFill/>
          <a:ln/>
        </p:spPr>
        <p:txBody>
          <a:bodyPr wrap="square" rtlCol="0" anchor="ctr"/>
          <a:lstStyle/>
          <a:p>
            <a:pPr indent="0" marL="0">
              <a:lnSpc>
                <a:spcPts val="1300"/>
              </a:lnSpc>
              <a:buNone/>
            </a:pPr>
            <a:r>
              <a:rPr lang="en-US" sz="1050" dirty="0">
                <a:solidFill>
                  <a:srgbClr val="5B6864"/>
                </a:solidFill>
                <a:latin typeface="Calibri" pitchFamily="34" charset="0"/>
                <a:ea typeface="Calibri" pitchFamily="34" charset="-122"/>
                <a:cs typeface="Calibri" pitchFamily="34" charset="-120"/>
              </a:rPr>
              <a:t>Would model heat/mass transfer and vapor flow inside the reactor directly.</a:t>
            </a:r>
            <a:endParaRPr lang="en-US" sz="1050" dirty="0"/>
          </a:p>
        </p:txBody>
      </p:sp>
      <p:sp>
        <p:nvSpPr>
          <p:cNvPr id="9" name="Shape 7"/>
          <p:cNvSpPr/>
          <p:nvPr/>
        </p:nvSpPr>
        <p:spPr>
          <a:xfrm>
            <a:off x="7818120" y="1600200"/>
            <a:ext cx="0" cy="777240"/>
          </a:xfrm>
          <a:prstGeom prst="line">
            <a:avLst/>
          </a:prstGeom>
          <a:noFill/>
          <a:ln w="12700">
            <a:solidFill>
              <a:srgbClr val="E1DAC9"/>
            </a:solidFill>
            <a:prstDash val="solid"/>
          </a:ln>
        </p:spPr>
      </p:sp>
      <p:sp>
        <p:nvSpPr>
          <p:cNvPr id="10" name="Text 8"/>
          <p:cNvSpPr/>
          <p:nvPr/>
        </p:nvSpPr>
        <p:spPr>
          <a:xfrm>
            <a:off x="8001000" y="1554480"/>
            <a:ext cx="3291840" cy="868680"/>
          </a:xfrm>
          <a:prstGeom prst="rect">
            <a:avLst/>
          </a:prstGeom>
          <a:noFill/>
          <a:ln/>
        </p:spPr>
        <p:txBody>
          <a:bodyPr wrap="square" rtlCol="0" anchor="ctr"/>
          <a:lstStyle/>
          <a:p>
            <a:pPr indent="0" marL="0">
              <a:lnSpc>
                <a:spcPts val="1300"/>
              </a:lnSpc>
              <a:buNone/>
            </a:pPr>
            <a:r>
              <a:rPr lang="en-US" sz="1050" i="1" dirty="0">
                <a:solidFill>
                  <a:srgbClr val="C97B3D"/>
                </a:solidFill>
                <a:latin typeface="Calibri" pitchFamily="34" charset="0"/>
                <a:ea typeface="Calibri" pitchFamily="34" charset="-122"/>
                <a:cs typeface="Calibri" pitchFamily="34" charset="-120"/>
              </a:rPr>
              <a:t>Requires reactor geometry data this dataset doesn't have; far beyond what ~230 rows can support.</a:t>
            </a:r>
            <a:endParaRPr lang="en-US" sz="1050" dirty="0"/>
          </a:p>
        </p:txBody>
      </p:sp>
      <p:sp>
        <p:nvSpPr>
          <p:cNvPr id="11" name="Shape 9"/>
          <p:cNvSpPr/>
          <p:nvPr/>
        </p:nvSpPr>
        <p:spPr>
          <a:xfrm>
            <a:off x="548640" y="2651760"/>
            <a:ext cx="10881360" cy="1051560"/>
          </a:xfrm>
          <a:prstGeom prst="roundRect">
            <a:avLst>
              <a:gd name="adj" fmla="val 5217"/>
            </a:avLst>
          </a:prstGeom>
          <a:solidFill>
            <a:srgbClr val="FFFFFF"/>
          </a:solidFill>
          <a:ln/>
          <a:effectLst>
            <a:outerShdw sx="100000" sy="100000" kx="0" ky="0" algn="bl" rotWithShape="0" blurRad="50800" dist="12700" dir="5400000">
              <a:srgbClr val="000000">
                <a:alpha val="8000"/>
              </a:srgbClr>
            </a:outerShdw>
          </a:effectLst>
        </p:spPr>
      </p:sp>
      <p:sp>
        <p:nvSpPr>
          <p:cNvPr id="12" name="Text 10"/>
          <p:cNvSpPr/>
          <p:nvPr/>
        </p:nvSpPr>
        <p:spPr>
          <a:xfrm>
            <a:off x="777240" y="2743200"/>
            <a:ext cx="3200400" cy="868680"/>
          </a:xfrm>
          <a:prstGeom prst="rect">
            <a:avLst/>
          </a:prstGeom>
          <a:noFill/>
          <a:ln/>
        </p:spPr>
        <p:txBody>
          <a:bodyPr wrap="square" rtlCol="0" anchor="ctr"/>
          <a:lstStyle/>
          <a:p>
            <a:pPr indent="0" marL="0">
              <a:lnSpc>
                <a:spcPts val="1400"/>
              </a:lnSpc>
              <a:buNone/>
            </a:pPr>
            <a:r>
              <a:rPr lang="en-US" sz="1200" b="1" dirty="0">
                <a:solidFill>
                  <a:srgbClr val="1B2420"/>
                </a:solidFill>
                <a:latin typeface="Calibri" pitchFamily="34" charset="0"/>
                <a:ea typeface="Calibri" pitchFamily="34" charset="-122"/>
                <a:cs typeface="Calibri" pitchFamily="34" charset="-120"/>
              </a:rPr>
              <a:t>Physics-informed neural network (PINN)</a:t>
            </a:r>
            <a:endParaRPr lang="en-US" sz="1200" dirty="0"/>
          </a:p>
        </p:txBody>
      </p:sp>
      <p:sp>
        <p:nvSpPr>
          <p:cNvPr id="13" name="Text 11"/>
          <p:cNvSpPr/>
          <p:nvPr/>
        </p:nvSpPr>
        <p:spPr>
          <a:xfrm>
            <a:off x="4114800" y="2743200"/>
            <a:ext cx="3566160" cy="868680"/>
          </a:xfrm>
          <a:prstGeom prst="rect">
            <a:avLst/>
          </a:prstGeom>
          <a:noFill/>
          <a:ln/>
        </p:spPr>
        <p:txBody>
          <a:bodyPr wrap="square" rtlCol="0" anchor="ctr"/>
          <a:lstStyle/>
          <a:p>
            <a:pPr indent="0" marL="0">
              <a:lnSpc>
                <a:spcPts val="1300"/>
              </a:lnSpc>
              <a:buNone/>
            </a:pPr>
            <a:r>
              <a:rPr lang="en-US" sz="1050" dirty="0">
                <a:solidFill>
                  <a:srgbClr val="5B6864"/>
                </a:solidFill>
                <a:latin typeface="Calibri" pitchFamily="34" charset="0"/>
                <a:ea typeface="Calibri" pitchFamily="34" charset="-122"/>
                <a:cs typeface="Calibri" pitchFamily="34" charset="-120"/>
              </a:rPr>
              <a:t>Enforce governing equations as a soft constraint on a neural network's loss function.</a:t>
            </a:r>
            <a:endParaRPr lang="en-US" sz="1050" dirty="0"/>
          </a:p>
        </p:txBody>
      </p:sp>
      <p:sp>
        <p:nvSpPr>
          <p:cNvPr id="14" name="Shape 12"/>
          <p:cNvSpPr/>
          <p:nvPr/>
        </p:nvSpPr>
        <p:spPr>
          <a:xfrm>
            <a:off x="7818120" y="2788920"/>
            <a:ext cx="0" cy="777240"/>
          </a:xfrm>
          <a:prstGeom prst="line">
            <a:avLst/>
          </a:prstGeom>
          <a:noFill/>
          <a:ln w="12700">
            <a:solidFill>
              <a:srgbClr val="E1DAC9"/>
            </a:solidFill>
            <a:prstDash val="solid"/>
          </a:ln>
        </p:spPr>
      </p:sp>
      <p:sp>
        <p:nvSpPr>
          <p:cNvPr id="15" name="Text 13"/>
          <p:cNvSpPr/>
          <p:nvPr/>
        </p:nvSpPr>
        <p:spPr>
          <a:xfrm>
            <a:off x="8001000" y="2743200"/>
            <a:ext cx="3291840" cy="868680"/>
          </a:xfrm>
          <a:prstGeom prst="rect">
            <a:avLst/>
          </a:prstGeom>
          <a:noFill/>
          <a:ln/>
        </p:spPr>
        <p:txBody>
          <a:bodyPr wrap="square" rtlCol="0" anchor="ctr"/>
          <a:lstStyle/>
          <a:p>
            <a:pPr indent="0" marL="0">
              <a:lnSpc>
                <a:spcPts val="1300"/>
              </a:lnSpc>
              <a:buNone/>
            </a:pPr>
            <a:r>
              <a:rPr lang="en-US" sz="1050" i="1" dirty="0">
                <a:solidFill>
                  <a:srgbClr val="C97B3D"/>
                </a:solidFill>
                <a:latin typeface="Calibri" pitchFamily="34" charset="0"/>
                <a:ea typeface="Calibri" pitchFamily="34" charset="-122"/>
                <a:cs typeface="Calibri" pitchFamily="34" charset="-120"/>
              </a:rPr>
              <a:t>Needs much more data than this project has; the small MLP already underperforms tree models here.</a:t>
            </a:r>
            <a:endParaRPr lang="en-US" sz="1050" dirty="0"/>
          </a:p>
        </p:txBody>
      </p:sp>
      <p:sp>
        <p:nvSpPr>
          <p:cNvPr id="16" name="Shape 14"/>
          <p:cNvSpPr/>
          <p:nvPr/>
        </p:nvSpPr>
        <p:spPr>
          <a:xfrm>
            <a:off x="548640" y="3840480"/>
            <a:ext cx="10881360" cy="1051560"/>
          </a:xfrm>
          <a:prstGeom prst="roundRect">
            <a:avLst>
              <a:gd name="adj" fmla="val 5217"/>
            </a:avLst>
          </a:prstGeom>
          <a:solidFill>
            <a:srgbClr val="FFFFFF"/>
          </a:solidFill>
          <a:ln/>
          <a:effectLst>
            <a:outerShdw sx="100000" sy="100000" kx="0" ky="0" algn="bl" rotWithShape="0" blurRad="50800" dist="12700" dir="5400000">
              <a:srgbClr val="000000">
                <a:alpha val="8000"/>
              </a:srgbClr>
            </a:outerShdw>
          </a:effectLst>
        </p:spPr>
      </p:sp>
      <p:sp>
        <p:nvSpPr>
          <p:cNvPr id="17" name="Text 15"/>
          <p:cNvSpPr/>
          <p:nvPr/>
        </p:nvSpPr>
        <p:spPr>
          <a:xfrm>
            <a:off x="777240" y="3931920"/>
            <a:ext cx="3200400" cy="868680"/>
          </a:xfrm>
          <a:prstGeom prst="rect">
            <a:avLst/>
          </a:prstGeom>
          <a:noFill/>
          <a:ln/>
        </p:spPr>
        <p:txBody>
          <a:bodyPr wrap="square" rtlCol="0" anchor="ctr"/>
          <a:lstStyle/>
          <a:p>
            <a:pPr indent="0" marL="0">
              <a:lnSpc>
                <a:spcPts val="1400"/>
              </a:lnSpc>
              <a:buNone/>
            </a:pPr>
            <a:r>
              <a:rPr lang="en-US" sz="1200" b="1" dirty="0">
                <a:solidFill>
                  <a:srgbClr val="1B2420"/>
                </a:solidFill>
                <a:latin typeface="Calibri" pitchFamily="34" charset="0"/>
                <a:ea typeface="Calibri" pitchFamily="34" charset="-122"/>
                <a:cs typeface="Calibri" pitchFamily="34" charset="-120"/>
              </a:rPr>
              <a:t>Full multi-step lignin kinetics (Ranzi-type)</a:t>
            </a:r>
            <a:endParaRPr lang="en-US" sz="1200" dirty="0"/>
          </a:p>
        </p:txBody>
      </p:sp>
      <p:sp>
        <p:nvSpPr>
          <p:cNvPr id="18" name="Text 16"/>
          <p:cNvSpPr/>
          <p:nvPr/>
        </p:nvSpPr>
        <p:spPr>
          <a:xfrm>
            <a:off x="4114800" y="3931920"/>
            <a:ext cx="3566160" cy="868680"/>
          </a:xfrm>
          <a:prstGeom prst="rect">
            <a:avLst/>
          </a:prstGeom>
          <a:noFill/>
          <a:ln/>
        </p:spPr>
        <p:txBody>
          <a:bodyPr wrap="square" rtlCol="0" anchor="ctr"/>
          <a:lstStyle/>
          <a:p>
            <a:pPr indent="0" marL="0">
              <a:lnSpc>
                <a:spcPts val="1300"/>
              </a:lnSpc>
              <a:buNone/>
            </a:pPr>
            <a:r>
              <a:rPr lang="en-US" sz="1050" dirty="0">
                <a:solidFill>
                  <a:srgbClr val="5B6864"/>
                </a:solidFill>
                <a:latin typeface="Calibri" pitchFamily="34" charset="0"/>
                <a:ea typeface="Calibri" pitchFamily="34" charset="-122"/>
                <a:cs typeface="Calibri" pitchFamily="34" charset="-120"/>
              </a:rPr>
              <a:t>Resolve lignin into multiple functional-group sub-reactions (LIG-C, LIG-H, LIG-O), like cellulose's 3-reaction scheme.</a:t>
            </a:r>
            <a:endParaRPr lang="en-US" sz="1050" dirty="0"/>
          </a:p>
        </p:txBody>
      </p:sp>
      <p:sp>
        <p:nvSpPr>
          <p:cNvPr id="19" name="Shape 17"/>
          <p:cNvSpPr/>
          <p:nvPr/>
        </p:nvSpPr>
        <p:spPr>
          <a:xfrm>
            <a:off x="7818120" y="3977640"/>
            <a:ext cx="0" cy="777240"/>
          </a:xfrm>
          <a:prstGeom prst="line">
            <a:avLst/>
          </a:prstGeom>
          <a:noFill/>
          <a:ln w="12700">
            <a:solidFill>
              <a:srgbClr val="E1DAC9"/>
            </a:solidFill>
            <a:prstDash val="solid"/>
          </a:ln>
        </p:spPr>
      </p:sp>
      <p:sp>
        <p:nvSpPr>
          <p:cNvPr id="20" name="Text 18"/>
          <p:cNvSpPr/>
          <p:nvPr/>
        </p:nvSpPr>
        <p:spPr>
          <a:xfrm>
            <a:off x="8001000" y="3931920"/>
            <a:ext cx="3291840" cy="868680"/>
          </a:xfrm>
          <a:prstGeom prst="rect">
            <a:avLst/>
          </a:prstGeom>
          <a:noFill/>
          <a:ln/>
        </p:spPr>
        <p:txBody>
          <a:bodyPr wrap="square" rtlCol="0" anchor="ctr"/>
          <a:lstStyle/>
          <a:p>
            <a:pPr indent="0" marL="0">
              <a:lnSpc>
                <a:spcPts val="1300"/>
              </a:lnSpc>
              <a:buNone/>
            </a:pPr>
            <a:r>
              <a:rPr lang="en-US" sz="1050" i="1" dirty="0">
                <a:solidFill>
                  <a:srgbClr val="C97B3D"/>
                </a:solidFill>
                <a:latin typeface="Calibri" pitchFamily="34" charset="0"/>
                <a:ea typeface="Calibri" pitchFamily="34" charset="-122"/>
                <a:cs typeface="Calibri" pitchFamily="34" charset="-120"/>
              </a:rPr>
              <a:t>Kinetic parameters for these sub-reactions are far less standardized in the literature than cellulose's — risk of adding noise, not signal.</a:t>
            </a:r>
            <a:endParaRPr lang="en-US" sz="1050" dirty="0"/>
          </a:p>
        </p:txBody>
      </p:sp>
      <p:sp>
        <p:nvSpPr>
          <p:cNvPr id="21" name="Shape 19"/>
          <p:cNvSpPr/>
          <p:nvPr/>
        </p:nvSpPr>
        <p:spPr>
          <a:xfrm>
            <a:off x="548640" y="5029200"/>
            <a:ext cx="10881360" cy="1051560"/>
          </a:xfrm>
          <a:prstGeom prst="roundRect">
            <a:avLst>
              <a:gd name="adj" fmla="val 5217"/>
            </a:avLst>
          </a:prstGeom>
          <a:solidFill>
            <a:srgbClr val="FFFFFF"/>
          </a:solidFill>
          <a:ln/>
          <a:effectLst>
            <a:outerShdw sx="100000" sy="100000" kx="0" ky="0" algn="bl" rotWithShape="0" blurRad="50800" dist="12700" dir="5400000">
              <a:srgbClr val="000000">
                <a:alpha val="8000"/>
              </a:srgbClr>
            </a:outerShdw>
          </a:effectLst>
        </p:spPr>
      </p:sp>
      <p:sp>
        <p:nvSpPr>
          <p:cNvPr id="22" name="Text 20"/>
          <p:cNvSpPr/>
          <p:nvPr/>
        </p:nvSpPr>
        <p:spPr>
          <a:xfrm>
            <a:off x="777240" y="5120640"/>
            <a:ext cx="3200400" cy="868680"/>
          </a:xfrm>
          <a:prstGeom prst="rect">
            <a:avLst/>
          </a:prstGeom>
          <a:noFill/>
          <a:ln/>
        </p:spPr>
        <p:txBody>
          <a:bodyPr wrap="square" rtlCol="0" anchor="ctr"/>
          <a:lstStyle/>
          <a:p>
            <a:pPr indent="0" marL="0">
              <a:lnSpc>
                <a:spcPts val="1400"/>
              </a:lnSpc>
              <a:buNone/>
            </a:pPr>
            <a:r>
              <a:rPr lang="en-US" sz="1200" b="1" dirty="0">
                <a:solidFill>
                  <a:srgbClr val="1B2420"/>
                </a:solidFill>
                <a:latin typeface="Calibri" pitchFamily="34" charset="0"/>
                <a:ea typeface="Calibri" pitchFamily="34" charset="-122"/>
                <a:cs typeface="Calibri" pitchFamily="34" charset="-120"/>
              </a:rPr>
              <a:t>Additional secondary reactions (steam reforming, water-gas shift)</a:t>
            </a:r>
            <a:endParaRPr lang="en-US" sz="1200" dirty="0"/>
          </a:p>
        </p:txBody>
      </p:sp>
      <p:sp>
        <p:nvSpPr>
          <p:cNvPr id="23" name="Text 21"/>
          <p:cNvSpPr/>
          <p:nvPr/>
        </p:nvSpPr>
        <p:spPr>
          <a:xfrm>
            <a:off x="4114800" y="5120640"/>
            <a:ext cx="3566160" cy="868680"/>
          </a:xfrm>
          <a:prstGeom prst="rect">
            <a:avLst/>
          </a:prstGeom>
          <a:noFill/>
          <a:ln/>
        </p:spPr>
        <p:txBody>
          <a:bodyPr wrap="square" rtlCol="0" anchor="ctr"/>
          <a:lstStyle/>
          <a:p>
            <a:pPr indent="0" marL="0">
              <a:lnSpc>
                <a:spcPts val="1300"/>
              </a:lnSpc>
              <a:buNone/>
            </a:pPr>
            <a:r>
              <a:rPr lang="en-US" sz="1050" dirty="0">
                <a:solidFill>
                  <a:srgbClr val="5B6864"/>
                </a:solidFill>
                <a:latin typeface="Calibri" pitchFamily="34" charset="0"/>
                <a:ea typeface="Calibri" pitchFamily="34" charset="-122"/>
                <a:cs typeface="Calibri" pitchFamily="34" charset="-120"/>
              </a:rPr>
              <a:t>Gas-phase reactions that further transform pyrolysis vapor.</a:t>
            </a:r>
            <a:endParaRPr lang="en-US" sz="1050" dirty="0"/>
          </a:p>
        </p:txBody>
      </p:sp>
      <p:sp>
        <p:nvSpPr>
          <p:cNvPr id="24" name="Shape 22"/>
          <p:cNvSpPr/>
          <p:nvPr/>
        </p:nvSpPr>
        <p:spPr>
          <a:xfrm>
            <a:off x="7818120" y="5166360"/>
            <a:ext cx="0" cy="777240"/>
          </a:xfrm>
          <a:prstGeom prst="line">
            <a:avLst/>
          </a:prstGeom>
          <a:noFill/>
          <a:ln w="12700">
            <a:solidFill>
              <a:srgbClr val="E1DAC9"/>
            </a:solidFill>
            <a:prstDash val="solid"/>
          </a:ln>
        </p:spPr>
      </p:sp>
      <p:sp>
        <p:nvSpPr>
          <p:cNvPr id="25" name="Text 23"/>
          <p:cNvSpPr/>
          <p:nvPr/>
        </p:nvSpPr>
        <p:spPr>
          <a:xfrm>
            <a:off x="8001000" y="5120640"/>
            <a:ext cx="3291840" cy="868680"/>
          </a:xfrm>
          <a:prstGeom prst="rect">
            <a:avLst/>
          </a:prstGeom>
          <a:noFill/>
          <a:ln/>
        </p:spPr>
        <p:txBody>
          <a:bodyPr wrap="square" rtlCol="0" anchor="ctr"/>
          <a:lstStyle/>
          <a:p>
            <a:pPr indent="0" marL="0">
              <a:lnSpc>
                <a:spcPts val="1300"/>
              </a:lnSpc>
              <a:buNone/>
            </a:pPr>
            <a:r>
              <a:rPr lang="en-US" sz="1050" i="1" dirty="0">
                <a:solidFill>
                  <a:srgbClr val="C97B3D"/>
                </a:solidFill>
                <a:latin typeface="Calibri" pitchFamily="34" charset="0"/>
                <a:ea typeface="Calibri" pitchFamily="34" charset="-122"/>
                <a:cs typeface="Calibri" pitchFamily="34" charset="-120"/>
              </a:rPr>
              <a:t>Not resolvable without gas-composition data this dataset doesn't report.</a:t>
            </a:r>
            <a:endParaRPr lang="en-US" sz="1050" dirty="0"/>
          </a:p>
        </p:txBody>
      </p:sp>
      <p:sp>
        <p:nvSpPr>
          <p:cNvPr id="26" name="Text 24"/>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27" name="Text 25"/>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12</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1B2420"/>
                </a:solidFill>
                <a:latin typeface="Cambria" pitchFamily="34" charset="0"/>
                <a:ea typeface="Cambria" pitchFamily="34" charset="-122"/>
                <a:cs typeface="Cambria" pitchFamily="34" charset="-120"/>
              </a:rPr>
              <a:t>Summary &amp; Next Steps</a:t>
            </a:r>
            <a:endParaRPr lang="en-US" sz="2700" dirty="0"/>
          </a:p>
        </p:txBody>
      </p:sp>
      <p:sp>
        <p:nvSpPr>
          <p:cNvPr id="5" name="Shape 3"/>
          <p:cNvSpPr/>
          <p:nvPr/>
        </p:nvSpPr>
        <p:spPr>
          <a:xfrm>
            <a:off x="548640" y="1417320"/>
            <a:ext cx="5349240" cy="4480560"/>
          </a:xfrm>
          <a:prstGeom prst="roundRect">
            <a:avLst>
              <a:gd name="adj" fmla="val 1633"/>
            </a:avLst>
          </a:prstGeom>
          <a:solidFill>
            <a:srgbClr val="2F9E86"/>
          </a:solidFill>
          <a:ln/>
        </p:spPr>
      </p:sp>
      <p:sp>
        <p:nvSpPr>
          <p:cNvPr id="6" name="Text 4"/>
          <p:cNvSpPr/>
          <p:nvPr/>
        </p:nvSpPr>
        <p:spPr>
          <a:xfrm>
            <a:off x="777240" y="1600200"/>
            <a:ext cx="4892040" cy="320040"/>
          </a:xfrm>
          <a:prstGeom prst="rect">
            <a:avLst/>
          </a:prstGeom>
          <a:noFill/>
          <a:ln/>
        </p:spPr>
        <p:txBody>
          <a:bodyPr wrap="square" rtlCol="0" anchor="ctr"/>
          <a:lstStyle/>
          <a:p>
            <a:pPr indent="0" marL="0">
              <a:buNone/>
            </a:pPr>
            <a:r>
              <a:rPr lang="en-US" sz="1300" b="1" spc="150" kern="0" dirty="0">
                <a:solidFill>
                  <a:srgbClr val="052018"/>
                </a:solidFill>
                <a:latin typeface="Calibri" pitchFamily="34" charset="0"/>
                <a:ea typeface="Calibri" pitchFamily="34" charset="-122"/>
                <a:cs typeface="Calibri" pitchFamily="34" charset="-120"/>
              </a:rPr>
              <a:t>DONE</a:t>
            </a:r>
            <a:endParaRPr lang="en-US" sz="1300" dirty="0"/>
          </a:p>
        </p:txBody>
      </p:sp>
      <p:sp>
        <p:nvSpPr>
          <p:cNvPr id="7" name="Text 5"/>
          <p:cNvSpPr/>
          <p:nvPr/>
        </p:nvSpPr>
        <p:spPr>
          <a:xfrm>
            <a:off x="777240" y="2011680"/>
            <a:ext cx="320040" cy="457200"/>
          </a:xfrm>
          <a:prstGeom prst="rect">
            <a:avLst/>
          </a:prstGeom>
          <a:noFill/>
          <a:ln/>
        </p:spPr>
        <p:txBody>
          <a:bodyPr wrap="square" rtlCol="0" anchor="ctr"/>
          <a:lstStyle/>
          <a:p>
            <a:pPr indent="0" marL="0">
              <a:buNone/>
            </a:pPr>
            <a:r>
              <a:rPr lang="en-US" sz="1400" b="1" dirty="0">
                <a:solidFill>
                  <a:srgbClr val="052018"/>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097280" y="2011680"/>
            <a:ext cx="4572000" cy="685800"/>
          </a:xfrm>
          <a:prstGeom prst="rect">
            <a:avLst/>
          </a:prstGeom>
          <a:noFill/>
          <a:ln/>
        </p:spPr>
        <p:txBody>
          <a:bodyPr wrap="square" rtlCol="0" anchor="ctr"/>
          <a:lstStyle/>
          <a:p>
            <a:pPr indent="0" marL="0">
              <a:lnSpc>
                <a:spcPts val="1400"/>
              </a:lnSpc>
              <a:buNone/>
            </a:pPr>
            <a:r>
              <a:rPr lang="en-US" sz="1100" dirty="0">
                <a:solidFill>
                  <a:srgbClr val="052018"/>
                </a:solidFill>
                <a:latin typeface="Calibri" pitchFamily="34" charset="0"/>
                <a:ea typeface="Calibri" pitchFamily="34" charset="-122"/>
                <a:cs typeface="Calibri" pitchFamily="34" charset="-120"/>
              </a:rPr>
              <a:t>5 physics mechanisms, 11 engineered features, all governing equations documented and cited</a:t>
            </a:r>
            <a:endParaRPr lang="en-US" sz="1100" dirty="0"/>
          </a:p>
        </p:txBody>
      </p:sp>
      <p:sp>
        <p:nvSpPr>
          <p:cNvPr id="9" name="Text 7"/>
          <p:cNvSpPr/>
          <p:nvPr/>
        </p:nvSpPr>
        <p:spPr>
          <a:xfrm>
            <a:off x="777240" y="2788920"/>
            <a:ext cx="320040" cy="457200"/>
          </a:xfrm>
          <a:prstGeom prst="rect">
            <a:avLst/>
          </a:prstGeom>
          <a:noFill/>
          <a:ln/>
        </p:spPr>
        <p:txBody>
          <a:bodyPr wrap="square" rtlCol="0" anchor="ctr"/>
          <a:lstStyle/>
          <a:p>
            <a:pPr indent="0" marL="0">
              <a:buNone/>
            </a:pPr>
            <a:r>
              <a:rPr lang="en-US" sz="1400" b="1" dirty="0">
                <a:solidFill>
                  <a:srgbClr val="052018"/>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097280" y="2788920"/>
            <a:ext cx="4572000" cy="685800"/>
          </a:xfrm>
          <a:prstGeom prst="rect">
            <a:avLst/>
          </a:prstGeom>
          <a:noFill/>
          <a:ln/>
        </p:spPr>
        <p:txBody>
          <a:bodyPr wrap="square" rtlCol="0" anchor="ctr"/>
          <a:lstStyle/>
          <a:p>
            <a:pPr indent="0" marL="0">
              <a:lnSpc>
                <a:spcPts val="1400"/>
              </a:lnSpc>
              <a:buNone/>
            </a:pPr>
            <a:r>
              <a:rPr lang="en-US" sz="1100" dirty="0">
                <a:solidFill>
                  <a:srgbClr val="052018"/>
                </a:solidFill>
                <a:latin typeface="Calibri" pitchFamily="34" charset="0"/>
                <a:ea typeface="Calibri" pitchFamily="34" charset="-122"/>
                <a:cs typeface="Calibri" pitchFamily="34" charset="-120"/>
              </a:rPr>
              <a:t>7 ML models trained, tuned (5-fold CV), and honestly benchmarked</a:t>
            </a:r>
            <a:endParaRPr lang="en-US" sz="1100" dirty="0"/>
          </a:p>
        </p:txBody>
      </p:sp>
      <p:sp>
        <p:nvSpPr>
          <p:cNvPr id="11" name="Text 9"/>
          <p:cNvSpPr/>
          <p:nvPr/>
        </p:nvSpPr>
        <p:spPr>
          <a:xfrm>
            <a:off x="777240" y="3566160"/>
            <a:ext cx="320040" cy="457200"/>
          </a:xfrm>
          <a:prstGeom prst="rect">
            <a:avLst/>
          </a:prstGeom>
          <a:noFill/>
          <a:ln/>
        </p:spPr>
        <p:txBody>
          <a:bodyPr wrap="square" rtlCol="0" anchor="ctr"/>
          <a:lstStyle/>
          <a:p>
            <a:pPr indent="0" marL="0">
              <a:buNone/>
            </a:pPr>
            <a:r>
              <a:rPr lang="en-US" sz="1400" b="1" dirty="0">
                <a:solidFill>
                  <a:srgbClr val="052018"/>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097280" y="3566160"/>
            <a:ext cx="4572000" cy="685800"/>
          </a:xfrm>
          <a:prstGeom prst="rect">
            <a:avLst/>
          </a:prstGeom>
          <a:noFill/>
          <a:ln/>
        </p:spPr>
        <p:txBody>
          <a:bodyPr wrap="square" rtlCol="0" anchor="ctr"/>
          <a:lstStyle/>
          <a:p>
            <a:pPr indent="0" marL="0">
              <a:lnSpc>
                <a:spcPts val="1400"/>
              </a:lnSpc>
              <a:buNone/>
            </a:pPr>
            <a:r>
              <a:rPr lang="en-US" sz="1100" dirty="0">
                <a:solidFill>
                  <a:srgbClr val="052018"/>
                </a:solidFill>
                <a:latin typeface="Calibri" pitchFamily="34" charset="0"/>
                <a:ea typeface="Calibri" pitchFamily="34" charset="-122"/>
                <a:cs typeface="Calibri" pitchFamily="34" charset="-120"/>
              </a:rPr>
              <a:t>Physics-only vs. ML-only vs. hybrid comparison run and reported</a:t>
            </a:r>
            <a:endParaRPr lang="en-US" sz="1100" dirty="0"/>
          </a:p>
        </p:txBody>
      </p:sp>
      <p:sp>
        <p:nvSpPr>
          <p:cNvPr id="13" name="Text 11"/>
          <p:cNvSpPr/>
          <p:nvPr/>
        </p:nvSpPr>
        <p:spPr>
          <a:xfrm>
            <a:off x="777240" y="4343400"/>
            <a:ext cx="320040" cy="457200"/>
          </a:xfrm>
          <a:prstGeom prst="rect">
            <a:avLst/>
          </a:prstGeom>
          <a:noFill/>
          <a:ln/>
        </p:spPr>
        <p:txBody>
          <a:bodyPr wrap="square" rtlCol="0" anchor="ctr"/>
          <a:lstStyle/>
          <a:p>
            <a:pPr indent="0" marL="0">
              <a:buNone/>
            </a:pPr>
            <a:r>
              <a:rPr lang="en-US" sz="1400" b="1" dirty="0">
                <a:solidFill>
                  <a:srgbClr val="052018"/>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097280" y="4343400"/>
            <a:ext cx="4572000" cy="685800"/>
          </a:xfrm>
          <a:prstGeom prst="rect">
            <a:avLst/>
          </a:prstGeom>
          <a:noFill/>
          <a:ln/>
        </p:spPr>
        <p:txBody>
          <a:bodyPr wrap="square" rtlCol="0" anchor="ctr"/>
          <a:lstStyle/>
          <a:p>
            <a:pPr indent="0" marL="0">
              <a:lnSpc>
                <a:spcPts val="1400"/>
              </a:lnSpc>
              <a:buNone/>
            </a:pPr>
            <a:r>
              <a:rPr lang="en-US" sz="1100" dirty="0">
                <a:solidFill>
                  <a:srgbClr val="052018"/>
                </a:solidFill>
                <a:latin typeface="Calibri" pitchFamily="34" charset="0"/>
                <a:ea typeface="Calibri" pitchFamily="34" charset="-122"/>
                <a:cs typeface="Calibri" pitchFamily="34" charset="-120"/>
              </a:rPr>
              <a:t>XGBoost hybrid model: test R² = 0.900, cross-validated against published literature (0.895)</a:t>
            </a:r>
            <a:endParaRPr lang="en-US" sz="1100" dirty="0"/>
          </a:p>
        </p:txBody>
      </p:sp>
      <p:sp>
        <p:nvSpPr>
          <p:cNvPr id="15" name="Text 13"/>
          <p:cNvSpPr/>
          <p:nvPr/>
        </p:nvSpPr>
        <p:spPr>
          <a:xfrm>
            <a:off x="777240" y="5120640"/>
            <a:ext cx="320040" cy="457200"/>
          </a:xfrm>
          <a:prstGeom prst="rect">
            <a:avLst/>
          </a:prstGeom>
          <a:noFill/>
          <a:ln/>
        </p:spPr>
        <p:txBody>
          <a:bodyPr wrap="square" rtlCol="0" anchor="ctr"/>
          <a:lstStyle/>
          <a:p>
            <a:pPr indent="0" marL="0">
              <a:buNone/>
            </a:pPr>
            <a:r>
              <a:rPr lang="en-US" sz="1400" b="1" dirty="0">
                <a:solidFill>
                  <a:srgbClr val="052018"/>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097280" y="5120640"/>
            <a:ext cx="4572000" cy="685800"/>
          </a:xfrm>
          <a:prstGeom prst="rect">
            <a:avLst/>
          </a:prstGeom>
          <a:noFill/>
          <a:ln/>
        </p:spPr>
        <p:txBody>
          <a:bodyPr wrap="square" rtlCol="0" anchor="ctr"/>
          <a:lstStyle/>
          <a:p>
            <a:pPr indent="0" marL="0">
              <a:lnSpc>
                <a:spcPts val="1400"/>
              </a:lnSpc>
              <a:buNone/>
            </a:pPr>
            <a:r>
              <a:rPr lang="en-US" sz="1100" dirty="0">
                <a:solidFill>
                  <a:srgbClr val="052018"/>
                </a:solidFill>
                <a:latin typeface="Calibri" pitchFamily="34" charset="0"/>
                <a:ea typeface="Calibri" pitchFamily="34" charset="-122"/>
                <a:cs typeface="Calibri" pitchFamily="34" charset="-120"/>
              </a:rPr>
              <a:t>2 candidate datasets identified for expanding training data</a:t>
            </a:r>
            <a:endParaRPr lang="en-US" sz="1100" dirty="0"/>
          </a:p>
        </p:txBody>
      </p:sp>
      <p:sp>
        <p:nvSpPr>
          <p:cNvPr id="17" name="Shape 15"/>
          <p:cNvSpPr/>
          <p:nvPr/>
        </p:nvSpPr>
        <p:spPr>
          <a:xfrm>
            <a:off x="6126480" y="1417320"/>
            <a:ext cx="5212080" cy="4480560"/>
          </a:xfrm>
          <a:prstGeom prst="roundRect">
            <a:avLst>
              <a:gd name="adj" fmla="val 1633"/>
            </a:avLst>
          </a:prstGeom>
          <a:solidFill>
            <a:srgbClr val="13312C"/>
          </a:solidFill>
          <a:ln/>
        </p:spPr>
      </p:sp>
      <p:sp>
        <p:nvSpPr>
          <p:cNvPr id="18" name="Text 16"/>
          <p:cNvSpPr/>
          <p:nvPr/>
        </p:nvSpPr>
        <p:spPr>
          <a:xfrm>
            <a:off x="6355080" y="1600200"/>
            <a:ext cx="4754880" cy="320040"/>
          </a:xfrm>
          <a:prstGeom prst="rect">
            <a:avLst/>
          </a:prstGeom>
          <a:noFill/>
          <a:ln/>
        </p:spPr>
        <p:txBody>
          <a:bodyPr wrap="square" rtlCol="0" anchor="ctr"/>
          <a:lstStyle/>
          <a:p>
            <a:pPr indent="0" marL="0">
              <a:buNone/>
            </a:pPr>
            <a:r>
              <a:rPr lang="en-US" sz="1300" b="1" spc="150" kern="0" dirty="0">
                <a:solidFill>
                  <a:srgbClr val="C97B3D"/>
                </a:solidFill>
                <a:latin typeface="Calibri" pitchFamily="34" charset="0"/>
                <a:ea typeface="Calibri" pitchFamily="34" charset="-122"/>
                <a:cs typeface="Calibri" pitchFamily="34" charset="-120"/>
              </a:rPr>
              <a:t>NEXT</a:t>
            </a:r>
            <a:endParaRPr lang="en-US" sz="1300" dirty="0"/>
          </a:p>
        </p:txBody>
      </p:sp>
      <p:sp>
        <p:nvSpPr>
          <p:cNvPr id="19" name="Shape 17"/>
          <p:cNvSpPr/>
          <p:nvPr/>
        </p:nvSpPr>
        <p:spPr>
          <a:xfrm>
            <a:off x="6355080" y="2057400"/>
            <a:ext cx="109728" cy="109728"/>
          </a:xfrm>
          <a:prstGeom prst="ellipse">
            <a:avLst/>
          </a:prstGeom>
          <a:solidFill>
            <a:srgbClr val="C97B3D"/>
          </a:solidFill>
          <a:ln/>
        </p:spPr>
      </p:sp>
      <p:sp>
        <p:nvSpPr>
          <p:cNvPr id="20" name="Text 18"/>
          <p:cNvSpPr/>
          <p:nvPr/>
        </p:nvSpPr>
        <p:spPr>
          <a:xfrm>
            <a:off x="6629400" y="1938528"/>
            <a:ext cx="4480560" cy="777240"/>
          </a:xfrm>
          <a:prstGeom prst="rect">
            <a:avLst/>
          </a:prstGeom>
          <a:noFill/>
          <a:ln/>
        </p:spPr>
        <p:txBody>
          <a:bodyPr wrap="square" rtlCol="0" anchor="ctr"/>
          <a:lstStyle/>
          <a:p>
            <a:pPr indent="0" marL="0">
              <a:lnSpc>
                <a:spcPts val="1400"/>
              </a:lnSpc>
              <a:buNone/>
            </a:pPr>
            <a:r>
              <a:rPr lang="en-US" sz="1100" dirty="0">
                <a:solidFill>
                  <a:srgbClr val="D7E4E1"/>
                </a:solidFill>
                <a:latin typeface="Calibri" pitchFamily="34" charset="0"/>
                <a:ea typeface="Calibri" pitchFamily="34" charset="-122"/>
                <a:cs typeface="Calibri" pitchFamily="34" charset="-120"/>
              </a:rPr>
              <a:t>Download the 2 identified supplementary datasets (needs university network access) and merge new rows</a:t>
            </a:r>
            <a:endParaRPr lang="en-US" sz="1100" dirty="0"/>
          </a:p>
        </p:txBody>
      </p:sp>
      <p:sp>
        <p:nvSpPr>
          <p:cNvPr id="21" name="Shape 19"/>
          <p:cNvSpPr/>
          <p:nvPr/>
        </p:nvSpPr>
        <p:spPr>
          <a:xfrm>
            <a:off x="6355080" y="2926080"/>
            <a:ext cx="109728" cy="109728"/>
          </a:xfrm>
          <a:prstGeom prst="ellipse">
            <a:avLst/>
          </a:prstGeom>
          <a:solidFill>
            <a:srgbClr val="C97B3D"/>
          </a:solidFill>
          <a:ln/>
        </p:spPr>
      </p:sp>
      <p:sp>
        <p:nvSpPr>
          <p:cNvPr id="22" name="Text 20"/>
          <p:cNvSpPr/>
          <p:nvPr/>
        </p:nvSpPr>
        <p:spPr>
          <a:xfrm>
            <a:off x="6629400" y="2807208"/>
            <a:ext cx="4480560" cy="777240"/>
          </a:xfrm>
          <a:prstGeom prst="rect">
            <a:avLst/>
          </a:prstGeom>
          <a:noFill/>
          <a:ln/>
        </p:spPr>
        <p:txBody>
          <a:bodyPr wrap="square" rtlCol="0" anchor="ctr"/>
          <a:lstStyle/>
          <a:p>
            <a:pPr indent="0" marL="0">
              <a:lnSpc>
                <a:spcPts val="1400"/>
              </a:lnSpc>
              <a:buNone/>
            </a:pPr>
            <a:r>
              <a:rPr lang="en-US" sz="1100" dirty="0">
                <a:solidFill>
                  <a:srgbClr val="D7E4E1"/>
                </a:solidFill>
                <a:latin typeface="Calibri" pitchFamily="34" charset="0"/>
                <a:ea typeface="Calibri" pitchFamily="34" charset="-122"/>
                <a:cs typeface="Calibri" pitchFamily="34" charset="-120"/>
              </a:rPr>
              <a:t>Retrain and re-benchmark once more data is in</a:t>
            </a:r>
            <a:endParaRPr lang="en-US" sz="1100" dirty="0"/>
          </a:p>
        </p:txBody>
      </p:sp>
      <p:sp>
        <p:nvSpPr>
          <p:cNvPr id="23" name="Shape 21"/>
          <p:cNvSpPr/>
          <p:nvPr/>
        </p:nvSpPr>
        <p:spPr>
          <a:xfrm>
            <a:off x="6355080" y="3794760"/>
            <a:ext cx="109728" cy="109728"/>
          </a:xfrm>
          <a:prstGeom prst="ellipse">
            <a:avLst/>
          </a:prstGeom>
          <a:solidFill>
            <a:srgbClr val="C97B3D"/>
          </a:solidFill>
          <a:ln/>
        </p:spPr>
      </p:sp>
      <p:sp>
        <p:nvSpPr>
          <p:cNvPr id="24" name="Text 22"/>
          <p:cNvSpPr/>
          <p:nvPr/>
        </p:nvSpPr>
        <p:spPr>
          <a:xfrm>
            <a:off x="6629400" y="3675888"/>
            <a:ext cx="4480560" cy="777240"/>
          </a:xfrm>
          <a:prstGeom prst="rect">
            <a:avLst/>
          </a:prstGeom>
          <a:noFill/>
          <a:ln/>
        </p:spPr>
        <p:txBody>
          <a:bodyPr wrap="square" rtlCol="0" anchor="ctr"/>
          <a:lstStyle/>
          <a:p>
            <a:pPr indent="0" marL="0">
              <a:lnSpc>
                <a:spcPts val="1400"/>
              </a:lnSpc>
              <a:buNone/>
            </a:pPr>
            <a:r>
              <a:rPr lang="en-US" sz="1100" dirty="0">
                <a:solidFill>
                  <a:srgbClr val="D7E4E1"/>
                </a:solidFill>
                <a:latin typeface="Calibri" pitchFamily="34" charset="0"/>
                <a:ea typeface="Calibri" pitchFamily="34" charset="-122"/>
                <a:cs typeface="Calibri" pitchFamily="34" charset="-120"/>
              </a:rPr>
              <a:t>Consider resolving lignin into multi-step kinetics if the literature parameters can be sourced reliably</a:t>
            </a:r>
            <a:endParaRPr lang="en-US" sz="1100" dirty="0"/>
          </a:p>
        </p:txBody>
      </p:sp>
      <p:sp>
        <p:nvSpPr>
          <p:cNvPr id="25" name="Shape 23"/>
          <p:cNvSpPr/>
          <p:nvPr/>
        </p:nvSpPr>
        <p:spPr>
          <a:xfrm>
            <a:off x="6355080" y="4663440"/>
            <a:ext cx="109728" cy="109728"/>
          </a:xfrm>
          <a:prstGeom prst="ellipse">
            <a:avLst/>
          </a:prstGeom>
          <a:solidFill>
            <a:srgbClr val="C97B3D"/>
          </a:solidFill>
          <a:ln/>
        </p:spPr>
      </p:sp>
      <p:sp>
        <p:nvSpPr>
          <p:cNvPr id="26" name="Text 24"/>
          <p:cNvSpPr/>
          <p:nvPr/>
        </p:nvSpPr>
        <p:spPr>
          <a:xfrm>
            <a:off x="6629400" y="4544568"/>
            <a:ext cx="4480560" cy="777240"/>
          </a:xfrm>
          <a:prstGeom prst="rect">
            <a:avLst/>
          </a:prstGeom>
          <a:noFill/>
          <a:ln/>
        </p:spPr>
        <p:txBody>
          <a:bodyPr wrap="square" rtlCol="0" anchor="ctr"/>
          <a:lstStyle/>
          <a:p>
            <a:pPr indent="0" marL="0">
              <a:lnSpc>
                <a:spcPts val="1400"/>
              </a:lnSpc>
              <a:buNone/>
            </a:pPr>
            <a:r>
              <a:rPr lang="en-US" sz="1100" dirty="0">
                <a:solidFill>
                  <a:srgbClr val="D7E4E1"/>
                </a:solidFill>
                <a:latin typeface="Calibri" pitchFamily="34" charset="0"/>
                <a:ea typeface="Calibri" pitchFamily="34" charset="-122"/>
                <a:cs typeface="Calibri" pitchFamily="34" charset="-120"/>
              </a:rPr>
              <a:t>Faculty review of equation choices and kinetic-constant sourcing</a:t>
            </a:r>
            <a:endParaRPr lang="en-US" sz="1100" dirty="0"/>
          </a:p>
        </p:txBody>
      </p:sp>
      <p:sp>
        <p:nvSpPr>
          <p:cNvPr id="27" name="Text 25"/>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864"/>
                </a:solidFill>
                <a:latin typeface="Calibri" pitchFamily="34" charset="0"/>
                <a:ea typeface="Calibri" pitchFamily="34" charset="-122"/>
                <a:cs typeface="Calibri" pitchFamily="34" charset="-120"/>
              </a:rPr>
              <a:t>Bio-Oil Pyrolysis — Physics-Informed Model Progress</a:t>
            </a:r>
            <a:endParaRPr lang="en-US" sz="900" dirty="0"/>
          </a:p>
        </p:txBody>
      </p:sp>
      <p:sp>
        <p:nvSpPr>
          <p:cNvPr id="28" name="Text 26"/>
          <p:cNvSpPr/>
          <p:nvPr/>
        </p:nvSpPr>
        <p:spPr>
          <a:xfrm>
            <a:off x="10058400" y="6510528"/>
            <a:ext cx="1554480" cy="274320"/>
          </a:xfrm>
          <a:prstGeom prst="rect">
            <a:avLst/>
          </a:prstGeom>
          <a:noFill/>
          <a:ln/>
        </p:spPr>
        <p:txBody>
          <a:bodyPr wrap="square" rtlCol="0" anchor="ctr"/>
          <a:lstStyle/>
          <a:p>
            <a:pPr algn="r" indent="0" marL="0">
              <a:buNone/>
            </a:pPr>
            <a:r>
              <a:rPr lang="en-US" sz="900" dirty="0">
                <a:solidFill>
                  <a:srgbClr val="5B6864"/>
                </a:solidFill>
                <a:latin typeface="Calibri" pitchFamily="34" charset="0"/>
                <a:ea typeface="Calibri" pitchFamily="34" charset="-122"/>
                <a:cs typeface="Calibri" pitchFamily="34" charset="-120"/>
              </a:rPr>
              <a:t>Slide 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11E"/>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2F9E86"/>
          </a:solidFill>
          <a:ln/>
        </p:spPr>
      </p:sp>
      <p:sp>
        <p:nvSpPr>
          <p:cNvPr id="3" name="Text 1"/>
          <p:cNvSpPr/>
          <p:nvPr/>
        </p:nvSpPr>
        <p:spPr>
          <a:xfrm>
            <a:off x="548640" y="457200"/>
            <a:ext cx="548640" cy="54864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13</a:t>
            </a:r>
            <a:endParaRPr lang="en-US" sz="2100" dirty="0"/>
          </a:p>
        </p:txBody>
      </p:sp>
      <p:sp>
        <p:nvSpPr>
          <p:cNvPr id="4" name="Text 2"/>
          <p:cNvSpPr/>
          <p:nvPr/>
        </p:nvSpPr>
        <p:spPr>
          <a:xfrm>
            <a:off x="1234440" y="347472"/>
            <a:ext cx="10332720" cy="50292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References</a:t>
            </a:r>
            <a:endParaRPr lang="en-US" sz="2700" dirty="0"/>
          </a:p>
        </p:txBody>
      </p:sp>
      <p:sp>
        <p:nvSpPr>
          <p:cNvPr id="5" name="Shape 3"/>
          <p:cNvSpPr/>
          <p:nvPr/>
        </p:nvSpPr>
        <p:spPr>
          <a:xfrm>
            <a:off x="548640" y="1517904"/>
            <a:ext cx="91440" cy="91440"/>
          </a:xfrm>
          <a:prstGeom prst="ellipse">
            <a:avLst/>
          </a:prstGeom>
          <a:solidFill>
            <a:srgbClr val="C97B3D"/>
          </a:solidFill>
          <a:ln/>
        </p:spPr>
      </p:sp>
      <p:sp>
        <p:nvSpPr>
          <p:cNvPr id="6" name="Text 4"/>
          <p:cNvSpPr/>
          <p:nvPr/>
        </p:nvSpPr>
        <p:spPr>
          <a:xfrm>
            <a:off x="822960" y="1463040"/>
            <a:ext cx="10789920" cy="566928"/>
          </a:xfrm>
          <a:prstGeom prst="rect">
            <a:avLst/>
          </a:prstGeom>
          <a:noFill/>
          <a:ln/>
        </p:spPr>
        <p:txBody>
          <a:bodyPr wrap="square" rtlCol="0" anchor="t"/>
          <a:lstStyle/>
          <a:p>
            <a:pPr indent="0" marL="0">
              <a:lnSpc>
                <a:spcPts val="1400"/>
              </a:lnSpc>
              <a:buNone/>
            </a:pPr>
            <a:r>
              <a:rPr lang="en-US" sz="1150" dirty="0">
                <a:solidFill>
                  <a:srgbClr val="D7E4E1"/>
                </a:solidFill>
                <a:latin typeface="Calibri" pitchFamily="34" charset="0"/>
                <a:ea typeface="Calibri" pitchFamily="34" charset="-122"/>
                <a:cs typeface="Calibri" pitchFamily="34" charset="-120"/>
              </a:rPr>
              <a:t>Orfao, J.J.M., Antunes, F.J.A. &amp; Figueiredo, J.L. (1999). Pyrolysis kinetics of lignocellulosic materials — three independent reactions model. Fuel, 78(3), 349-358.</a:t>
            </a:r>
            <a:endParaRPr lang="en-US" sz="1150" dirty="0"/>
          </a:p>
        </p:txBody>
      </p:sp>
      <p:sp>
        <p:nvSpPr>
          <p:cNvPr id="7" name="Shape 5"/>
          <p:cNvSpPr/>
          <p:nvPr/>
        </p:nvSpPr>
        <p:spPr>
          <a:xfrm>
            <a:off x="548640" y="2139696"/>
            <a:ext cx="91440" cy="91440"/>
          </a:xfrm>
          <a:prstGeom prst="ellipse">
            <a:avLst/>
          </a:prstGeom>
          <a:solidFill>
            <a:srgbClr val="C97B3D"/>
          </a:solidFill>
          <a:ln/>
        </p:spPr>
      </p:sp>
      <p:sp>
        <p:nvSpPr>
          <p:cNvPr id="8" name="Text 6"/>
          <p:cNvSpPr/>
          <p:nvPr/>
        </p:nvSpPr>
        <p:spPr>
          <a:xfrm>
            <a:off x="822960" y="2084832"/>
            <a:ext cx="10789920" cy="566928"/>
          </a:xfrm>
          <a:prstGeom prst="rect">
            <a:avLst/>
          </a:prstGeom>
          <a:noFill/>
          <a:ln/>
        </p:spPr>
        <p:txBody>
          <a:bodyPr wrap="square" rtlCol="0" anchor="t"/>
          <a:lstStyle/>
          <a:p>
            <a:pPr indent="0" marL="0">
              <a:lnSpc>
                <a:spcPts val="1400"/>
              </a:lnSpc>
              <a:buNone/>
            </a:pPr>
            <a:r>
              <a:rPr lang="en-US" sz="1150" dirty="0">
                <a:solidFill>
                  <a:srgbClr val="D7E4E1"/>
                </a:solidFill>
                <a:latin typeface="Calibri" pitchFamily="34" charset="0"/>
                <a:ea typeface="Calibri" pitchFamily="34" charset="-122"/>
                <a:cs typeface="Calibri" pitchFamily="34" charset="-120"/>
              </a:rPr>
              <a:t>Bradbury, A.G.W., Sakai, Y. &amp; Shafizadeh, F. (1979). A kinetic model for pyrolysis of cellulose. J. Applied Polymer Science, 23, 3271-3280.</a:t>
            </a:r>
            <a:endParaRPr lang="en-US" sz="1150" dirty="0"/>
          </a:p>
        </p:txBody>
      </p:sp>
      <p:sp>
        <p:nvSpPr>
          <p:cNvPr id="9" name="Shape 7"/>
          <p:cNvSpPr/>
          <p:nvPr/>
        </p:nvSpPr>
        <p:spPr>
          <a:xfrm>
            <a:off x="548640" y="2761488"/>
            <a:ext cx="91440" cy="91440"/>
          </a:xfrm>
          <a:prstGeom prst="ellipse">
            <a:avLst/>
          </a:prstGeom>
          <a:solidFill>
            <a:srgbClr val="C97B3D"/>
          </a:solidFill>
          <a:ln/>
        </p:spPr>
      </p:sp>
      <p:sp>
        <p:nvSpPr>
          <p:cNvPr id="10" name="Text 8"/>
          <p:cNvSpPr/>
          <p:nvPr/>
        </p:nvSpPr>
        <p:spPr>
          <a:xfrm>
            <a:off x="822960" y="2706624"/>
            <a:ext cx="10789920" cy="566928"/>
          </a:xfrm>
          <a:prstGeom prst="rect">
            <a:avLst/>
          </a:prstGeom>
          <a:noFill/>
          <a:ln/>
        </p:spPr>
        <p:txBody>
          <a:bodyPr wrap="square" rtlCol="0" anchor="t"/>
          <a:lstStyle/>
          <a:p>
            <a:pPr indent="0" marL="0">
              <a:lnSpc>
                <a:spcPts val="1400"/>
              </a:lnSpc>
              <a:buNone/>
            </a:pPr>
            <a:r>
              <a:rPr lang="en-US" sz="1150" dirty="0">
                <a:solidFill>
                  <a:srgbClr val="D7E4E1"/>
                </a:solidFill>
                <a:latin typeface="Calibri" pitchFamily="34" charset="0"/>
                <a:ea typeface="Calibri" pitchFamily="34" charset="-122"/>
                <a:cs typeface="Calibri" pitchFamily="34" charset="-120"/>
              </a:rPr>
              <a:t>Liden, A.G., Berruti, F. &amp; Scott, D.S. (1988). Tar cracking kinetics (as widely cited in reactor-modeling literature; primary source not independently re-verified in this project).</a:t>
            </a:r>
            <a:endParaRPr lang="en-US" sz="1150" dirty="0"/>
          </a:p>
        </p:txBody>
      </p:sp>
      <p:sp>
        <p:nvSpPr>
          <p:cNvPr id="11" name="Shape 9"/>
          <p:cNvSpPr/>
          <p:nvPr/>
        </p:nvSpPr>
        <p:spPr>
          <a:xfrm>
            <a:off x="548640" y="3383280"/>
            <a:ext cx="91440" cy="91440"/>
          </a:xfrm>
          <a:prstGeom prst="ellipse">
            <a:avLst/>
          </a:prstGeom>
          <a:solidFill>
            <a:srgbClr val="C97B3D"/>
          </a:solidFill>
          <a:ln/>
        </p:spPr>
      </p:sp>
      <p:sp>
        <p:nvSpPr>
          <p:cNvPr id="12" name="Text 10"/>
          <p:cNvSpPr/>
          <p:nvPr/>
        </p:nvSpPr>
        <p:spPr>
          <a:xfrm>
            <a:off x="822960" y="3328416"/>
            <a:ext cx="10789920" cy="566928"/>
          </a:xfrm>
          <a:prstGeom prst="rect">
            <a:avLst/>
          </a:prstGeom>
          <a:noFill/>
          <a:ln/>
        </p:spPr>
        <p:txBody>
          <a:bodyPr wrap="square" rtlCol="0" anchor="t"/>
          <a:lstStyle/>
          <a:p>
            <a:pPr indent="0" marL="0">
              <a:lnSpc>
                <a:spcPts val="1400"/>
              </a:lnSpc>
              <a:buNone/>
            </a:pPr>
            <a:r>
              <a:rPr lang="en-US" sz="1150" dirty="0">
                <a:solidFill>
                  <a:srgbClr val="D7E4E1"/>
                </a:solidFill>
                <a:latin typeface="Calibri" pitchFamily="34" charset="0"/>
                <a:ea typeface="Calibri" pitchFamily="34" charset="-122"/>
                <a:cs typeface="Calibri" pitchFamily="34" charset="-120"/>
              </a:rPr>
              <a:t>Machine learning prediction of the yield and oxygen content of bio-oil via biomass characteristics and pyrolysis conditions. Energy, 2022 (ScienceDirect S0360544222012233).</a:t>
            </a:r>
            <a:endParaRPr lang="en-US" sz="1150" dirty="0"/>
          </a:p>
        </p:txBody>
      </p:sp>
      <p:sp>
        <p:nvSpPr>
          <p:cNvPr id="13" name="Shape 11"/>
          <p:cNvSpPr/>
          <p:nvPr/>
        </p:nvSpPr>
        <p:spPr>
          <a:xfrm>
            <a:off x="548640" y="4005072"/>
            <a:ext cx="91440" cy="91440"/>
          </a:xfrm>
          <a:prstGeom prst="ellipse">
            <a:avLst/>
          </a:prstGeom>
          <a:solidFill>
            <a:srgbClr val="C97B3D"/>
          </a:solidFill>
          <a:ln/>
        </p:spPr>
      </p:sp>
      <p:sp>
        <p:nvSpPr>
          <p:cNvPr id="14" name="Text 12"/>
          <p:cNvSpPr/>
          <p:nvPr/>
        </p:nvSpPr>
        <p:spPr>
          <a:xfrm>
            <a:off x="822960" y="3950208"/>
            <a:ext cx="10789920" cy="566928"/>
          </a:xfrm>
          <a:prstGeom prst="rect">
            <a:avLst/>
          </a:prstGeom>
          <a:noFill/>
          <a:ln/>
        </p:spPr>
        <p:txBody>
          <a:bodyPr wrap="square" rtlCol="0" anchor="t"/>
          <a:lstStyle/>
          <a:p>
            <a:pPr indent="0" marL="0">
              <a:lnSpc>
                <a:spcPts val="1400"/>
              </a:lnSpc>
              <a:buNone/>
            </a:pPr>
            <a:r>
              <a:rPr lang="en-US" sz="1150" dirty="0">
                <a:solidFill>
                  <a:srgbClr val="D7E4E1"/>
                </a:solidFill>
                <a:latin typeface="Calibri" pitchFamily="34" charset="0"/>
                <a:ea typeface="Calibri" pitchFamily="34" charset="-122"/>
                <a:cs typeface="Calibri" pitchFamily="34" charset="-120"/>
              </a:rPr>
              <a:t>Pedregosa, F. et al. (2011). Scikit-learn: Machine Learning in Python. JMLR, 12, 2825-2830.</a:t>
            </a:r>
            <a:endParaRPr lang="en-US" sz="1150" dirty="0"/>
          </a:p>
        </p:txBody>
      </p:sp>
      <p:sp>
        <p:nvSpPr>
          <p:cNvPr id="15" name="Shape 13"/>
          <p:cNvSpPr/>
          <p:nvPr/>
        </p:nvSpPr>
        <p:spPr>
          <a:xfrm>
            <a:off x="548640" y="4626864"/>
            <a:ext cx="91440" cy="91440"/>
          </a:xfrm>
          <a:prstGeom prst="ellipse">
            <a:avLst/>
          </a:prstGeom>
          <a:solidFill>
            <a:srgbClr val="C97B3D"/>
          </a:solidFill>
          <a:ln/>
        </p:spPr>
      </p:sp>
      <p:sp>
        <p:nvSpPr>
          <p:cNvPr id="16" name="Text 14"/>
          <p:cNvSpPr/>
          <p:nvPr/>
        </p:nvSpPr>
        <p:spPr>
          <a:xfrm>
            <a:off x="822960" y="4572000"/>
            <a:ext cx="10789920" cy="566928"/>
          </a:xfrm>
          <a:prstGeom prst="rect">
            <a:avLst/>
          </a:prstGeom>
          <a:noFill/>
          <a:ln/>
        </p:spPr>
        <p:txBody>
          <a:bodyPr wrap="square" rtlCol="0" anchor="t"/>
          <a:lstStyle/>
          <a:p>
            <a:pPr indent="0" marL="0">
              <a:lnSpc>
                <a:spcPts val="1400"/>
              </a:lnSpc>
              <a:buNone/>
            </a:pPr>
            <a:r>
              <a:rPr lang="en-US" sz="1150" dirty="0">
                <a:solidFill>
                  <a:srgbClr val="D7E4E1"/>
                </a:solidFill>
                <a:latin typeface="Calibri" pitchFamily="34" charset="0"/>
                <a:ea typeface="Calibri" pitchFamily="34" charset="-122"/>
                <a:cs typeface="Calibri" pitchFamily="34" charset="-120"/>
              </a:rPr>
              <a:t>Chen, T. &amp; Guestrin, C. (2016). XGBoost: A Scalable Tree Boosting System. Proc. 22nd ACM SIGKDD.</a:t>
            </a:r>
            <a:endParaRPr lang="en-US" sz="1150" dirty="0"/>
          </a:p>
        </p:txBody>
      </p:sp>
      <p:sp>
        <p:nvSpPr>
          <p:cNvPr id="17" name="Shape 15"/>
          <p:cNvSpPr/>
          <p:nvPr/>
        </p:nvSpPr>
        <p:spPr>
          <a:xfrm>
            <a:off x="548640" y="5248656"/>
            <a:ext cx="91440" cy="91440"/>
          </a:xfrm>
          <a:prstGeom prst="ellipse">
            <a:avLst/>
          </a:prstGeom>
          <a:solidFill>
            <a:srgbClr val="C97B3D"/>
          </a:solidFill>
          <a:ln/>
        </p:spPr>
      </p:sp>
      <p:sp>
        <p:nvSpPr>
          <p:cNvPr id="18" name="Text 16"/>
          <p:cNvSpPr/>
          <p:nvPr/>
        </p:nvSpPr>
        <p:spPr>
          <a:xfrm>
            <a:off x="822960" y="5193792"/>
            <a:ext cx="10789920" cy="566928"/>
          </a:xfrm>
          <a:prstGeom prst="rect">
            <a:avLst/>
          </a:prstGeom>
          <a:noFill/>
          <a:ln/>
        </p:spPr>
        <p:txBody>
          <a:bodyPr wrap="square" rtlCol="0" anchor="t"/>
          <a:lstStyle/>
          <a:p>
            <a:pPr indent="0" marL="0">
              <a:lnSpc>
                <a:spcPts val="1400"/>
              </a:lnSpc>
              <a:buNone/>
            </a:pPr>
            <a:r>
              <a:rPr lang="en-US" sz="1150" dirty="0">
                <a:solidFill>
                  <a:srgbClr val="D7E4E1"/>
                </a:solidFill>
                <a:latin typeface="Calibri" pitchFamily="34" charset="0"/>
                <a:ea typeface="Calibri" pitchFamily="34" charset="-122"/>
                <a:cs typeface="Calibri" pitchFamily="34" charset="-120"/>
              </a:rPr>
              <a:t>Lundberg, S.M. &amp; Lee, S.-I. (2017). A Unified Approach to Interpreting Model Predictions (SHAP). NeurIPS 2017.</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2026-08-30T17:39:54Z</dcterms:created>
  <dcterms:modified xsi:type="dcterms:W3CDTF">2026-08-30T17:39:54Z</dcterms:modified>
</cp:coreProperties>
</file>